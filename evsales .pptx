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Ubuntu Bold Italics" charset="1" panose="020B08040306020A0204"/>
      <p:regular r:id="rId17"/>
    </p:embeddedFont>
    <p:embeddedFont>
      <p:font typeface="Canva Sans Italics" charset="1" panose="020B0503030501040103"/>
      <p:regular r:id="rId18"/>
    </p:embeddedFont>
    <p:embeddedFont>
      <p:font typeface="Ubuntu Italics" charset="1" panose="020B05040306020A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jpe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22.jpe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16" Target="../media/image14.png" Type="http://schemas.openxmlformats.org/officeDocument/2006/relationships/image"/><Relationship Id="rId17" Target="../media/image15.svg" Type="http://schemas.openxmlformats.org/officeDocument/2006/relationships/image"/><Relationship Id="rId18" Target="../media/image16.png" Type="http://schemas.openxmlformats.org/officeDocument/2006/relationships/image"/><Relationship Id="rId19" Target="../media/image17.svg" Type="http://schemas.openxmlformats.org/officeDocument/2006/relationships/image"/><Relationship Id="rId2" Target="../media/image23.jpeg" Type="http://schemas.openxmlformats.org/officeDocument/2006/relationships/image"/><Relationship Id="rId20" Target="../media/image18.png" Type="http://schemas.openxmlformats.org/officeDocument/2006/relationships/image"/><Relationship Id="rId21" Target="../media/image19.svg" Type="http://schemas.openxmlformats.org/officeDocument/2006/relationships/image"/><Relationship Id="rId22" Target="../media/image20.png" Type="http://schemas.openxmlformats.org/officeDocument/2006/relationships/image"/><Relationship Id="rId23" Target="../media/image21.svg" Type="http://schemas.openxmlformats.org/officeDocument/2006/relationships/image"/><Relationship Id="rId3" Target="../media/image24.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25.jpe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6.png" Type="http://schemas.openxmlformats.org/officeDocument/2006/relationships/image"/><Relationship Id="rId24" Target="../media/image27.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13" Target="../media/image10.png" Type="http://schemas.openxmlformats.org/officeDocument/2006/relationships/image"/><Relationship Id="rId14" Target="../media/image11.svg" Type="http://schemas.openxmlformats.org/officeDocument/2006/relationships/image"/><Relationship Id="rId15" Target="../media/image12.png" Type="http://schemas.openxmlformats.org/officeDocument/2006/relationships/image"/><Relationship Id="rId16" Target="../media/image13.svg" Type="http://schemas.openxmlformats.org/officeDocument/2006/relationships/image"/><Relationship Id="rId17" Target="../media/image14.png" Type="http://schemas.openxmlformats.org/officeDocument/2006/relationships/image"/><Relationship Id="rId18" Target="../media/image15.svg" Type="http://schemas.openxmlformats.org/officeDocument/2006/relationships/image"/><Relationship Id="rId19" Target="../media/image16.png" Type="http://schemas.openxmlformats.org/officeDocument/2006/relationships/image"/><Relationship Id="rId2" Target="../media/image28.jpeg" Type="http://schemas.openxmlformats.org/officeDocument/2006/relationships/image"/><Relationship Id="rId20" Target="../media/image17.svg" Type="http://schemas.openxmlformats.org/officeDocument/2006/relationships/image"/><Relationship Id="rId21" Target="../media/image18.png" Type="http://schemas.openxmlformats.org/officeDocument/2006/relationships/image"/><Relationship Id="rId22" Target="../media/image19.svg" Type="http://schemas.openxmlformats.org/officeDocument/2006/relationships/image"/><Relationship Id="rId23" Target="../media/image20.png" Type="http://schemas.openxmlformats.org/officeDocument/2006/relationships/image"/><Relationship Id="rId24" Target="../media/image21.svg" Type="http://schemas.openxmlformats.org/officeDocument/2006/relationships/image"/><Relationship Id="rId3" Target="../media/image29.jpeg" Type="http://schemas.openxmlformats.org/officeDocument/2006/relationships/image"/><Relationship Id="rId4" Target="../media/image30.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11" Target="../media/image3.svg" Type="http://schemas.openxmlformats.org/officeDocument/2006/relationships/image"/><Relationship Id="rId12" Target="../media/image4.png" Type="http://schemas.openxmlformats.org/officeDocument/2006/relationships/image"/><Relationship Id="rId13" Target="../media/image5.svg" Type="http://schemas.openxmlformats.org/officeDocument/2006/relationships/image"/><Relationship Id="rId14" Target="../media/image6.png" Type="http://schemas.openxmlformats.org/officeDocument/2006/relationships/image"/><Relationship Id="rId15" Target="../media/image7.svg" Type="http://schemas.openxmlformats.org/officeDocument/2006/relationships/image"/><Relationship Id="rId16" Target="../media/image8.png" Type="http://schemas.openxmlformats.org/officeDocument/2006/relationships/image"/><Relationship Id="rId17" Target="../media/image9.svg" Type="http://schemas.openxmlformats.org/officeDocument/2006/relationships/image"/><Relationship Id="rId18" Target="../media/image10.png" Type="http://schemas.openxmlformats.org/officeDocument/2006/relationships/image"/><Relationship Id="rId19" Target="../media/image11.svg" Type="http://schemas.openxmlformats.org/officeDocument/2006/relationships/image"/><Relationship Id="rId2" Target="../media/image31.png" Type="http://schemas.openxmlformats.org/officeDocument/2006/relationships/image"/><Relationship Id="rId20" Target="../media/image12.png" Type="http://schemas.openxmlformats.org/officeDocument/2006/relationships/image"/><Relationship Id="rId21" Target="../media/image13.svg" Type="http://schemas.openxmlformats.org/officeDocument/2006/relationships/image"/><Relationship Id="rId22" Target="../media/image14.png" Type="http://schemas.openxmlformats.org/officeDocument/2006/relationships/image"/><Relationship Id="rId23" Target="../media/image15.svg" Type="http://schemas.openxmlformats.org/officeDocument/2006/relationships/image"/><Relationship Id="rId24" Target="../media/image16.png" Type="http://schemas.openxmlformats.org/officeDocument/2006/relationships/image"/><Relationship Id="rId25" Target="../media/image17.svg" Type="http://schemas.openxmlformats.org/officeDocument/2006/relationships/image"/><Relationship Id="rId26" Target="../media/image18.png" Type="http://schemas.openxmlformats.org/officeDocument/2006/relationships/image"/><Relationship Id="rId27" Target="../media/image19.svg" Type="http://schemas.openxmlformats.org/officeDocument/2006/relationships/image"/><Relationship Id="rId28" Target="../media/image20.png" Type="http://schemas.openxmlformats.org/officeDocument/2006/relationships/image"/><Relationship Id="rId29" Target="../media/image21.svg" Type="http://schemas.openxmlformats.org/officeDocument/2006/relationships/image"/><Relationship Id="rId3" Target="../media/image32.svg" Type="http://schemas.openxmlformats.org/officeDocument/2006/relationships/image"/><Relationship Id="rId30" Target="../media/image39.png" Type="http://schemas.openxmlformats.org/officeDocument/2006/relationships/image"/><Relationship Id="rId31" Target="../media/image40.pn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media/image14.png" Type="http://schemas.openxmlformats.org/officeDocument/2006/relationships/image"/><Relationship Id="rId15" Target="../media/image15.svg" Type="http://schemas.openxmlformats.org/officeDocument/2006/relationships/image"/><Relationship Id="rId16" Target="../media/image16.png" Type="http://schemas.openxmlformats.org/officeDocument/2006/relationships/image"/><Relationship Id="rId17" Target="../media/image17.svg" Type="http://schemas.openxmlformats.org/officeDocument/2006/relationships/image"/><Relationship Id="rId18" Target="../media/image18.png" Type="http://schemas.openxmlformats.org/officeDocument/2006/relationships/image"/><Relationship Id="rId19" Target="../media/image19.svg" Type="http://schemas.openxmlformats.org/officeDocument/2006/relationships/image"/><Relationship Id="rId2" Target="../media/image2.png" Type="http://schemas.openxmlformats.org/officeDocument/2006/relationships/image"/><Relationship Id="rId20" Target="../media/image20.png" Type="http://schemas.openxmlformats.org/officeDocument/2006/relationships/image"/><Relationship Id="rId21" Target="../media/image21.svg" Type="http://schemas.openxmlformats.org/officeDocument/2006/relationships/image"/><Relationship Id="rId22" Target="../media/image41.png" Type="http://schemas.openxmlformats.org/officeDocument/2006/relationships/image"/><Relationship Id="rId23" Target="../media/image42.png" Type="http://schemas.openxmlformats.org/officeDocument/2006/relationships/image"/><Relationship Id="rId24" Target="../media/image43.png" Type="http://schemas.openxmlformats.org/officeDocument/2006/relationships/image"/><Relationship Id="rId25" Target="../media/image44.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45.jpe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46.jpe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48.jpe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5202" t="-36400" r="-22550" b="-11352"/>
            </a:stretch>
          </a:blipFill>
        </p:spPr>
      </p:sp>
      <p:grpSp>
        <p:nvGrpSpPr>
          <p:cNvPr name="Group 3" id="3"/>
          <p:cNvGrpSpPr/>
          <p:nvPr/>
        </p:nvGrpSpPr>
        <p:grpSpPr>
          <a:xfrm rot="0">
            <a:off x="0" y="0"/>
            <a:ext cx="18288000" cy="6151328"/>
            <a:chOff x="0" y="0"/>
            <a:chExt cx="4816593" cy="1620103"/>
          </a:xfrm>
        </p:grpSpPr>
        <p:sp>
          <p:nvSpPr>
            <p:cNvPr name="Freeform 4" id="4"/>
            <p:cNvSpPr/>
            <p:nvPr/>
          </p:nvSpPr>
          <p:spPr>
            <a:xfrm flipH="false" flipV="false" rot="0">
              <a:off x="0" y="0"/>
              <a:ext cx="4816592" cy="1620103"/>
            </a:xfrm>
            <a:custGeom>
              <a:avLst/>
              <a:gdLst/>
              <a:ahLst/>
              <a:cxnLst/>
              <a:rect r="r" b="b" t="t" l="l"/>
              <a:pathLst>
                <a:path h="1620103" w="4816592">
                  <a:moveTo>
                    <a:pt x="0" y="0"/>
                  </a:moveTo>
                  <a:lnTo>
                    <a:pt x="4816592" y="0"/>
                  </a:lnTo>
                  <a:lnTo>
                    <a:pt x="4816592" y="1620103"/>
                  </a:lnTo>
                  <a:lnTo>
                    <a:pt x="0" y="1620103"/>
                  </a:lnTo>
                  <a:close/>
                </a:path>
              </a:pathLst>
            </a:custGeom>
            <a:gradFill rotWithShape="true">
              <a:gsLst>
                <a:gs pos="0">
                  <a:srgbClr val="161A1D">
                    <a:alpha val="100000"/>
                  </a:srgbClr>
                </a:gs>
                <a:gs pos="100000">
                  <a:srgbClr val="161A1D">
                    <a:alpha val="0"/>
                  </a:srgbClr>
                </a:gs>
              </a:gsLst>
              <a:lin ang="5400000"/>
            </a:gradFill>
          </p:spPr>
        </p:sp>
        <p:sp>
          <p:nvSpPr>
            <p:cNvPr name="TextBox 5" id="5"/>
            <p:cNvSpPr txBox="true"/>
            <p:nvPr/>
          </p:nvSpPr>
          <p:spPr>
            <a:xfrm>
              <a:off x="0" y="-38100"/>
              <a:ext cx="4816593" cy="1658203"/>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0" y="7859594"/>
            <a:ext cx="18288000" cy="2462572"/>
            <a:chOff x="0" y="0"/>
            <a:chExt cx="4816593" cy="648579"/>
          </a:xfrm>
        </p:grpSpPr>
        <p:sp>
          <p:nvSpPr>
            <p:cNvPr name="Freeform 7" id="7"/>
            <p:cNvSpPr/>
            <p:nvPr/>
          </p:nvSpPr>
          <p:spPr>
            <a:xfrm flipH="false" flipV="false" rot="0">
              <a:off x="0" y="0"/>
              <a:ext cx="4816592" cy="648579"/>
            </a:xfrm>
            <a:custGeom>
              <a:avLst/>
              <a:gdLst/>
              <a:ahLst/>
              <a:cxnLst/>
              <a:rect r="r" b="b" t="t" l="l"/>
              <a:pathLst>
                <a:path h="648579" w="4816592">
                  <a:moveTo>
                    <a:pt x="0" y="0"/>
                  </a:moveTo>
                  <a:lnTo>
                    <a:pt x="4816592" y="0"/>
                  </a:lnTo>
                  <a:lnTo>
                    <a:pt x="4816592" y="648579"/>
                  </a:lnTo>
                  <a:lnTo>
                    <a:pt x="0" y="648579"/>
                  </a:lnTo>
                  <a:close/>
                </a:path>
              </a:pathLst>
            </a:custGeom>
            <a:gradFill rotWithShape="true">
              <a:gsLst>
                <a:gs pos="0">
                  <a:srgbClr val="161A1D">
                    <a:alpha val="0"/>
                  </a:srgbClr>
                </a:gs>
                <a:gs pos="100000">
                  <a:srgbClr val="161A1D">
                    <a:alpha val="100000"/>
                  </a:srgbClr>
                </a:gs>
              </a:gsLst>
              <a:lin ang="5400000"/>
            </a:gradFill>
          </p:spPr>
        </p:sp>
        <p:sp>
          <p:nvSpPr>
            <p:cNvPr name="TextBox 8" id="8"/>
            <p:cNvSpPr txBox="true"/>
            <p:nvPr/>
          </p:nvSpPr>
          <p:spPr>
            <a:xfrm>
              <a:off x="0" y="-38100"/>
              <a:ext cx="4816593" cy="68667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374535" y="7687689"/>
            <a:ext cx="2273211" cy="3141222"/>
            <a:chOff x="0" y="0"/>
            <a:chExt cx="3030949" cy="4188296"/>
          </a:xfrm>
        </p:grpSpPr>
        <p:grpSp>
          <p:nvGrpSpPr>
            <p:cNvPr name="Group 10" id="10"/>
            <p:cNvGrpSpPr/>
            <p:nvPr/>
          </p:nvGrpSpPr>
          <p:grpSpPr>
            <a:xfrm rot="0">
              <a:off x="631987" y="932112"/>
              <a:ext cx="2398962" cy="3256184"/>
              <a:chOff x="0" y="0"/>
              <a:chExt cx="449117" cy="609600"/>
            </a:xfrm>
          </p:grpSpPr>
          <p:sp>
            <p:nvSpPr>
              <p:cNvPr name="Freeform 11" id="11"/>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12" id="12"/>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13" id="13"/>
            <p:cNvGrpSpPr/>
            <p:nvPr/>
          </p:nvGrpSpPr>
          <p:grpSpPr>
            <a:xfrm rot="0">
              <a:off x="416071" y="490097"/>
              <a:ext cx="2398962" cy="3256184"/>
              <a:chOff x="0" y="0"/>
              <a:chExt cx="449117" cy="609600"/>
            </a:xfrm>
          </p:grpSpPr>
          <p:sp>
            <p:nvSpPr>
              <p:cNvPr name="Freeform 14" id="14"/>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15" id="15"/>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16" id="16"/>
            <p:cNvGrpSpPr/>
            <p:nvPr/>
          </p:nvGrpSpPr>
          <p:grpSpPr>
            <a:xfrm rot="0">
              <a:off x="0" y="0"/>
              <a:ext cx="2662726" cy="3614200"/>
              <a:chOff x="0" y="0"/>
              <a:chExt cx="449117" cy="609600"/>
            </a:xfrm>
          </p:grpSpPr>
          <p:sp>
            <p:nvSpPr>
              <p:cNvPr name="Freeform 17" id="17"/>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18" id="18"/>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sp>
        <p:nvSpPr>
          <p:cNvPr name="TextBox 19" id="19"/>
          <p:cNvSpPr txBox="true"/>
          <p:nvPr/>
        </p:nvSpPr>
        <p:spPr>
          <a:xfrm rot="0">
            <a:off x="1550838" y="7949248"/>
            <a:ext cx="7850145" cy="1564639"/>
          </a:xfrm>
          <a:prstGeom prst="rect">
            <a:avLst/>
          </a:prstGeom>
        </p:spPr>
        <p:txBody>
          <a:bodyPr anchor="t" rtlCol="false" tIns="0" lIns="0" bIns="0" rIns="0">
            <a:spAutoFit/>
          </a:bodyPr>
          <a:lstStyle/>
          <a:p>
            <a:pPr algn="l">
              <a:lnSpc>
                <a:spcPts val="12460"/>
              </a:lnSpc>
              <a:spcBef>
                <a:spcPct val="0"/>
              </a:spcBef>
            </a:pPr>
            <a:r>
              <a:rPr lang="en-US" b="true" sz="8900" i="true">
                <a:solidFill>
                  <a:srgbClr val="DC2F02"/>
                </a:solidFill>
                <a:latin typeface="Ubuntu Bold Italics"/>
                <a:ea typeface="Ubuntu Bold Italics"/>
                <a:cs typeface="Ubuntu Bold Italics"/>
                <a:sym typeface="Ubuntu Bold Italics"/>
              </a:rPr>
              <a:t>EV SALES </a:t>
            </a:r>
          </a:p>
        </p:txBody>
      </p:sp>
      <p:sp>
        <p:nvSpPr>
          <p:cNvPr name="TextBox 20" id="20"/>
          <p:cNvSpPr txBox="true"/>
          <p:nvPr/>
        </p:nvSpPr>
        <p:spPr>
          <a:xfrm rot="0">
            <a:off x="9886759" y="8385810"/>
            <a:ext cx="6051681" cy="872490"/>
          </a:xfrm>
          <a:prstGeom prst="rect">
            <a:avLst/>
          </a:prstGeom>
        </p:spPr>
        <p:txBody>
          <a:bodyPr anchor="t" rtlCol="false" tIns="0" lIns="0" bIns="0" rIns="0">
            <a:spAutoFit/>
          </a:bodyPr>
          <a:lstStyle/>
          <a:p>
            <a:pPr algn="l">
              <a:lnSpc>
                <a:spcPts val="2340"/>
              </a:lnSpc>
            </a:pPr>
            <a:r>
              <a:rPr lang="en-US" sz="1800" i="true" spc="44">
                <a:solidFill>
                  <a:srgbClr val="F5F3F4"/>
                </a:solidFill>
                <a:latin typeface="Canva Sans Italics"/>
                <a:ea typeface="Canva Sans Italics"/>
                <a:cs typeface="Canva Sans Italics"/>
                <a:sym typeface="Canva Sans Italics"/>
              </a:rPr>
              <a:t>Electric Vehicle Sales by State in India</a:t>
            </a:r>
          </a:p>
          <a:p>
            <a:pPr algn="l">
              <a:lnSpc>
                <a:spcPts val="2340"/>
              </a:lnSpc>
            </a:pPr>
            <a:r>
              <a:rPr lang="en-US" sz="1800" i="true" spc="44">
                <a:solidFill>
                  <a:srgbClr val="F5F3F4"/>
                </a:solidFill>
                <a:latin typeface="Canva Sans Italics"/>
                <a:ea typeface="Canva Sans Italics"/>
                <a:cs typeface="Canva Sans Italics"/>
                <a:sym typeface="Canva Sans Italics"/>
              </a:rPr>
              <a:t>Tools Used: Excel, Pivot Tables, SQ</a:t>
            </a:r>
          </a:p>
          <a:p>
            <a:pPr algn="l">
              <a:lnSpc>
                <a:spcPts val="2340"/>
              </a:lnSpc>
            </a:pPr>
            <a:r>
              <a:rPr lang="en-US" sz="1800" i="true" spc="44">
                <a:solidFill>
                  <a:srgbClr val="F5F3F4"/>
                </a:solidFill>
                <a:latin typeface="Canva Sans Italics"/>
                <a:ea typeface="Canva Sans Italics"/>
                <a:cs typeface="Canva Sans Italics"/>
                <a:sym typeface="Canva Sans Italics"/>
              </a:rPr>
              <a:t>Created by : Diya Singh </a:t>
            </a:r>
          </a:p>
        </p:txBody>
      </p:sp>
      <p:grpSp>
        <p:nvGrpSpPr>
          <p:cNvPr name="Group 21" id="21"/>
          <p:cNvGrpSpPr/>
          <p:nvPr/>
        </p:nvGrpSpPr>
        <p:grpSpPr>
          <a:xfrm rot="0">
            <a:off x="238697" y="0"/>
            <a:ext cx="705305" cy="10287000"/>
            <a:chOff x="0" y="0"/>
            <a:chExt cx="185759" cy="2709333"/>
          </a:xfrm>
        </p:grpSpPr>
        <p:sp>
          <p:nvSpPr>
            <p:cNvPr name="Freeform 22" id="22"/>
            <p:cNvSpPr/>
            <p:nvPr/>
          </p:nvSpPr>
          <p:spPr>
            <a:xfrm flipH="false" flipV="false" rot="0">
              <a:off x="0" y="0"/>
              <a:ext cx="185759" cy="2709333"/>
            </a:xfrm>
            <a:custGeom>
              <a:avLst/>
              <a:gdLst/>
              <a:ahLst/>
              <a:cxnLst/>
              <a:rect r="r" b="b" t="t" l="l"/>
              <a:pathLst>
                <a:path h="2709333" w="185759">
                  <a:moveTo>
                    <a:pt x="0" y="0"/>
                  </a:moveTo>
                  <a:lnTo>
                    <a:pt x="185759" y="0"/>
                  </a:lnTo>
                  <a:lnTo>
                    <a:pt x="185759" y="2709333"/>
                  </a:lnTo>
                  <a:lnTo>
                    <a:pt x="0" y="2709333"/>
                  </a:lnTo>
                  <a:close/>
                </a:path>
              </a:pathLst>
            </a:custGeom>
            <a:gradFill rotWithShape="true">
              <a:gsLst>
                <a:gs pos="0">
                  <a:srgbClr val="DC2F02">
                    <a:alpha val="100000"/>
                  </a:srgbClr>
                </a:gs>
                <a:gs pos="100000">
                  <a:srgbClr val="DC2F02">
                    <a:alpha val="0"/>
                  </a:srgbClr>
                </a:gs>
              </a:gsLst>
              <a:path path="circle">
                <a:fillToRect l="50000" r="50000" t="50000" b="50000"/>
              </a:path>
            </a:gradFill>
          </p:spPr>
        </p:sp>
        <p:sp>
          <p:nvSpPr>
            <p:cNvPr name="TextBox 23" id="23"/>
            <p:cNvSpPr txBox="true"/>
            <p:nvPr/>
          </p:nvSpPr>
          <p:spPr>
            <a:xfrm>
              <a:off x="0" y="-38100"/>
              <a:ext cx="185759"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0">
            <a:off x="238697" y="878597"/>
            <a:ext cx="705305" cy="703087"/>
            <a:chOff x="0" y="0"/>
            <a:chExt cx="185759" cy="185175"/>
          </a:xfrm>
        </p:grpSpPr>
        <p:sp>
          <p:nvSpPr>
            <p:cNvPr name="Freeform 25" id="25"/>
            <p:cNvSpPr/>
            <p:nvPr/>
          </p:nvSpPr>
          <p:spPr>
            <a:xfrm flipH="false" flipV="false" rot="0">
              <a:off x="0" y="0"/>
              <a:ext cx="185759" cy="185175"/>
            </a:xfrm>
            <a:custGeom>
              <a:avLst/>
              <a:gdLst/>
              <a:ahLst/>
              <a:cxnLst/>
              <a:rect r="r" b="b" t="t" l="l"/>
              <a:pathLst>
                <a:path h="185175" w="185759">
                  <a:moveTo>
                    <a:pt x="0" y="0"/>
                  </a:moveTo>
                  <a:lnTo>
                    <a:pt x="185759" y="0"/>
                  </a:lnTo>
                  <a:lnTo>
                    <a:pt x="185759" y="185175"/>
                  </a:lnTo>
                  <a:lnTo>
                    <a:pt x="0" y="185175"/>
                  </a:lnTo>
                  <a:close/>
                </a:path>
              </a:pathLst>
            </a:custGeom>
            <a:solidFill>
              <a:srgbClr val="DC2F02"/>
            </a:solidFill>
          </p:spPr>
        </p:sp>
        <p:sp>
          <p:nvSpPr>
            <p:cNvPr name="TextBox 26" id="26"/>
            <p:cNvSpPr txBox="true"/>
            <p:nvPr/>
          </p:nvSpPr>
          <p:spPr>
            <a:xfrm>
              <a:off x="0" y="-38100"/>
              <a:ext cx="185759" cy="223275"/>
            </a:xfrm>
            <a:prstGeom prst="rect">
              <a:avLst/>
            </a:prstGeom>
          </p:spPr>
          <p:txBody>
            <a:bodyPr anchor="ctr" rtlCol="false" tIns="50800" lIns="50800" bIns="50800" rIns="50800"/>
            <a:lstStyle/>
            <a:p>
              <a:pPr algn="ctr">
                <a:lnSpc>
                  <a:spcPts val="2659"/>
                </a:lnSpc>
                <a:spcBef>
                  <a:spcPct val="0"/>
                </a:spcBef>
              </a:pPr>
            </a:p>
          </p:txBody>
        </p:sp>
      </p:grpSp>
      <p:sp>
        <p:nvSpPr>
          <p:cNvPr name="Freeform 27" id="27"/>
          <p:cNvSpPr/>
          <p:nvPr/>
        </p:nvSpPr>
        <p:spPr>
          <a:xfrm flipH="false" flipV="false" rot="0">
            <a:off x="375398" y="1028700"/>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412503" y="1923573"/>
            <a:ext cx="357692" cy="429543"/>
          </a:xfrm>
          <a:custGeom>
            <a:avLst/>
            <a:gdLst/>
            <a:ahLst/>
            <a:cxnLst/>
            <a:rect r="r" b="b" t="t" l="l"/>
            <a:pathLst>
              <a:path h="429543" w="357692">
                <a:moveTo>
                  <a:pt x="0" y="0"/>
                </a:moveTo>
                <a:lnTo>
                  <a:pt x="357692" y="0"/>
                </a:lnTo>
                <a:lnTo>
                  <a:pt x="357692" y="429543"/>
                </a:lnTo>
                <a:lnTo>
                  <a:pt x="0" y="4295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9" id="29"/>
          <p:cNvSpPr/>
          <p:nvPr/>
        </p:nvSpPr>
        <p:spPr>
          <a:xfrm flipH="false" flipV="false" rot="0">
            <a:off x="375398" y="2845928"/>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0" id="30"/>
          <p:cNvSpPr/>
          <p:nvPr/>
        </p:nvSpPr>
        <p:spPr>
          <a:xfrm flipH="false" flipV="false" rot="0">
            <a:off x="412503" y="3740801"/>
            <a:ext cx="357692" cy="344685"/>
          </a:xfrm>
          <a:custGeom>
            <a:avLst/>
            <a:gdLst/>
            <a:ahLst/>
            <a:cxnLst/>
            <a:rect r="r" b="b" t="t" l="l"/>
            <a:pathLst>
              <a:path h="344685" w="357692">
                <a:moveTo>
                  <a:pt x="0" y="0"/>
                </a:moveTo>
                <a:lnTo>
                  <a:pt x="357692" y="0"/>
                </a:lnTo>
                <a:lnTo>
                  <a:pt x="357692" y="344685"/>
                </a:lnTo>
                <a:lnTo>
                  <a:pt x="0" y="3446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1" id="31"/>
          <p:cNvSpPr/>
          <p:nvPr/>
        </p:nvSpPr>
        <p:spPr>
          <a:xfrm flipH="false" flipV="false" rot="0">
            <a:off x="412503" y="4578297"/>
            <a:ext cx="394797" cy="380441"/>
          </a:xfrm>
          <a:custGeom>
            <a:avLst/>
            <a:gdLst/>
            <a:ahLst/>
            <a:cxnLst/>
            <a:rect r="r" b="b" t="t" l="l"/>
            <a:pathLst>
              <a:path h="380441" w="394797">
                <a:moveTo>
                  <a:pt x="0" y="0"/>
                </a:moveTo>
                <a:lnTo>
                  <a:pt x="394797" y="0"/>
                </a:lnTo>
                <a:lnTo>
                  <a:pt x="394797" y="380441"/>
                </a:lnTo>
                <a:lnTo>
                  <a:pt x="0" y="3804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2" id="32"/>
          <p:cNvSpPr/>
          <p:nvPr/>
        </p:nvSpPr>
        <p:spPr>
          <a:xfrm flipH="false" flipV="false" rot="0">
            <a:off x="393950" y="8842103"/>
            <a:ext cx="431903" cy="416197"/>
          </a:xfrm>
          <a:custGeom>
            <a:avLst/>
            <a:gdLst/>
            <a:ahLst/>
            <a:cxnLst/>
            <a:rect r="r" b="b" t="t" l="l"/>
            <a:pathLst>
              <a:path h="416197" w="431903">
                <a:moveTo>
                  <a:pt x="0" y="0"/>
                </a:moveTo>
                <a:lnTo>
                  <a:pt x="431903" y="0"/>
                </a:lnTo>
                <a:lnTo>
                  <a:pt x="431903" y="416197"/>
                </a:lnTo>
                <a:lnTo>
                  <a:pt x="0" y="4161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3" id="33"/>
          <p:cNvSpPr/>
          <p:nvPr/>
        </p:nvSpPr>
        <p:spPr>
          <a:xfrm flipH="false" flipV="false" rot="0">
            <a:off x="401032" y="5451550"/>
            <a:ext cx="380634" cy="377866"/>
          </a:xfrm>
          <a:custGeom>
            <a:avLst/>
            <a:gdLst/>
            <a:ahLst/>
            <a:cxnLst/>
            <a:rect r="r" b="b" t="t" l="l"/>
            <a:pathLst>
              <a:path h="377866" w="380634">
                <a:moveTo>
                  <a:pt x="0" y="0"/>
                </a:moveTo>
                <a:lnTo>
                  <a:pt x="380634" y="0"/>
                </a:lnTo>
                <a:lnTo>
                  <a:pt x="380634" y="377866"/>
                </a:lnTo>
                <a:lnTo>
                  <a:pt x="0" y="37786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4" id="34"/>
          <p:cNvSpPr/>
          <p:nvPr/>
        </p:nvSpPr>
        <p:spPr>
          <a:xfrm flipH="false" flipV="false" rot="0">
            <a:off x="393950" y="7171074"/>
            <a:ext cx="431903" cy="288197"/>
          </a:xfrm>
          <a:custGeom>
            <a:avLst/>
            <a:gdLst/>
            <a:ahLst/>
            <a:cxnLst/>
            <a:rect r="r" b="b" t="t" l="l"/>
            <a:pathLst>
              <a:path h="288197" w="431903">
                <a:moveTo>
                  <a:pt x="0" y="0"/>
                </a:moveTo>
                <a:lnTo>
                  <a:pt x="431903" y="0"/>
                </a:lnTo>
                <a:lnTo>
                  <a:pt x="431903" y="288196"/>
                </a:lnTo>
                <a:lnTo>
                  <a:pt x="0" y="28819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5" id="35"/>
          <p:cNvSpPr/>
          <p:nvPr/>
        </p:nvSpPr>
        <p:spPr>
          <a:xfrm flipH="false" flipV="false" rot="0">
            <a:off x="412503" y="7952082"/>
            <a:ext cx="394797" cy="397210"/>
          </a:xfrm>
          <a:custGeom>
            <a:avLst/>
            <a:gdLst/>
            <a:ahLst/>
            <a:cxnLst/>
            <a:rect r="r" b="b" t="t" l="l"/>
            <a:pathLst>
              <a:path h="397210" w="394797">
                <a:moveTo>
                  <a:pt x="0" y="0"/>
                </a:moveTo>
                <a:lnTo>
                  <a:pt x="394797" y="0"/>
                </a:lnTo>
                <a:lnTo>
                  <a:pt x="394797" y="397210"/>
                </a:lnTo>
                <a:lnTo>
                  <a:pt x="0" y="39721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36" id="36"/>
          <p:cNvSpPr/>
          <p:nvPr/>
        </p:nvSpPr>
        <p:spPr>
          <a:xfrm flipH="false" flipV="false" rot="0">
            <a:off x="412503" y="6322227"/>
            <a:ext cx="394797" cy="356035"/>
          </a:xfrm>
          <a:custGeom>
            <a:avLst/>
            <a:gdLst/>
            <a:ahLst/>
            <a:cxnLst/>
            <a:rect r="r" b="b" t="t" l="l"/>
            <a:pathLst>
              <a:path h="356035" w="394797">
                <a:moveTo>
                  <a:pt x="0" y="0"/>
                </a:moveTo>
                <a:lnTo>
                  <a:pt x="394797" y="0"/>
                </a:lnTo>
                <a:lnTo>
                  <a:pt x="394797" y="356035"/>
                </a:lnTo>
                <a:lnTo>
                  <a:pt x="0" y="35603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5032" t="-9684" r="-300" b="-15077"/>
            </a:stretch>
          </a:blipFill>
        </p:spPr>
      </p:sp>
      <p:sp>
        <p:nvSpPr>
          <p:cNvPr name="TextBox 3" id="3"/>
          <p:cNvSpPr txBox="true"/>
          <p:nvPr/>
        </p:nvSpPr>
        <p:spPr>
          <a:xfrm rot="0">
            <a:off x="10436255" y="5546800"/>
            <a:ext cx="7211799" cy="1959610"/>
          </a:xfrm>
          <a:prstGeom prst="rect">
            <a:avLst/>
          </a:prstGeom>
        </p:spPr>
        <p:txBody>
          <a:bodyPr anchor="t" rtlCol="false" tIns="0" lIns="0" bIns="0" rIns="0">
            <a:spAutoFit/>
          </a:bodyPr>
          <a:lstStyle/>
          <a:p>
            <a:pPr algn="l">
              <a:lnSpc>
                <a:spcPts val="7400"/>
              </a:lnSpc>
            </a:pPr>
            <a:r>
              <a:rPr lang="en-US" b="true" sz="7400" i="true">
                <a:solidFill>
                  <a:srgbClr val="DC2F02"/>
                </a:solidFill>
                <a:latin typeface="Ubuntu Bold Italics"/>
                <a:ea typeface="Ubuntu Bold Italics"/>
                <a:cs typeface="Ubuntu Bold Italics"/>
                <a:sym typeface="Ubuntu Bold Italics"/>
              </a:rPr>
              <a:t>PROJECT OBJECTIVE</a:t>
            </a:r>
          </a:p>
        </p:txBody>
      </p:sp>
      <p:sp>
        <p:nvSpPr>
          <p:cNvPr name="TextBox 4" id="4"/>
          <p:cNvSpPr txBox="true"/>
          <p:nvPr/>
        </p:nvSpPr>
        <p:spPr>
          <a:xfrm rot="0">
            <a:off x="10436255" y="7662908"/>
            <a:ext cx="6051681" cy="2348865"/>
          </a:xfrm>
          <a:prstGeom prst="rect">
            <a:avLst/>
          </a:prstGeom>
        </p:spPr>
        <p:txBody>
          <a:bodyPr anchor="t" rtlCol="false" tIns="0" lIns="0" bIns="0" rIns="0">
            <a:spAutoFit/>
          </a:bodyPr>
          <a:lstStyle/>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To analyze EV sales trends across Indian states.</a:t>
            </a:r>
          </a:p>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To identify top-performing states and vehicle categories.</a:t>
            </a:r>
          </a:p>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To study year-wise growth from 2014 to 2024.</a:t>
            </a:r>
          </a:p>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To build an interactive Excel Dashboard.</a:t>
            </a:r>
          </a:p>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To perform SQL-based data analysis for deeper insights.</a:t>
            </a:r>
          </a:p>
          <a:p>
            <a:pPr algn="l">
              <a:lnSpc>
                <a:spcPts val="2340"/>
              </a:lnSpc>
            </a:pPr>
          </a:p>
        </p:txBody>
      </p:sp>
      <p:grpSp>
        <p:nvGrpSpPr>
          <p:cNvPr name="Group 5" id="5"/>
          <p:cNvGrpSpPr/>
          <p:nvPr/>
        </p:nvGrpSpPr>
        <p:grpSpPr>
          <a:xfrm rot="0">
            <a:off x="15764904" y="-617410"/>
            <a:ext cx="2988792" cy="4096344"/>
            <a:chOff x="0" y="0"/>
            <a:chExt cx="3985056" cy="5461792"/>
          </a:xfrm>
        </p:grpSpPr>
        <p:grpSp>
          <p:nvGrpSpPr>
            <p:cNvPr name="Group 6" id="6"/>
            <p:cNvGrpSpPr/>
            <p:nvPr/>
          </p:nvGrpSpPr>
          <p:grpSpPr>
            <a:xfrm rot="0">
              <a:off x="956131" y="1350540"/>
              <a:ext cx="3028925" cy="4111253"/>
              <a:chOff x="0" y="0"/>
              <a:chExt cx="449117" cy="609600"/>
            </a:xfrm>
          </p:grpSpPr>
          <p:sp>
            <p:nvSpPr>
              <p:cNvPr name="Freeform 7" id="7"/>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8" id="8"/>
              <p:cNvSpPr txBox="true"/>
              <p:nvPr/>
            </p:nvSpPr>
            <p:spPr>
              <a:xfrm>
                <a:off x="101600" y="-38100"/>
                <a:ext cx="245917" cy="647700"/>
              </a:xfrm>
              <a:prstGeom prst="rect">
                <a:avLst/>
              </a:prstGeom>
            </p:spPr>
            <p:txBody>
              <a:bodyPr anchor="ctr" rtlCol="false" tIns="64328" lIns="64328" bIns="64328" rIns="64328"/>
              <a:lstStyle/>
              <a:p>
                <a:pPr algn="ctr">
                  <a:lnSpc>
                    <a:spcPts val="2660"/>
                  </a:lnSpc>
                  <a:spcBef>
                    <a:spcPct val="0"/>
                  </a:spcBef>
                </a:pPr>
              </a:p>
            </p:txBody>
          </p:sp>
        </p:grpSp>
        <p:grpSp>
          <p:nvGrpSpPr>
            <p:cNvPr name="Group 9" id="9"/>
            <p:cNvGrpSpPr/>
            <p:nvPr/>
          </p:nvGrpSpPr>
          <p:grpSpPr>
            <a:xfrm rot="0">
              <a:off x="606979" y="792451"/>
              <a:ext cx="3028925" cy="4111253"/>
              <a:chOff x="0" y="0"/>
              <a:chExt cx="449117" cy="609600"/>
            </a:xfrm>
          </p:grpSpPr>
          <p:sp>
            <p:nvSpPr>
              <p:cNvPr name="Freeform 10" id="10"/>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11" id="11"/>
              <p:cNvSpPr txBox="true"/>
              <p:nvPr/>
            </p:nvSpPr>
            <p:spPr>
              <a:xfrm>
                <a:off x="101600" y="-38100"/>
                <a:ext cx="245917" cy="647700"/>
              </a:xfrm>
              <a:prstGeom prst="rect">
                <a:avLst/>
              </a:prstGeom>
            </p:spPr>
            <p:txBody>
              <a:bodyPr anchor="ctr" rtlCol="false" tIns="64328" lIns="64328" bIns="64328" rIns="64328"/>
              <a:lstStyle/>
              <a:p>
                <a:pPr algn="ctr">
                  <a:lnSpc>
                    <a:spcPts val="2660"/>
                  </a:lnSpc>
                  <a:spcBef>
                    <a:spcPct val="0"/>
                  </a:spcBef>
                </a:pPr>
              </a:p>
            </p:txBody>
          </p:sp>
        </p:grpSp>
        <p:grpSp>
          <p:nvGrpSpPr>
            <p:cNvPr name="Group 12" id="12"/>
            <p:cNvGrpSpPr/>
            <p:nvPr/>
          </p:nvGrpSpPr>
          <p:grpSpPr>
            <a:xfrm rot="0">
              <a:off x="0" y="0"/>
              <a:ext cx="3361954" cy="4563283"/>
              <a:chOff x="0" y="0"/>
              <a:chExt cx="449117" cy="609600"/>
            </a:xfrm>
          </p:grpSpPr>
          <p:sp>
            <p:nvSpPr>
              <p:cNvPr name="Freeform 13" id="13"/>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14" id="14"/>
              <p:cNvSpPr txBox="true"/>
              <p:nvPr/>
            </p:nvSpPr>
            <p:spPr>
              <a:xfrm>
                <a:off x="101600" y="-38100"/>
                <a:ext cx="245917" cy="647700"/>
              </a:xfrm>
              <a:prstGeom prst="rect">
                <a:avLst/>
              </a:prstGeom>
            </p:spPr>
            <p:txBody>
              <a:bodyPr anchor="ctr" rtlCol="false" tIns="64328" lIns="64328" bIns="64328" rIns="64328"/>
              <a:lstStyle/>
              <a:p>
                <a:pPr algn="ctr">
                  <a:lnSpc>
                    <a:spcPts val="2660"/>
                  </a:lnSpc>
                  <a:spcBef>
                    <a:spcPct val="0"/>
                  </a:spcBef>
                </a:pPr>
              </a:p>
            </p:txBody>
          </p:sp>
        </p:grpSp>
      </p:grpSp>
      <p:grpSp>
        <p:nvGrpSpPr>
          <p:cNvPr name="Group 15" id="15"/>
          <p:cNvGrpSpPr/>
          <p:nvPr/>
        </p:nvGrpSpPr>
        <p:grpSpPr>
          <a:xfrm rot="0">
            <a:off x="238697" y="0"/>
            <a:ext cx="705305" cy="10287000"/>
            <a:chOff x="0" y="0"/>
            <a:chExt cx="185759" cy="2709333"/>
          </a:xfrm>
        </p:grpSpPr>
        <p:sp>
          <p:nvSpPr>
            <p:cNvPr name="Freeform 16" id="16"/>
            <p:cNvSpPr/>
            <p:nvPr/>
          </p:nvSpPr>
          <p:spPr>
            <a:xfrm flipH="false" flipV="false" rot="0">
              <a:off x="0" y="0"/>
              <a:ext cx="185759" cy="2709333"/>
            </a:xfrm>
            <a:custGeom>
              <a:avLst/>
              <a:gdLst/>
              <a:ahLst/>
              <a:cxnLst/>
              <a:rect r="r" b="b" t="t" l="l"/>
              <a:pathLst>
                <a:path h="2709333" w="185759">
                  <a:moveTo>
                    <a:pt x="0" y="0"/>
                  </a:moveTo>
                  <a:lnTo>
                    <a:pt x="185759" y="0"/>
                  </a:lnTo>
                  <a:lnTo>
                    <a:pt x="185759" y="2709333"/>
                  </a:lnTo>
                  <a:lnTo>
                    <a:pt x="0" y="2709333"/>
                  </a:lnTo>
                  <a:close/>
                </a:path>
              </a:pathLst>
            </a:custGeom>
            <a:gradFill rotWithShape="true">
              <a:gsLst>
                <a:gs pos="0">
                  <a:srgbClr val="DC2F02">
                    <a:alpha val="100000"/>
                  </a:srgbClr>
                </a:gs>
                <a:gs pos="100000">
                  <a:srgbClr val="DC2F02">
                    <a:alpha val="0"/>
                  </a:srgbClr>
                </a:gs>
              </a:gsLst>
              <a:path path="circle">
                <a:fillToRect l="50000" r="50000" t="50000" b="50000"/>
              </a:path>
            </a:gradFill>
          </p:spPr>
        </p:sp>
        <p:sp>
          <p:nvSpPr>
            <p:cNvPr name="TextBox 17" id="17"/>
            <p:cNvSpPr txBox="true"/>
            <p:nvPr/>
          </p:nvSpPr>
          <p:spPr>
            <a:xfrm>
              <a:off x="0" y="-38100"/>
              <a:ext cx="185759"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238697" y="1786801"/>
            <a:ext cx="705305" cy="703087"/>
            <a:chOff x="0" y="0"/>
            <a:chExt cx="185759" cy="185175"/>
          </a:xfrm>
        </p:grpSpPr>
        <p:sp>
          <p:nvSpPr>
            <p:cNvPr name="Freeform 19" id="19"/>
            <p:cNvSpPr/>
            <p:nvPr/>
          </p:nvSpPr>
          <p:spPr>
            <a:xfrm flipH="false" flipV="false" rot="0">
              <a:off x="0" y="0"/>
              <a:ext cx="185759" cy="185175"/>
            </a:xfrm>
            <a:custGeom>
              <a:avLst/>
              <a:gdLst/>
              <a:ahLst/>
              <a:cxnLst/>
              <a:rect r="r" b="b" t="t" l="l"/>
              <a:pathLst>
                <a:path h="185175" w="185759">
                  <a:moveTo>
                    <a:pt x="0" y="0"/>
                  </a:moveTo>
                  <a:lnTo>
                    <a:pt x="185759" y="0"/>
                  </a:lnTo>
                  <a:lnTo>
                    <a:pt x="185759" y="185175"/>
                  </a:lnTo>
                  <a:lnTo>
                    <a:pt x="0" y="185175"/>
                  </a:lnTo>
                  <a:close/>
                </a:path>
              </a:pathLst>
            </a:custGeom>
            <a:solidFill>
              <a:srgbClr val="DC2F02"/>
            </a:solidFill>
          </p:spPr>
        </p:sp>
        <p:sp>
          <p:nvSpPr>
            <p:cNvPr name="TextBox 20" id="20"/>
            <p:cNvSpPr txBox="true"/>
            <p:nvPr/>
          </p:nvSpPr>
          <p:spPr>
            <a:xfrm>
              <a:off x="0" y="-38100"/>
              <a:ext cx="185759" cy="223275"/>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375398" y="1028700"/>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false" flipV="false" rot="0">
            <a:off x="412503" y="1923573"/>
            <a:ext cx="357692" cy="429543"/>
          </a:xfrm>
          <a:custGeom>
            <a:avLst/>
            <a:gdLst/>
            <a:ahLst/>
            <a:cxnLst/>
            <a:rect r="r" b="b" t="t" l="l"/>
            <a:pathLst>
              <a:path h="429543" w="357692">
                <a:moveTo>
                  <a:pt x="0" y="0"/>
                </a:moveTo>
                <a:lnTo>
                  <a:pt x="357692" y="0"/>
                </a:lnTo>
                <a:lnTo>
                  <a:pt x="357692" y="429543"/>
                </a:lnTo>
                <a:lnTo>
                  <a:pt x="0" y="4295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3" id="23"/>
          <p:cNvSpPr/>
          <p:nvPr/>
        </p:nvSpPr>
        <p:spPr>
          <a:xfrm flipH="false" flipV="false" rot="0">
            <a:off x="375398" y="2845928"/>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4" id="24"/>
          <p:cNvSpPr/>
          <p:nvPr/>
        </p:nvSpPr>
        <p:spPr>
          <a:xfrm flipH="false" flipV="false" rot="0">
            <a:off x="412503" y="3740801"/>
            <a:ext cx="357692" cy="344685"/>
          </a:xfrm>
          <a:custGeom>
            <a:avLst/>
            <a:gdLst/>
            <a:ahLst/>
            <a:cxnLst/>
            <a:rect r="r" b="b" t="t" l="l"/>
            <a:pathLst>
              <a:path h="344685" w="357692">
                <a:moveTo>
                  <a:pt x="0" y="0"/>
                </a:moveTo>
                <a:lnTo>
                  <a:pt x="357692" y="0"/>
                </a:lnTo>
                <a:lnTo>
                  <a:pt x="357692" y="344685"/>
                </a:lnTo>
                <a:lnTo>
                  <a:pt x="0" y="3446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5" id="25"/>
          <p:cNvSpPr/>
          <p:nvPr/>
        </p:nvSpPr>
        <p:spPr>
          <a:xfrm flipH="false" flipV="false" rot="0">
            <a:off x="412503" y="4578297"/>
            <a:ext cx="394797" cy="380441"/>
          </a:xfrm>
          <a:custGeom>
            <a:avLst/>
            <a:gdLst/>
            <a:ahLst/>
            <a:cxnLst/>
            <a:rect r="r" b="b" t="t" l="l"/>
            <a:pathLst>
              <a:path h="380441" w="394797">
                <a:moveTo>
                  <a:pt x="0" y="0"/>
                </a:moveTo>
                <a:lnTo>
                  <a:pt x="394797" y="0"/>
                </a:lnTo>
                <a:lnTo>
                  <a:pt x="394797" y="380441"/>
                </a:lnTo>
                <a:lnTo>
                  <a:pt x="0" y="3804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6" id="26"/>
          <p:cNvSpPr/>
          <p:nvPr/>
        </p:nvSpPr>
        <p:spPr>
          <a:xfrm flipH="false" flipV="false" rot="0">
            <a:off x="393950" y="8842103"/>
            <a:ext cx="431903" cy="416197"/>
          </a:xfrm>
          <a:custGeom>
            <a:avLst/>
            <a:gdLst/>
            <a:ahLst/>
            <a:cxnLst/>
            <a:rect r="r" b="b" t="t" l="l"/>
            <a:pathLst>
              <a:path h="416197" w="431903">
                <a:moveTo>
                  <a:pt x="0" y="0"/>
                </a:moveTo>
                <a:lnTo>
                  <a:pt x="431903" y="0"/>
                </a:lnTo>
                <a:lnTo>
                  <a:pt x="431903" y="416197"/>
                </a:lnTo>
                <a:lnTo>
                  <a:pt x="0" y="4161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7" id="27"/>
          <p:cNvSpPr/>
          <p:nvPr/>
        </p:nvSpPr>
        <p:spPr>
          <a:xfrm flipH="false" flipV="false" rot="0">
            <a:off x="401032" y="5451550"/>
            <a:ext cx="380634" cy="377866"/>
          </a:xfrm>
          <a:custGeom>
            <a:avLst/>
            <a:gdLst/>
            <a:ahLst/>
            <a:cxnLst/>
            <a:rect r="r" b="b" t="t" l="l"/>
            <a:pathLst>
              <a:path h="377866" w="380634">
                <a:moveTo>
                  <a:pt x="0" y="0"/>
                </a:moveTo>
                <a:lnTo>
                  <a:pt x="380634" y="0"/>
                </a:lnTo>
                <a:lnTo>
                  <a:pt x="380634" y="377866"/>
                </a:lnTo>
                <a:lnTo>
                  <a:pt x="0" y="37786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8" id="28"/>
          <p:cNvSpPr/>
          <p:nvPr/>
        </p:nvSpPr>
        <p:spPr>
          <a:xfrm flipH="false" flipV="false" rot="0">
            <a:off x="393950" y="7171074"/>
            <a:ext cx="431903" cy="288197"/>
          </a:xfrm>
          <a:custGeom>
            <a:avLst/>
            <a:gdLst/>
            <a:ahLst/>
            <a:cxnLst/>
            <a:rect r="r" b="b" t="t" l="l"/>
            <a:pathLst>
              <a:path h="288197" w="431903">
                <a:moveTo>
                  <a:pt x="0" y="0"/>
                </a:moveTo>
                <a:lnTo>
                  <a:pt x="431903" y="0"/>
                </a:lnTo>
                <a:lnTo>
                  <a:pt x="431903" y="288196"/>
                </a:lnTo>
                <a:lnTo>
                  <a:pt x="0" y="28819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9" id="29"/>
          <p:cNvSpPr/>
          <p:nvPr/>
        </p:nvSpPr>
        <p:spPr>
          <a:xfrm flipH="false" flipV="false" rot="0">
            <a:off x="412503" y="7952082"/>
            <a:ext cx="394797" cy="397210"/>
          </a:xfrm>
          <a:custGeom>
            <a:avLst/>
            <a:gdLst/>
            <a:ahLst/>
            <a:cxnLst/>
            <a:rect r="r" b="b" t="t" l="l"/>
            <a:pathLst>
              <a:path h="397210" w="394797">
                <a:moveTo>
                  <a:pt x="0" y="0"/>
                </a:moveTo>
                <a:lnTo>
                  <a:pt x="394797" y="0"/>
                </a:lnTo>
                <a:lnTo>
                  <a:pt x="394797" y="397210"/>
                </a:lnTo>
                <a:lnTo>
                  <a:pt x="0" y="39721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30" id="30"/>
          <p:cNvSpPr/>
          <p:nvPr/>
        </p:nvSpPr>
        <p:spPr>
          <a:xfrm flipH="false" flipV="false" rot="0">
            <a:off x="412503" y="6322227"/>
            <a:ext cx="394797" cy="356035"/>
          </a:xfrm>
          <a:custGeom>
            <a:avLst/>
            <a:gdLst/>
            <a:ahLst/>
            <a:cxnLst/>
            <a:rect r="r" b="b" t="t" l="l"/>
            <a:pathLst>
              <a:path h="356035" w="394797">
                <a:moveTo>
                  <a:pt x="0" y="0"/>
                </a:moveTo>
                <a:lnTo>
                  <a:pt x="394797" y="0"/>
                </a:lnTo>
                <a:lnTo>
                  <a:pt x="394797" y="356035"/>
                </a:lnTo>
                <a:lnTo>
                  <a:pt x="0" y="35603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61A1D"/>
        </a:solidFill>
      </p:bgPr>
    </p:bg>
    <p:spTree>
      <p:nvGrpSpPr>
        <p:cNvPr id="1" name=""/>
        <p:cNvGrpSpPr/>
        <p:nvPr/>
      </p:nvGrpSpPr>
      <p:grpSpPr>
        <a:xfrm>
          <a:off x="0" y="0"/>
          <a:ext cx="0" cy="0"/>
          <a:chOff x="0" y="0"/>
          <a:chExt cx="0" cy="0"/>
        </a:xfrm>
      </p:grpSpPr>
      <p:sp>
        <p:nvSpPr>
          <p:cNvPr name="TextBox 2" id="2"/>
          <p:cNvSpPr txBox="true"/>
          <p:nvPr/>
        </p:nvSpPr>
        <p:spPr>
          <a:xfrm rot="0">
            <a:off x="10202458" y="5499660"/>
            <a:ext cx="7858549" cy="1959610"/>
          </a:xfrm>
          <a:prstGeom prst="rect">
            <a:avLst/>
          </a:prstGeom>
        </p:spPr>
        <p:txBody>
          <a:bodyPr anchor="t" rtlCol="false" tIns="0" lIns="0" bIns="0" rIns="0">
            <a:spAutoFit/>
          </a:bodyPr>
          <a:lstStyle/>
          <a:p>
            <a:pPr algn="l">
              <a:lnSpc>
                <a:spcPts val="7400"/>
              </a:lnSpc>
            </a:pPr>
            <a:r>
              <a:rPr lang="en-US" b="true" sz="7400" i="true">
                <a:solidFill>
                  <a:srgbClr val="DC2F02"/>
                </a:solidFill>
                <a:latin typeface="Ubuntu Bold Italics"/>
                <a:ea typeface="Ubuntu Bold Italics"/>
                <a:cs typeface="Ubuntu Bold Italics"/>
                <a:sym typeface="Ubuntu Bold Italics"/>
              </a:rPr>
              <a:t>DATA CLEANING SUMMARY</a:t>
            </a:r>
          </a:p>
        </p:txBody>
      </p:sp>
      <p:grpSp>
        <p:nvGrpSpPr>
          <p:cNvPr name="Group 3" id="3"/>
          <p:cNvGrpSpPr/>
          <p:nvPr/>
        </p:nvGrpSpPr>
        <p:grpSpPr>
          <a:xfrm rot="0">
            <a:off x="7297858" y="7260078"/>
            <a:ext cx="1969967" cy="2722186"/>
            <a:chOff x="0" y="0"/>
            <a:chExt cx="2626623" cy="3629581"/>
          </a:xfrm>
        </p:grpSpPr>
        <p:grpSp>
          <p:nvGrpSpPr>
            <p:cNvPr name="Group 4" id="4"/>
            <p:cNvGrpSpPr/>
            <p:nvPr/>
          </p:nvGrpSpPr>
          <p:grpSpPr>
            <a:xfrm rot="0">
              <a:off x="547681" y="807769"/>
              <a:ext cx="2078942" cy="2821812"/>
              <a:chOff x="0" y="0"/>
              <a:chExt cx="449117" cy="609600"/>
            </a:xfrm>
          </p:grpSpPr>
          <p:sp>
            <p:nvSpPr>
              <p:cNvPr name="Freeform 5" id="5"/>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6" id="6"/>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7" id="7"/>
            <p:cNvGrpSpPr/>
            <p:nvPr/>
          </p:nvGrpSpPr>
          <p:grpSpPr>
            <a:xfrm rot="0">
              <a:off x="360567" y="424718"/>
              <a:ext cx="2078942" cy="2821812"/>
              <a:chOff x="0" y="0"/>
              <a:chExt cx="449117" cy="609600"/>
            </a:xfrm>
          </p:grpSpPr>
          <p:sp>
            <p:nvSpPr>
              <p:cNvPr name="Freeform 8" id="8"/>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9" id="9"/>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10" id="10"/>
            <p:cNvGrpSpPr/>
            <p:nvPr/>
          </p:nvGrpSpPr>
          <p:grpSpPr>
            <a:xfrm rot="0">
              <a:off x="0" y="0"/>
              <a:ext cx="2307521" cy="3132069"/>
              <a:chOff x="0" y="0"/>
              <a:chExt cx="449117" cy="609600"/>
            </a:xfrm>
          </p:grpSpPr>
          <p:sp>
            <p:nvSpPr>
              <p:cNvPr name="Freeform 11" id="11"/>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12" id="12"/>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13" id="13"/>
          <p:cNvGrpSpPr/>
          <p:nvPr/>
        </p:nvGrpSpPr>
        <p:grpSpPr>
          <a:xfrm rot="0">
            <a:off x="15117708" y="2830786"/>
            <a:ext cx="1969967" cy="2722186"/>
            <a:chOff x="0" y="0"/>
            <a:chExt cx="2626623" cy="3629581"/>
          </a:xfrm>
        </p:grpSpPr>
        <p:grpSp>
          <p:nvGrpSpPr>
            <p:cNvPr name="Group 14" id="14"/>
            <p:cNvGrpSpPr/>
            <p:nvPr/>
          </p:nvGrpSpPr>
          <p:grpSpPr>
            <a:xfrm rot="0">
              <a:off x="547681" y="807769"/>
              <a:ext cx="2078942" cy="2821812"/>
              <a:chOff x="0" y="0"/>
              <a:chExt cx="449117" cy="609600"/>
            </a:xfrm>
          </p:grpSpPr>
          <p:sp>
            <p:nvSpPr>
              <p:cNvPr name="Freeform 15" id="15"/>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16" id="16"/>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17" id="17"/>
            <p:cNvGrpSpPr/>
            <p:nvPr/>
          </p:nvGrpSpPr>
          <p:grpSpPr>
            <a:xfrm rot="0">
              <a:off x="360567" y="424718"/>
              <a:ext cx="2078942" cy="2821812"/>
              <a:chOff x="0" y="0"/>
              <a:chExt cx="449117" cy="609600"/>
            </a:xfrm>
          </p:grpSpPr>
          <p:sp>
            <p:nvSpPr>
              <p:cNvPr name="Freeform 18" id="18"/>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19" id="19"/>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20" id="20"/>
            <p:cNvGrpSpPr/>
            <p:nvPr/>
          </p:nvGrpSpPr>
          <p:grpSpPr>
            <a:xfrm rot="0">
              <a:off x="0" y="0"/>
              <a:ext cx="2307521" cy="3132069"/>
              <a:chOff x="0" y="0"/>
              <a:chExt cx="449117" cy="609600"/>
            </a:xfrm>
          </p:grpSpPr>
          <p:sp>
            <p:nvSpPr>
              <p:cNvPr name="Freeform 21" id="21"/>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22" id="22"/>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23" id="23"/>
          <p:cNvGrpSpPr/>
          <p:nvPr/>
        </p:nvGrpSpPr>
        <p:grpSpPr>
          <a:xfrm rot="0">
            <a:off x="9217474" y="850155"/>
            <a:ext cx="1969967" cy="2722186"/>
            <a:chOff x="0" y="0"/>
            <a:chExt cx="2626623" cy="3629581"/>
          </a:xfrm>
        </p:grpSpPr>
        <p:grpSp>
          <p:nvGrpSpPr>
            <p:cNvPr name="Group 24" id="24"/>
            <p:cNvGrpSpPr/>
            <p:nvPr/>
          </p:nvGrpSpPr>
          <p:grpSpPr>
            <a:xfrm rot="0">
              <a:off x="547681" y="807769"/>
              <a:ext cx="2078942" cy="2821812"/>
              <a:chOff x="0" y="0"/>
              <a:chExt cx="449117" cy="609600"/>
            </a:xfrm>
          </p:grpSpPr>
          <p:sp>
            <p:nvSpPr>
              <p:cNvPr name="Freeform 25" id="25"/>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26" id="26"/>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27" id="27"/>
            <p:cNvGrpSpPr/>
            <p:nvPr/>
          </p:nvGrpSpPr>
          <p:grpSpPr>
            <a:xfrm rot="0">
              <a:off x="360567" y="424718"/>
              <a:ext cx="2078942" cy="2821812"/>
              <a:chOff x="0" y="0"/>
              <a:chExt cx="449117" cy="609600"/>
            </a:xfrm>
          </p:grpSpPr>
          <p:sp>
            <p:nvSpPr>
              <p:cNvPr name="Freeform 28" id="28"/>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29" id="29"/>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30" id="30"/>
            <p:cNvGrpSpPr/>
            <p:nvPr/>
          </p:nvGrpSpPr>
          <p:grpSpPr>
            <a:xfrm rot="0">
              <a:off x="0" y="0"/>
              <a:ext cx="2307521" cy="3132069"/>
              <a:chOff x="0" y="0"/>
              <a:chExt cx="449117" cy="609600"/>
            </a:xfrm>
          </p:grpSpPr>
          <p:sp>
            <p:nvSpPr>
              <p:cNvPr name="Freeform 31" id="31"/>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32" id="32"/>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33" id="33"/>
          <p:cNvGrpSpPr/>
          <p:nvPr/>
        </p:nvGrpSpPr>
        <p:grpSpPr>
          <a:xfrm rot="0">
            <a:off x="1611139" y="5229225"/>
            <a:ext cx="1969967" cy="2722186"/>
            <a:chOff x="0" y="0"/>
            <a:chExt cx="2626623" cy="3629581"/>
          </a:xfrm>
        </p:grpSpPr>
        <p:grpSp>
          <p:nvGrpSpPr>
            <p:cNvPr name="Group 34" id="34"/>
            <p:cNvGrpSpPr/>
            <p:nvPr/>
          </p:nvGrpSpPr>
          <p:grpSpPr>
            <a:xfrm rot="0">
              <a:off x="547681" y="807769"/>
              <a:ext cx="2078942" cy="2821812"/>
              <a:chOff x="0" y="0"/>
              <a:chExt cx="449117" cy="609600"/>
            </a:xfrm>
          </p:grpSpPr>
          <p:sp>
            <p:nvSpPr>
              <p:cNvPr name="Freeform 35" id="35"/>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36" id="36"/>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37" id="37"/>
            <p:cNvGrpSpPr/>
            <p:nvPr/>
          </p:nvGrpSpPr>
          <p:grpSpPr>
            <a:xfrm rot="0">
              <a:off x="360567" y="424718"/>
              <a:ext cx="2078942" cy="2821812"/>
              <a:chOff x="0" y="0"/>
              <a:chExt cx="449117" cy="609600"/>
            </a:xfrm>
          </p:grpSpPr>
          <p:sp>
            <p:nvSpPr>
              <p:cNvPr name="Freeform 38" id="38"/>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39" id="39"/>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40" id="40"/>
            <p:cNvGrpSpPr/>
            <p:nvPr/>
          </p:nvGrpSpPr>
          <p:grpSpPr>
            <a:xfrm rot="0">
              <a:off x="0" y="0"/>
              <a:ext cx="2307521" cy="3132069"/>
              <a:chOff x="0" y="0"/>
              <a:chExt cx="449117" cy="609600"/>
            </a:xfrm>
          </p:grpSpPr>
          <p:sp>
            <p:nvSpPr>
              <p:cNvPr name="Freeform 41" id="41"/>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42" id="42"/>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43" id="43"/>
          <p:cNvGrpSpPr/>
          <p:nvPr/>
        </p:nvGrpSpPr>
        <p:grpSpPr>
          <a:xfrm rot="0">
            <a:off x="8824160" y="1002762"/>
            <a:ext cx="8435140" cy="3941547"/>
            <a:chOff x="0" y="0"/>
            <a:chExt cx="1304579" cy="609600"/>
          </a:xfrm>
        </p:grpSpPr>
        <p:sp>
          <p:nvSpPr>
            <p:cNvPr name="Freeform 44" id="44"/>
            <p:cNvSpPr/>
            <p:nvPr/>
          </p:nvSpPr>
          <p:spPr>
            <a:xfrm flipH="false" flipV="false" rot="0">
              <a:off x="0" y="0"/>
              <a:ext cx="1304579" cy="609600"/>
            </a:xfrm>
            <a:custGeom>
              <a:avLst/>
              <a:gdLst/>
              <a:ahLst/>
              <a:cxnLst/>
              <a:rect r="r" b="b" t="t" l="l"/>
              <a:pathLst>
                <a:path h="609600" w="1304579">
                  <a:moveTo>
                    <a:pt x="203200" y="0"/>
                  </a:moveTo>
                  <a:lnTo>
                    <a:pt x="1304579" y="0"/>
                  </a:lnTo>
                  <a:lnTo>
                    <a:pt x="1101379" y="609600"/>
                  </a:lnTo>
                  <a:lnTo>
                    <a:pt x="0" y="609600"/>
                  </a:lnTo>
                  <a:lnTo>
                    <a:pt x="203200" y="0"/>
                  </a:lnTo>
                  <a:close/>
                </a:path>
              </a:pathLst>
            </a:custGeom>
            <a:blipFill>
              <a:blip r:embed="rId2"/>
              <a:stretch>
                <a:fillRect l="0" t="-21400" r="0" b="-21400"/>
              </a:stretch>
            </a:blipFill>
          </p:spPr>
        </p:sp>
      </p:grpSp>
      <p:grpSp>
        <p:nvGrpSpPr>
          <p:cNvPr name="Group 45" id="45"/>
          <p:cNvGrpSpPr/>
          <p:nvPr/>
        </p:nvGrpSpPr>
        <p:grpSpPr>
          <a:xfrm rot="0">
            <a:off x="1244151" y="5425183"/>
            <a:ext cx="8203094" cy="3833117"/>
            <a:chOff x="0" y="0"/>
            <a:chExt cx="1304579" cy="609600"/>
          </a:xfrm>
        </p:grpSpPr>
        <p:sp>
          <p:nvSpPr>
            <p:cNvPr name="Freeform 46" id="46"/>
            <p:cNvSpPr/>
            <p:nvPr/>
          </p:nvSpPr>
          <p:spPr>
            <a:xfrm flipH="false" flipV="false" rot="0">
              <a:off x="0" y="0"/>
              <a:ext cx="1304579" cy="609600"/>
            </a:xfrm>
            <a:custGeom>
              <a:avLst/>
              <a:gdLst/>
              <a:ahLst/>
              <a:cxnLst/>
              <a:rect r="r" b="b" t="t" l="l"/>
              <a:pathLst>
                <a:path h="609600" w="1304579">
                  <a:moveTo>
                    <a:pt x="203200" y="0"/>
                  </a:moveTo>
                  <a:lnTo>
                    <a:pt x="1304579" y="0"/>
                  </a:lnTo>
                  <a:lnTo>
                    <a:pt x="1101379" y="609600"/>
                  </a:lnTo>
                  <a:lnTo>
                    <a:pt x="0" y="609600"/>
                  </a:lnTo>
                  <a:lnTo>
                    <a:pt x="203200" y="0"/>
                  </a:lnTo>
                  <a:close/>
                </a:path>
              </a:pathLst>
            </a:custGeom>
            <a:blipFill>
              <a:blip r:embed="rId3"/>
              <a:stretch>
                <a:fillRect l="-5051" t="-30846" r="0" b="-18937"/>
              </a:stretch>
            </a:blipFill>
          </p:spPr>
        </p:sp>
      </p:grpSp>
      <p:grpSp>
        <p:nvGrpSpPr>
          <p:cNvPr name="Group 47" id="47"/>
          <p:cNvGrpSpPr/>
          <p:nvPr/>
        </p:nvGrpSpPr>
        <p:grpSpPr>
          <a:xfrm rot="0">
            <a:off x="238697" y="0"/>
            <a:ext cx="705305" cy="10287000"/>
            <a:chOff x="0" y="0"/>
            <a:chExt cx="185759" cy="2709333"/>
          </a:xfrm>
        </p:grpSpPr>
        <p:sp>
          <p:nvSpPr>
            <p:cNvPr name="Freeform 48" id="48"/>
            <p:cNvSpPr/>
            <p:nvPr/>
          </p:nvSpPr>
          <p:spPr>
            <a:xfrm flipH="false" flipV="false" rot="0">
              <a:off x="0" y="0"/>
              <a:ext cx="185759" cy="2709333"/>
            </a:xfrm>
            <a:custGeom>
              <a:avLst/>
              <a:gdLst/>
              <a:ahLst/>
              <a:cxnLst/>
              <a:rect r="r" b="b" t="t" l="l"/>
              <a:pathLst>
                <a:path h="2709333" w="185759">
                  <a:moveTo>
                    <a:pt x="0" y="0"/>
                  </a:moveTo>
                  <a:lnTo>
                    <a:pt x="185759" y="0"/>
                  </a:lnTo>
                  <a:lnTo>
                    <a:pt x="185759" y="2709333"/>
                  </a:lnTo>
                  <a:lnTo>
                    <a:pt x="0" y="2709333"/>
                  </a:lnTo>
                  <a:close/>
                </a:path>
              </a:pathLst>
            </a:custGeom>
            <a:gradFill rotWithShape="true">
              <a:gsLst>
                <a:gs pos="0">
                  <a:srgbClr val="DC2F02">
                    <a:alpha val="100000"/>
                  </a:srgbClr>
                </a:gs>
                <a:gs pos="100000">
                  <a:srgbClr val="DC2F02">
                    <a:alpha val="0"/>
                  </a:srgbClr>
                </a:gs>
              </a:gsLst>
              <a:path path="circle">
                <a:fillToRect l="50000" r="50000" t="50000" b="50000"/>
              </a:path>
            </a:gradFill>
          </p:spPr>
        </p:sp>
        <p:sp>
          <p:nvSpPr>
            <p:cNvPr name="TextBox 49" id="49"/>
            <p:cNvSpPr txBox="true"/>
            <p:nvPr/>
          </p:nvSpPr>
          <p:spPr>
            <a:xfrm>
              <a:off x="0" y="-38100"/>
              <a:ext cx="185759"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0" id="50"/>
          <p:cNvGrpSpPr/>
          <p:nvPr/>
        </p:nvGrpSpPr>
        <p:grpSpPr>
          <a:xfrm rot="0">
            <a:off x="238697" y="2704940"/>
            <a:ext cx="705305" cy="703087"/>
            <a:chOff x="0" y="0"/>
            <a:chExt cx="185759" cy="185175"/>
          </a:xfrm>
        </p:grpSpPr>
        <p:sp>
          <p:nvSpPr>
            <p:cNvPr name="Freeform 51" id="51"/>
            <p:cNvSpPr/>
            <p:nvPr/>
          </p:nvSpPr>
          <p:spPr>
            <a:xfrm flipH="false" flipV="false" rot="0">
              <a:off x="0" y="0"/>
              <a:ext cx="185759" cy="185175"/>
            </a:xfrm>
            <a:custGeom>
              <a:avLst/>
              <a:gdLst/>
              <a:ahLst/>
              <a:cxnLst/>
              <a:rect r="r" b="b" t="t" l="l"/>
              <a:pathLst>
                <a:path h="185175" w="185759">
                  <a:moveTo>
                    <a:pt x="0" y="0"/>
                  </a:moveTo>
                  <a:lnTo>
                    <a:pt x="185759" y="0"/>
                  </a:lnTo>
                  <a:lnTo>
                    <a:pt x="185759" y="185175"/>
                  </a:lnTo>
                  <a:lnTo>
                    <a:pt x="0" y="185175"/>
                  </a:lnTo>
                  <a:close/>
                </a:path>
              </a:pathLst>
            </a:custGeom>
            <a:solidFill>
              <a:srgbClr val="DC2F02"/>
            </a:solidFill>
          </p:spPr>
        </p:sp>
        <p:sp>
          <p:nvSpPr>
            <p:cNvPr name="TextBox 52" id="52"/>
            <p:cNvSpPr txBox="true"/>
            <p:nvPr/>
          </p:nvSpPr>
          <p:spPr>
            <a:xfrm>
              <a:off x="0" y="-38100"/>
              <a:ext cx="185759" cy="223275"/>
            </a:xfrm>
            <a:prstGeom prst="rect">
              <a:avLst/>
            </a:prstGeom>
          </p:spPr>
          <p:txBody>
            <a:bodyPr anchor="ctr" rtlCol="false" tIns="50800" lIns="50800" bIns="50800" rIns="50800"/>
            <a:lstStyle/>
            <a:p>
              <a:pPr algn="ctr">
                <a:lnSpc>
                  <a:spcPts val="2659"/>
                </a:lnSpc>
                <a:spcBef>
                  <a:spcPct val="0"/>
                </a:spcBef>
              </a:pPr>
            </a:p>
          </p:txBody>
        </p:sp>
      </p:grpSp>
      <p:sp>
        <p:nvSpPr>
          <p:cNvPr name="Freeform 53" id="53"/>
          <p:cNvSpPr/>
          <p:nvPr/>
        </p:nvSpPr>
        <p:spPr>
          <a:xfrm flipH="false" flipV="false" rot="0">
            <a:off x="375398" y="1028700"/>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4" id="54"/>
          <p:cNvSpPr/>
          <p:nvPr/>
        </p:nvSpPr>
        <p:spPr>
          <a:xfrm flipH="false" flipV="false" rot="0">
            <a:off x="412503" y="1923573"/>
            <a:ext cx="357692" cy="429543"/>
          </a:xfrm>
          <a:custGeom>
            <a:avLst/>
            <a:gdLst/>
            <a:ahLst/>
            <a:cxnLst/>
            <a:rect r="r" b="b" t="t" l="l"/>
            <a:pathLst>
              <a:path h="429543" w="357692">
                <a:moveTo>
                  <a:pt x="0" y="0"/>
                </a:moveTo>
                <a:lnTo>
                  <a:pt x="357692" y="0"/>
                </a:lnTo>
                <a:lnTo>
                  <a:pt x="357692" y="429543"/>
                </a:lnTo>
                <a:lnTo>
                  <a:pt x="0" y="4295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5" id="55"/>
          <p:cNvSpPr/>
          <p:nvPr/>
        </p:nvSpPr>
        <p:spPr>
          <a:xfrm flipH="false" flipV="false" rot="0">
            <a:off x="375398" y="2845928"/>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6" id="56"/>
          <p:cNvSpPr/>
          <p:nvPr/>
        </p:nvSpPr>
        <p:spPr>
          <a:xfrm flipH="false" flipV="false" rot="0">
            <a:off x="412503" y="3740801"/>
            <a:ext cx="357692" cy="344685"/>
          </a:xfrm>
          <a:custGeom>
            <a:avLst/>
            <a:gdLst/>
            <a:ahLst/>
            <a:cxnLst/>
            <a:rect r="r" b="b" t="t" l="l"/>
            <a:pathLst>
              <a:path h="344685" w="357692">
                <a:moveTo>
                  <a:pt x="0" y="0"/>
                </a:moveTo>
                <a:lnTo>
                  <a:pt x="357692" y="0"/>
                </a:lnTo>
                <a:lnTo>
                  <a:pt x="357692" y="344685"/>
                </a:lnTo>
                <a:lnTo>
                  <a:pt x="0" y="3446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57" id="57"/>
          <p:cNvSpPr/>
          <p:nvPr/>
        </p:nvSpPr>
        <p:spPr>
          <a:xfrm flipH="false" flipV="false" rot="0">
            <a:off x="412503" y="4578297"/>
            <a:ext cx="394797" cy="380441"/>
          </a:xfrm>
          <a:custGeom>
            <a:avLst/>
            <a:gdLst/>
            <a:ahLst/>
            <a:cxnLst/>
            <a:rect r="r" b="b" t="t" l="l"/>
            <a:pathLst>
              <a:path h="380441" w="394797">
                <a:moveTo>
                  <a:pt x="0" y="0"/>
                </a:moveTo>
                <a:lnTo>
                  <a:pt x="394797" y="0"/>
                </a:lnTo>
                <a:lnTo>
                  <a:pt x="394797" y="380441"/>
                </a:lnTo>
                <a:lnTo>
                  <a:pt x="0" y="3804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58" id="58"/>
          <p:cNvSpPr/>
          <p:nvPr/>
        </p:nvSpPr>
        <p:spPr>
          <a:xfrm flipH="false" flipV="false" rot="0">
            <a:off x="393950" y="8842103"/>
            <a:ext cx="431903" cy="416197"/>
          </a:xfrm>
          <a:custGeom>
            <a:avLst/>
            <a:gdLst/>
            <a:ahLst/>
            <a:cxnLst/>
            <a:rect r="r" b="b" t="t" l="l"/>
            <a:pathLst>
              <a:path h="416197" w="431903">
                <a:moveTo>
                  <a:pt x="0" y="0"/>
                </a:moveTo>
                <a:lnTo>
                  <a:pt x="431903" y="0"/>
                </a:lnTo>
                <a:lnTo>
                  <a:pt x="431903" y="416197"/>
                </a:lnTo>
                <a:lnTo>
                  <a:pt x="0" y="41619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59" id="59"/>
          <p:cNvSpPr/>
          <p:nvPr/>
        </p:nvSpPr>
        <p:spPr>
          <a:xfrm flipH="false" flipV="false" rot="0">
            <a:off x="401032" y="5451550"/>
            <a:ext cx="380634" cy="377866"/>
          </a:xfrm>
          <a:custGeom>
            <a:avLst/>
            <a:gdLst/>
            <a:ahLst/>
            <a:cxnLst/>
            <a:rect r="r" b="b" t="t" l="l"/>
            <a:pathLst>
              <a:path h="377866" w="380634">
                <a:moveTo>
                  <a:pt x="0" y="0"/>
                </a:moveTo>
                <a:lnTo>
                  <a:pt x="380634" y="0"/>
                </a:lnTo>
                <a:lnTo>
                  <a:pt x="380634" y="377866"/>
                </a:lnTo>
                <a:lnTo>
                  <a:pt x="0" y="37786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60" id="60"/>
          <p:cNvSpPr/>
          <p:nvPr/>
        </p:nvSpPr>
        <p:spPr>
          <a:xfrm flipH="false" flipV="false" rot="0">
            <a:off x="393950" y="7171074"/>
            <a:ext cx="431903" cy="288197"/>
          </a:xfrm>
          <a:custGeom>
            <a:avLst/>
            <a:gdLst/>
            <a:ahLst/>
            <a:cxnLst/>
            <a:rect r="r" b="b" t="t" l="l"/>
            <a:pathLst>
              <a:path h="288197" w="431903">
                <a:moveTo>
                  <a:pt x="0" y="0"/>
                </a:moveTo>
                <a:lnTo>
                  <a:pt x="431903" y="0"/>
                </a:lnTo>
                <a:lnTo>
                  <a:pt x="431903" y="288196"/>
                </a:lnTo>
                <a:lnTo>
                  <a:pt x="0" y="28819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61" id="61"/>
          <p:cNvSpPr/>
          <p:nvPr/>
        </p:nvSpPr>
        <p:spPr>
          <a:xfrm flipH="false" flipV="false" rot="0">
            <a:off x="412503" y="7952082"/>
            <a:ext cx="394797" cy="397210"/>
          </a:xfrm>
          <a:custGeom>
            <a:avLst/>
            <a:gdLst/>
            <a:ahLst/>
            <a:cxnLst/>
            <a:rect r="r" b="b" t="t" l="l"/>
            <a:pathLst>
              <a:path h="397210" w="394797">
                <a:moveTo>
                  <a:pt x="0" y="0"/>
                </a:moveTo>
                <a:lnTo>
                  <a:pt x="394797" y="0"/>
                </a:lnTo>
                <a:lnTo>
                  <a:pt x="394797" y="397210"/>
                </a:lnTo>
                <a:lnTo>
                  <a:pt x="0" y="39721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62" id="62"/>
          <p:cNvSpPr/>
          <p:nvPr/>
        </p:nvSpPr>
        <p:spPr>
          <a:xfrm flipH="false" flipV="false" rot="0">
            <a:off x="412503" y="6322227"/>
            <a:ext cx="394797" cy="356035"/>
          </a:xfrm>
          <a:custGeom>
            <a:avLst/>
            <a:gdLst/>
            <a:ahLst/>
            <a:cxnLst/>
            <a:rect r="r" b="b" t="t" l="l"/>
            <a:pathLst>
              <a:path h="356035" w="394797">
                <a:moveTo>
                  <a:pt x="0" y="0"/>
                </a:moveTo>
                <a:lnTo>
                  <a:pt x="394797" y="0"/>
                </a:lnTo>
                <a:lnTo>
                  <a:pt x="394797" y="356035"/>
                </a:lnTo>
                <a:lnTo>
                  <a:pt x="0" y="356035"/>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63" id="63"/>
          <p:cNvSpPr txBox="true"/>
          <p:nvPr/>
        </p:nvSpPr>
        <p:spPr>
          <a:xfrm rot="0">
            <a:off x="2305570" y="745330"/>
            <a:ext cx="6080256" cy="1959610"/>
          </a:xfrm>
          <a:prstGeom prst="rect">
            <a:avLst/>
          </a:prstGeom>
        </p:spPr>
        <p:txBody>
          <a:bodyPr anchor="t" rtlCol="false" tIns="0" lIns="0" bIns="0" rIns="0">
            <a:spAutoFit/>
          </a:bodyPr>
          <a:lstStyle/>
          <a:p>
            <a:pPr algn="l">
              <a:lnSpc>
                <a:spcPts val="7400"/>
              </a:lnSpc>
            </a:pPr>
            <a:r>
              <a:rPr lang="en-US" b="true" sz="7400" i="true">
                <a:solidFill>
                  <a:srgbClr val="DC2F02"/>
                </a:solidFill>
                <a:latin typeface="Ubuntu Bold Italics"/>
                <a:ea typeface="Ubuntu Bold Italics"/>
                <a:cs typeface="Ubuntu Bold Italics"/>
                <a:sym typeface="Ubuntu Bold Italics"/>
              </a:rPr>
              <a:t>DATASET OVERVIEW</a:t>
            </a:r>
          </a:p>
        </p:txBody>
      </p:sp>
      <p:sp>
        <p:nvSpPr>
          <p:cNvPr name="TextBox 64" id="64"/>
          <p:cNvSpPr txBox="true"/>
          <p:nvPr/>
        </p:nvSpPr>
        <p:spPr>
          <a:xfrm rot="0">
            <a:off x="2305570" y="2794635"/>
            <a:ext cx="6051681" cy="2348865"/>
          </a:xfrm>
          <a:prstGeom prst="rect">
            <a:avLst/>
          </a:prstGeom>
        </p:spPr>
        <p:txBody>
          <a:bodyPr anchor="t" rtlCol="false" tIns="0" lIns="0" bIns="0" rIns="0">
            <a:spAutoFit/>
          </a:bodyPr>
          <a:lstStyle/>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Rows: 96,845</a:t>
            </a:r>
          </a:p>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Columns: Year, Month, Date, State, Vehicle Class, Category, Type, EV Sales Quantity</a:t>
            </a:r>
          </a:p>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Time period: 2014 to 2024</a:t>
            </a:r>
          </a:p>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Source: Provided dataset</a:t>
            </a:r>
          </a:p>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All data was cleaned and structured before analysis.</a:t>
            </a:r>
          </a:p>
          <a:p>
            <a:pPr algn="l">
              <a:lnSpc>
                <a:spcPts val="2340"/>
              </a:lnSpc>
            </a:pPr>
          </a:p>
        </p:txBody>
      </p:sp>
      <p:sp>
        <p:nvSpPr>
          <p:cNvPr name="TextBox 65" id="65"/>
          <p:cNvSpPr txBox="true"/>
          <p:nvPr/>
        </p:nvSpPr>
        <p:spPr>
          <a:xfrm rot="0">
            <a:off x="10247344" y="7449745"/>
            <a:ext cx="6051681" cy="2644140"/>
          </a:xfrm>
          <a:prstGeom prst="rect">
            <a:avLst/>
          </a:prstGeom>
        </p:spPr>
        <p:txBody>
          <a:bodyPr anchor="t" rtlCol="false" tIns="0" lIns="0" bIns="0" rIns="0">
            <a:spAutoFit/>
          </a:bodyPr>
          <a:lstStyle/>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Removed blank rows</a:t>
            </a:r>
          </a:p>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Converted Date column to proper date format</a:t>
            </a:r>
          </a:p>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Verified data types (Year = integer, Sales = integer)</a:t>
            </a:r>
          </a:p>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Added additional columns (Year from Date where needed)</a:t>
            </a:r>
          </a:p>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Ensured no missing values</a:t>
            </a:r>
          </a:p>
          <a:p>
            <a:pPr algn="l"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Verified states and categories</a:t>
            </a:r>
          </a:p>
          <a:p>
            <a:pPr algn="l">
              <a:lnSpc>
                <a:spcPts val="234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0"/>
            <a:ext cx="18288000" cy="7231131"/>
            <a:chOff x="0" y="0"/>
            <a:chExt cx="4816593" cy="1904495"/>
          </a:xfrm>
        </p:grpSpPr>
        <p:sp>
          <p:nvSpPr>
            <p:cNvPr name="Freeform 4" id="4"/>
            <p:cNvSpPr/>
            <p:nvPr/>
          </p:nvSpPr>
          <p:spPr>
            <a:xfrm flipH="false" flipV="false" rot="0">
              <a:off x="0" y="0"/>
              <a:ext cx="4816592" cy="1904495"/>
            </a:xfrm>
            <a:custGeom>
              <a:avLst/>
              <a:gdLst/>
              <a:ahLst/>
              <a:cxnLst/>
              <a:rect r="r" b="b" t="t" l="l"/>
              <a:pathLst>
                <a:path h="1904495" w="4816592">
                  <a:moveTo>
                    <a:pt x="0" y="0"/>
                  </a:moveTo>
                  <a:lnTo>
                    <a:pt x="4816592" y="0"/>
                  </a:lnTo>
                  <a:lnTo>
                    <a:pt x="4816592" y="1904495"/>
                  </a:lnTo>
                  <a:lnTo>
                    <a:pt x="0" y="1904495"/>
                  </a:lnTo>
                  <a:close/>
                </a:path>
              </a:pathLst>
            </a:custGeom>
            <a:gradFill rotWithShape="true">
              <a:gsLst>
                <a:gs pos="0">
                  <a:srgbClr val="161A1D">
                    <a:alpha val="100000"/>
                  </a:srgbClr>
                </a:gs>
                <a:gs pos="100000">
                  <a:srgbClr val="161A1D">
                    <a:alpha val="0"/>
                  </a:srgbClr>
                </a:gs>
              </a:gsLst>
              <a:lin ang="5400000"/>
            </a:gradFill>
          </p:spPr>
        </p:sp>
        <p:sp>
          <p:nvSpPr>
            <p:cNvPr name="TextBox 5" id="5"/>
            <p:cNvSpPr txBox="true"/>
            <p:nvPr/>
          </p:nvSpPr>
          <p:spPr>
            <a:xfrm>
              <a:off x="0" y="-38100"/>
              <a:ext cx="4816593" cy="1942595"/>
            </a:xfrm>
            <a:prstGeom prst="rect">
              <a:avLst/>
            </a:prstGeom>
          </p:spPr>
          <p:txBody>
            <a:bodyPr anchor="ctr" rtlCol="false" tIns="50800" lIns="50800" bIns="50800" rIns="50800"/>
            <a:lstStyle/>
            <a:p>
              <a:pPr algn="ctr">
                <a:lnSpc>
                  <a:spcPts val="2659"/>
                </a:lnSpc>
              </a:pPr>
            </a:p>
          </p:txBody>
        </p:sp>
      </p:grpSp>
      <p:sp>
        <p:nvSpPr>
          <p:cNvPr name="AutoShape 6" id="6"/>
          <p:cNvSpPr/>
          <p:nvPr/>
        </p:nvSpPr>
        <p:spPr>
          <a:xfrm flipV="true">
            <a:off x="1450435" y="6525295"/>
            <a:ext cx="17104211" cy="0"/>
          </a:xfrm>
          <a:prstGeom prst="line">
            <a:avLst/>
          </a:prstGeom>
          <a:ln cap="rnd" w="19050">
            <a:gradFill>
              <a:gsLst>
                <a:gs pos="0">
                  <a:srgbClr val="F5F3F4">
                    <a:alpha val="100000"/>
                  </a:srgbClr>
                </a:gs>
                <a:gs pos="100000">
                  <a:srgbClr val="F5F3F4">
                    <a:alpha val="0"/>
                  </a:srgbClr>
                </a:gs>
              </a:gsLst>
              <a:lin ang="2700000"/>
            </a:gradFill>
            <a:prstDash val="lgDash"/>
            <a:headEnd type="none" len="sm" w="sm"/>
            <a:tailEnd type="none" len="sm" w="sm"/>
          </a:ln>
        </p:spPr>
      </p:sp>
      <p:grpSp>
        <p:nvGrpSpPr>
          <p:cNvPr name="Group 7" id="7"/>
          <p:cNvGrpSpPr/>
          <p:nvPr/>
        </p:nvGrpSpPr>
        <p:grpSpPr>
          <a:xfrm rot="0">
            <a:off x="1677814" y="5248538"/>
            <a:ext cx="2755032" cy="859221"/>
            <a:chOff x="0" y="0"/>
            <a:chExt cx="1954639" cy="609600"/>
          </a:xfrm>
        </p:grpSpPr>
        <p:sp>
          <p:nvSpPr>
            <p:cNvPr name="Freeform 8" id="8"/>
            <p:cNvSpPr/>
            <p:nvPr/>
          </p:nvSpPr>
          <p:spPr>
            <a:xfrm flipH="false" flipV="false" rot="0">
              <a:off x="0" y="0"/>
              <a:ext cx="1954639" cy="609600"/>
            </a:xfrm>
            <a:custGeom>
              <a:avLst/>
              <a:gdLst/>
              <a:ahLst/>
              <a:cxnLst/>
              <a:rect r="r" b="b" t="t" l="l"/>
              <a:pathLst>
                <a:path h="609600" w="1954639">
                  <a:moveTo>
                    <a:pt x="203200" y="0"/>
                  </a:moveTo>
                  <a:lnTo>
                    <a:pt x="1954639" y="0"/>
                  </a:lnTo>
                  <a:lnTo>
                    <a:pt x="1751439"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0"/>
              </a:gradFill>
              <a:prstDash val="solid"/>
              <a:miter/>
            </a:ln>
          </p:spPr>
        </p:sp>
        <p:sp>
          <p:nvSpPr>
            <p:cNvPr name="TextBox 9" id="9"/>
            <p:cNvSpPr txBox="true"/>
            <p:nvPr/>
          </p:nvSpPr>
          <p:spPr>
            <a:xfrm>
              <a:off x="101600" y="-38100"/>
              <a:ext cx="1751439" cy="647700"/>
            </a:xfrm>
            <a:prstGeom prst="rect">
              <a:avLst/>
            </a:prstGeom>
          </p:spPr>
          <p:txBody>
            <a:bodyPr anchor="ctr" rtlCol="false" tIns="50800" lIns="50800" bIns="50800" rIns="50800"/>
            <a:lstStyle/>
            <a:p>
              <a:pPr algn="ctr" marL="0" indent="0" lvl="0">
                <a:lnSpc>
                  <a:spcPts val="2660"/>
                </a:lnSpc>
                <a:spcBef>
                  <a:spcPct val="0"/>
                </a:spcBef>
              </a:pPr>
            </a:p>
          </p:txBody>
        </p:sp>
      </p:grpSp>
      <p:grpSp>
        <p:nvGrpSpPr>
          <p:cNvPr name="Group 10" id="10"/>
          <p:cNvGrpSpPr/>
          <p:nvPr/>
        </p:nvGrpSpPr>
        <p:grpSpPr>
          <a:xfrm rot="0">
            <a:off x="12563086" y="5248538"/>
            <a:ext cx="2755032" cy="859221"/>
            <a:chOff x="0" y="0"/>
            <a:chExt cx="1954639" cy="609600"/>
          </a:xfrm>
        </p:grpSpPr>
        <p:sp>
          <p:nvSpPr>
            <p:cNvPr name="Freeform 11" id="11"/>
            <p:cNvSpPr/>
            <p:nvPr/>
          </p:nvSpPr>
          <p:spPr>
            <a:xfrm flipH="false" flipV="false" rot="0">
              <a:off x="0" y="0"/>
              <a:ext cx="1954639" cy="609600"/>
            </a:xfrm>
            <a:custGeom>
              <a:avLst/>
              <a:gdLst/>
              <a:ahLst/>
              <a:cxnLst/>
              <a:rect r="r" b="b" t="t" l="l"/>
              <a:pathLst>
                <a:path h="609600" w="1954639">
                  <a:moveTo>
                    <a:pt x="203200" y="0"/>
                  </a:moveTo>
                  <a:lnTo>
                    <a:pt x="1954639" y="0"/>
                  </a:lnTo>
                  <a:lnTo>
                    <a:pt x="1751439"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0"/>
              </a:gradFill>
              <a:prstDash val="solid"/>
              <a:miter/>
            </a:ln>
          </p:spPr>
        </p:sp>
        <p:sp>
          <p:nvSpPr>
            <p:cNvPr name="TextBox 12" id="12"/>
            <p:cNvSpPr txBox="true"/>
            <p:nvPr/>
          </p:nvSpPr>
          <p:spPr>
            <a:xfrm>
              <a:off x="101600" y="-38100"/>
              <a:ext cx="1751439" cy="647700"/>
            </a:xfrm>
            <a:prstGeom prst="rect">
              <a:avLst/>
            </a:prstGeom>
          </p:spPr>
          <p:txBody>
            <a:bodyPr anchor="ctr" rtlCol="false" tIns="50800" lIns="50800" bIns="50800" rIns="50800"/>
            <a:lstStyle/>
            <a:p>
              <a:pPr algn="ctr" marL="0" indent="0" lvl="0">
                <a:lnSpc>
                  <a:spcPts val="2660"/>
                </a:lnSpc>
                <a:spcBef>
                  <a:spcPct val="0"/>
                </a:spcBef>
              </a:pPr>
            </a:p>
          </p:txBody>
        </p:sp>
      </p:grpSp>
      <p:grpSp>
        <p:nvGrpSpPr>
          <p:cNvPr name="Group 13" id="13"/>
          <p:cNvGrpSpPr/>
          <p:nvPr/>
        </p:nvGrpSpPr>
        <p:grpSpPr>
          <a:xfrm rot="0">
            <a:off x="1450435" y="5391764"/>
            <a:ext cx="2755032" cy="859221"/>
            <a:chOff x="0" y="0"/>
            <a:chExt cx="1954639" cy="609600"/>
          </a:xfrm>
        </p:grpSpPr>
        <p:sp>
          <p:nvSpPr>
            <p:cNvPr name="Freeform 14" id="14"/>
            <p:cNvSpPr/>
            <p:nvPr/>
          </p:nvSpPr>
          <p:spPr>
            <a:xfrm flipH="false" flipV="false" rot="0">
              <a:off x="0" y="0"/>
              <a:ext cx="1954639" cy="609600"/>
            </a:xfrm>
            <a:custGeom>
              <a:avLst/>
              <a:gdLst/>
              <a:ahLst/>
              <a:cxnLst/>
              <a:rect r="r" b="b" t="t" l="l"/>
              <a:pathLst>
                <a:path h="609600" w="1954639">
                  <a:moveTo>
                    <a:pt x="203200" y="0"/>
                  </a:moveTo>
                  <a:lnTo>
                    <a:pt x="1954639" y="0"/>
                  </a:lnTo>
                  <a:lnTo>
                    <a:pt x="1751439" y="609600"/>
                  </a:lnTo>
                  <a:lnTo>
                    <a:pt x="0" y="609600"/>
                  </a:lnTo>
                  <a:lnTo>
                    <a:pt x="203200" y="0"/>
                  </a:lnTo>
                  <a:close/>
                </a:path>
              </a:pathLst>
            </a:custGeom>
            <a:gradFill rotWithShape="true">
              <a:gsLst>
                <a:gs pos="0">
                  <a:srgbClr val="DC2F02">
                    <a:alpha val="100000"/>
                  </a:srgbClr>
                </a:gs>
                <a:gs pos="100000">
                  <a:srgbClr val="DC2F02">
                    <a:alpha val="0"/>
                  </a:srgbClr>
                </a:gs>
              </a:gsLst>
              <a:lin ang="0"/>
            </a:gradFill>
          </p:spPr>
        </p:sp>
        <p:sp>
          <p:nvSpPr>
            <p:cNvPr name="TextBox 15" id="15"/>
            <p:cNvSpPr txBox="true"/>
            <p:nvPr/>
          </p:nvSpPr>
          <p:spPr>
            <a:xfrm>
              <a:off x="101600" y="-38100"/>
              <a:ext cx="1751439"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2292017" y="5391764"/>
            <a:ext cx="2825190" cy="859221"/>
            <a:chOff x="0" y="0"/>
            <a:chExt cx="2004414" cy="609600"/>
          </a:xfrm>
        </p:grpSpPr>
        <p:sp>
          <p:nvSpPr>
            <p:cNvPr name="Freeform 17" id="17"/>
            <p:cNvSpPr/>
            <p:nvPr/>
          </p:nvSpPr>
          <p:spPr>
            <a:xfrm flipH="false" flipV="false" rot="0">
              <a:off x="0" y="0"/>
              <a:ext cx="2004414" cy="609600"/>
            </a:xfrm>
            <a:custGeom>
              <a:avLst/>
              <a:gdLst/>
              <a:ahLst/>
              <a:cxnLst/>
              <a:rect r="r" b="b" t="t" l="l"/>
              <a:pathLst>
                <a:path h="609600" w="2004414">
                  <a:moveTo>
                    <a:pt x="203200" y="0"/>
                  </a:moveTo>
                  <a:lnTo>
                    <a:pt x="2004414" y="0"/>
                  </a:lnTo>
                  <a:lnTo>
                    <a:pt x="1801214" y="609600"/>
                  </a:lnTo>
                  <a:lnTo>
                    <a:pt x="0" y="609600"/>
                  </a:lnTo>
                  <a:lnTo>
                    <a:pt x="203200" y="0"/>
                  </a:lnTo>
                  <a:close/>
                </a:path>
              </a:pathLst>
            </a:custGeom>
            <a:gradFill rotWithShape="true">
              <a:gsLst>
                <a:gs pos="0">
                  <a:srgbClr val="DC2F02">
                    <a:alpha val="100000"/>
                  </a:srgbClr>
                </a:gs>
                <a:gs pos="100000">
                  <a:srgbClr val="DC2F02">
                    <a:alpha val="0"/>
                  </a:srgbClr>
                </a:gs>
              </a:gsLst>
              <a:lin ang="0"/>
            </a:gradFill>
          </p:spPr>
        </p:sp>
        <p:sp>
          <p:nvSpPr>
            <p:cNvPr name="TextBox 18" id="18"/>
            <p:cNvSpPr txBox="true"/>
            <p:nvPr/>
          </p:nvSpPr>
          <p:spPr>
            <a:xfrm>
              <a:off x="101600" y="-38100"/>
              <a:ext cx="180121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15318118" y="9184365"/>
            <a:ext cx="1971087" cy="2723734"/>
            <a:chOff x="0" y="0"/>
            <a:chExt cx="2628117" cy="3631646"/>
          </a:xfrm>
        </p:grpSpPr>
        <p:grpSp>
          <p:nvGrpSpPr>
            <p:cNvPr name="Group 20" id="20"/>
            <p:cNvGrpSpPr/>
            <p:nvPr/>
          </p:nvGrpSpPr>
          <p:grpSpPr>
            <a:xfrm rot="0">
              <a:off x="547992" y="808229"/>
              <a:ext cx="2080125" cy="2823417"/>
              <a:chOff x="0" y="0"/>
              <a:chExt cx="449117" cy="609600"/>
            </a:xfrm>
          </p:grpSpPr>
          <p:sp>
            <p:nvSpPr>
              <p:cNvPr name="Freeform 21" id="21"/>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22" id="22"/>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23" id="23"/>
            <p:cNvGrpSpPr/>
            <p:nvPr/>
          </p:nvGrpSpPr>
          <p:grpSpPr>
            <a:xfrm rot="0">
              <a:off x="360772" y="424960"/>
              <a:ext cx="2080125" cy="2823417"/>
              <a:chOff x="0" y="0"/>
              <a:chExt cx="449117" cy="609600"/>
            </a:xfrm>
          </p:grpSpPr>
          <p:sp>
            <p:nvSpPr>
              <p:cNvPr name="Freeform 24" id="24"/>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25" id="25"/>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26" id="26"/>
            <p:cNvGrpSpPr/>
            <p:nvPr/>
          </p:nvGrpSpPr>
          <p:grpSpPr>
            <a:xfrm rot="0">
              <a:off x="0" y="0"/>
              <a:ext cx="2308833" cy="3133850"/>
              <a:chOff x="0" y="0"/>
              <a:chExt cx="449117" cy="609600"/>
            </a:xfrm>
          </p:grpSpPr>
          <p:sp>
            <p:nvSpPr>
              <p:cNvPr name="Freeform 27" id="27"/>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28" id="28"/>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29" id="29"/>
          <p:cNvGrpSpPr/>
          <p:nvPr/>
        </p:nvGrpSpPr>
        <p:grpSpPr>
          <a:xfrm rot="0">
            <a:off x="16438911" y="8226460"/>
            <a:ext cx="1971087" cy="2723734"/>
            <a:chOff x="0" y="0"/>
            <a:chExt cx="2628117" cy="3631646"/>
          </a:xfrm>
        </p:grpSpPr>
        <p:grpSp>
          <p:nvGrpSpPr>
            <p:cNvPr name="Group 30" id="30"/>
            <p:cNvGrpSpPr/>
            <p:nvPr/>
          </p:nvGrpSpPr>
          <p:grpSpPr>
            <a:xfrm rot="0">
              <a:off x="547992" y="808229"/>
              <a:ext cx="2080125" cy="2823417"/>
              <a:chOff x="0" y="0"/>
              <a:chExt cx="449117" cy="609600"/>
            </a:xfrm>
          </p:grpSpPr>
          <p:sp>
            <p:nvSpPr>
              <p:cNvPr name="Freeform 31" id="31"/>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32" id="32"/>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33" id="33"/>
            <p:cNvGrpSpPr/>
            <p:nvPr/>
          </p:nvGrpSpPr>
          <p:grpSpPr>
            <a:xfrm rot="0">
              <a:off x="360772" y="424960"/>
              <a:ext cx="2080125" cy="2823417"/>
              <a:chOff x="0" y="0"/>
              <a:chExt cx="449117" cy="609600"/>
            </a:xfrm>
          </p:grpSpPr>
          <p:sp>
            <p:nvSpPr>
              <p:cNvPr name="Freeform 34" id="34"/>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35" id="35"/>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36" id="36"/>
            <p:cNvGrpSpPr/>
            <p:nvPr/>
          </p:nvGrpSpPr>
          <p:grpSpPr>
            <a:xfrm rot="0">
              <a:off x="0" y="0"/>
              <a:ext cx="2308833" cy="3133850"/>
              <a:chOff x="0" y="0"/>
              <a:chExt cx="449117" cy="609600"/>
            </a:xfrm>
          </p:grpSpPr>
          <p:sp>
            <p:nvSpPr>
              <p:cNvPr name="Freeform 37" id="37"/>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38" id="38"/>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39" id="39"/>
          <p:cNvGrpSpPr/>
          <p:nvPr/>
        </p:nvGrpSpPr>
        <p:grpSpPr>
          <a:xfrm rot="0">
            <a:off x="1450435" y="6426751"/>
            <a:ext cx="197088" cy="197088"/>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3F4"/>
            </a:solidFill>
            <a:ln cap="sq">
              <a:noFill/>
              <a:prstDash val="solid"/>
              <a:miter/>
            </a:ln>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2594657" y="6426751"/>
            <a:ext cx="197088" cy="197088"/>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3F4"/>
            </a:solidFill>
            <a:ln cap="sq">
              <a:noFill/>
              <a:prstDash val="solid"/>
              <a:miter/>
            </a:ln>
          </p:spPr>
        </p:sp>
        <p:sp>
          <p:nvSpPr>
            <p:cNvPr name="TextBox 44" id="4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238697" y="0"/>
            <a:ext cx="705305" cy="10287000"/>
            <a:chOff x="0" y="0"/>
            <a:chExt cx="185759" cy="2709333"/>
          </a:xfrm>
        </p:grpSpPr>
        <p:sp>
          <p:nvSpPr>
            <p:cNvPr name="Freeform 46" id="46"/>
            <p:cNvSpPr/>
            <p:nvPr/>
          </p:nvSpPr>
          <p:spPr>
            <a:xfrm flipH="false" flipV="false" rot="0">
              <a:off x="0" y="0"/>
              <a:ext cx="185759" cy="2709333"/>
            </a:xfrm>
            <a:custGeom>
              <a:avLst/>
              <a:gdLst/>
              <a:ahLst/>
              <a:cxnLst/>
              <a:rect r="r" b="b" t="t" l="l"/>
              <a:pathLst>
                <a:path h="2709333" w="185759">
                  <a:moveTo>
                    <a:pt x="0" y="0"/>
                  </a:moveTo>
                  <a:lnTo>
                    <a:pt x="185759" y="0"/>
                  </a:lnTo>
                  <a:lnTo>
                    <a:pt x="185759" y="2709333"/>
                  </a:lnTo>
                  <a:lnTo>
                    <a:pt x="0" y="2709333"/>
                  </a:lnTo>
                  <a:close/>
                </a:path>
              </a:pathLst>
            </a:custGeom>
            <a:gradFill rotWithShape="true">
              <a:gsLst>
                <a:gs pos="0">
                  <a:srgbClr val="DC2F02">
                    <a:alpha val="100000"/>
                  </a:srgbClr>
                </a:gs>
                <a:gs pos="100000">
                  <a:srgbClr val="DC2F02">
                    <a:alpha val="0"/>
                  </a:srgbClr>
                </a:gs>
              </a:gsLst>
              <a:path path="circle">
                <a:fillToRect l="50000" r="50000" t="50000" b="50000"/>
              </a:path>
            </a:gradFill>
          </p:spPr>
        </p:sp>
        <p:sp>
          <p:nvSpPr>
            <p:cNvPr name="TextBox 47" id="47"/>
            <p:cNvSpPr txBox="true"/>
            <p:nvPr/>
          </p:nvSpPr>
          <p:spPr>
            <a:xfrm>
              <a:off x="0" y="-38100"/>
              <a:ext cx="185759"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48" id="48"/>
          <p:cNvGrpSpPr/>
          <p:nvPr/>
        </p:nvGrpSpPr>
        <p:grpSpPr>
          <a:xfrm rot="0">
            <a:off x="238697" y="3561600"/>
            <a:ext cx="705305" cy="703087"/>
            <a:chOff x="0" y="0"/>
            <a:chExt cx="185759" cy="185175"/>
          </a:xfrm>
        </p:grpSpPr>
        <p:sp>
          <p:nvSpPr>
            <p:cNvPr name="Freeform 49" id="49"/>
            <p:cNvSpPr/>
            <p:nvPr/>
          </p:nvSpPr>
          <p:spPr>
            <a:xfrm flipH="false" flipV="false" rot="0">
              <a:off x="0" y="0"/>
              <a:ext cx="185759" cy="185175"/>
            </a:xfrm>
            <a:custGeom>
              <a:avLst/>
              <a:gdLst/>
              <a:ahLst/>
              <a:cxnLst/>
              <a:rect r="r" b="b" t="t" l="l"/>
              <a:pathLst>
                <a:path h="185175" w="185759">
                  <a:moveTo>
                    <a:pt x="0" y="0"/>
                  </a:moveTo>
                  <a:lnTo>
                    <a:pt x="185759" y="0"/>
                  </a:lnTo>
                  <a:lnTo>
                    <a:pt x="185759" y="185175"/>
                  </a:lnTo>
                  <a:lnTo>
                    <a:pt x="0" y="185175"/>
                  </a:lnTo>
                  <a:close/>
                </a:path>
              </a:pathLst>
            </a:custGeom>
            <a:solidFill>
              <a:srgbClr val="DC2F02"/>
            </a:solidFill>
          </p:spPr>
        </p:sp>
        <p:sp>
          <p:nvSpPr>
            <p:cNvPr name="TextBox 50" id="50"/>
            <p:cNvSpPr txBox="true"/>
            <p:nvPr/>
          </p:nvSpPr>
          <p:spPr>
            <a:xfrm>
              <a:off x="0" y="-38100"/>
              <a:ext cx="185759" cy="223275"/>
            </a:xfrm>
            <a:prstGeom prst="rect">
              <a:avLst/>
            </a:prstGeom>
          </p:spPr>
          <p:txBody>
            <a:bodyPr anchor="ctr" rtlCol="false" tIns="50800" lIns="50800" bIns="50800" rIns="50800"/>
            <a:lstStyle/>
            <a:p>
              <a:pPr algn="ctr">
                <a:lnSpc>
                  <a:spcPts val="2659"/>
                </a:lnSpc>
                <a:spcBef>
                  <a:spcPct val="0"/>
                </a:spcBef>
              </a:pPr>
            </a:p>
          </p:txBody>
        </p:sp>
      </p:grpSp>
      <p:sp>
        <p:nvSpPr>
          <p:cNvPr name="Freeform 51" id="51"/>
          <p:cNvSpPr/>
          <p:nvPr/>
        </p:nvSpPr>
        <p:spPr>
          <a:xfrm flipH="false" flipV="false" rot="0">
            <a:off x="375398" y="1028700"/>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2" id="52"/>
          <p:cNvSpPr/>
          <p:nvPr/>
        </p:nvSpPr>
        <p:spPr>
          <a:xfrm flipH="false" flipV="false" rot="0">
            <a:off x="412503" y="1923573"/>
            <a:ext cx="357692" cy="429543"/>
          </a:xfrm>
          <a:custGeom>
            <a:avLst/>
            <a:gdLst/>
            <a:ahLst/>
            <a:cxnLst/>
            <a:rect r="r" b="b" t="t" l="l"/>
            <a:pathLst>
              <a:path h="429543" w="357692">
                <a:moveTo>
                  <a:pt x="0" y="0"/>
                </a:moveTo>
                <a:lnTo>
                  <a:pt x="357692" y="0"/>
                </a:lnTo>
                <a:lnTo>
                  <a:pt x="357692" y="429543"/>
                </a:lnTo>
                <a:lnTo>
                  <a:pt x="0" y="4295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3" id="53"/>
          <p:cNvSpPr/>
          <p:nvPr/>
        </p:nvSpPr>
        <p:spPr>
          <a:xfrm flipH="false" flipV="false" rot="0">
            <a:off x="375398" y="2845928"/>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4" id="54"/>
          <p:cNvSpPr/>
          <p:nvPr/>
        </p:nvSpPr>
        <p:spPr>
          <a:xfrm flipH="false" flipV="false" rot="0">
            <a:off x="412503" y="3740801"/>
            <a:ext cx="357692" cy="344685"/>
          </a:xfrm>
          <a:custGeom>
            <a:avLst/>
            <a:gdLst/>
            <a:ahLst/>
            <a:cxnLst/>
            <a:rect r="r" b="b" t="t" l="l"/>
            <a:pathLst>
              <a:path h="344685" w="357692">
                <a:moveTo>
                  <a:pt x="0" y="0"/>
                </a:moveTo>
                <a:lnTo>
                  <a:pt x="357692" y="0"/>
                </a:lnTo>
                <a:lnTo>
                  <a:pt x="357692" y="344685"/>
                </a:lnTo>
                <a:lnTo>
                  <a:pt x="0" y="3446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55" id="55"/>
          <p:cNvSpPr/>
          <p:nvPr/>
        </p:nvSpPr>
        <p:spPr>
          <a:xfrm flipH="false" flipV="false" rot="0">
            <a:off x="412503" y="4578297"/>
            <a:ext cx="394797" cy="380441"/>
          </a:xfrm>
          <a:custGeom>
            <a:avLst/>
            <a:gdLst/>
            <a:ahLst/>
            <a:cxnLst/>
            <a:rect r="r" b="b" t="t" l="l"/>
            <a:pathLst>
              <a:path h="380441" w="394797">
                <a:moveTo>
                  <a:pt x="0" y="0"/>
                </a:moveTo>
                <a:lnTo>
                  <a:pt x="394797" y="0"/>
                </a:lnTo>
                <a:lnTo>
                  <a:pt x="394797" y="380441"/>
                </a:lnTo>
                <a:lnTo>
                  <a:pt x="0" y="3804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56" id="56"/>
          <p:cNvSpPr/>
          <p:nvPr/>
        </p:nvSpPr>
        <p:spPr>
          <a:xfrm flipH="false" flipV="false" rot="0">
            <a:off x="393950" y="8842103"/>
            <a:ext cx="431903" cy="416197"/>
          </a:xfrm>
          <a:custGeom>
            <a:avLst/>
            <a:gdLst/>
            <a:ahLst/>
            <a:cxnLst/>
            <a:rect r="r" b="b" t="t" l="l"/>
            <a:pathLst>
              <a:path h="416197" w="431903">
                <a:moveTo>
                  <a:pt x="0" y="0"/>
                </a:moveTo>
                <a:lnTo>
                  <a:pt x="431903" y="0"/>
                </a:lnTo>
                <a:lnTo>
                  <a:pt x="431903" y="416197"/>
                </a:lnTo>
                <a:lnTo>
                  <a:pt x="0" y="4161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57" id="57"/>
          <p:cNvSpPr/>
          <p:nvPr/>
        </p:nvSpPr>
        <p:spPr>
          <a:xfrm flipH="false" flipV="false" rot="0">
            <a:off x="401032" y="5451550"/>
            <a:ext cx="380634" cy="377866"/>
          </a:xfrm>
          <a:custGeom>
            <a:avLst/>
            <a:gdLst/>
            <a:ahLst/>
            <a:cxnLst/>
            <a:rect r="r" b="b" t="t" l="l"/>
            <a:pathLst>
              <a:path h="377866" w="380634">
                <a:moveTo>
                  <a:pt x="0" y="0"/>
                </a:moveTo>
                <a:lnTo>
                  <a:pt x="380634" y="0"/>
                </a:lnTo>
                <a:lnTo>
                  <a:pt x="380634" y="377866"/>
                </a:lnTo>
                <a:lnTo>
                  <a:pt x="0" y="37786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58" id="58"/>
          <p:cNvSpPr/>
          <p:nvPr/>
        </p:nvSpPr>
        <p:spPr>
          <a:xfrm flipH="false" flipV="false" rot="0">
            <a:off x="393950" y="7171074"/>
            <a:ext cx="431903" cy="288197"/>
          </a:xfrm>
          <a:custGeom>
            <a:avLst/>
            <a:gdLst/>
            <a:ahLst/>
            <a:cxnLst/>
            <a:rect r="r" b="b" t="t" l="l"/>
            <a:pathLst>
              <a:path h="288197" w="431903">
                <a:moveTo>
                  <a:pt x="0" y="0"/>
                </a:moveTo>
                <a:lnTo>
                  <a:pt x="431903" y="0"/>
                </a:lnTo>
                <a:lnTo>
                  <a:pt x="431903" y="288196"/>
                </a:lnTo>
                <a:lnTo>
                  <a:pt x="0" y="28819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59" id="59"/>
          <p:cNvSpPr/>
          <p:nvPr/>
        </p:nvSpPr>
        <p:spPr>
          <a:xfrm flipH="false" flipV="false" rot="0">
            <a:off x="412503" y="7952082"/>
            <a:ext cx="394797" cy="397210"/>
          </a:xfrm>
          <a:custGeom>
            <a:avLst/>
            <a:gdLst/>
            <a:ahLst/>
            <a:cxnLst/>
            <a:rect r="r" b="b" t="t" l="l"/>
            <a:pathLst>
              <a:path h="397210" w="394797">
                <a:moveTo>
                  <a:pt x="0" y="0"/>
                </a:moveTo>
                <a:lnTo>
                  <a:pt x="394797" y="0"/>
                </a:lnTo>
                <a:lnTo>
                  <a:pt x="394797" y="397210"/>
                </a:lnTo>
                <a:lnTo>
                  <a:pt x="0" y="39721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60" id="60"/>
          <p:cNvSpPr/>
          <p:nvPr/>
        </p:nvSpPr>
        <p:spPr>
          <a:xfrm flipH="false" flipV="false" rot="0">
            <a:off x="412503" y="6322227"/>
            <a:ext cx="394797" cy="356035"/>
          </a:xfrm>
          <a:custGeom>
            <a:avLst/>
            <a:gdLst/>
            <a:ahLst/>
            <a:cxnLst/>
            <a:rect r="r" b="b" t="t" l="l"/>
            <a:pathLst>
              <a:path h="356035" w="394797">
                <a:moveTo>
                  <a:pt x="0" y="0"/>
                </a:moveTo>
                <a:lnTo>
                  <a:pt x="394797" y="0"/>
                </a:lnTo>
                <a:lnTo>
                  <a:pt x="394797" y="356035"/>
                </a:lnTo>
                <a:lnTo>
                  <a:pt x="0" y="35603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61" id="61"/>
          <p:cNvSpPr/>
          <p:nvPr/>
        </p:nvSpPr>
        <p:spPr>
          <a:xfrm flipH="false" flipV="false" rot="0">
            <a:off x="7486847" y="6147522"/>
            <a:ext cx="1523790" cy="755546"/>
          </a:xfrm>
          <a:custGeom>
            <a:avLst/>
            <a:gdLst/>
            <a:ahLst/>
            <a:cxnLst/>
            <a:rect r="r" b="b" t="t" l="l"/>
            <a:pathLst>
              <a:path h="755546" w="1523790">
                <a:moveTo>
                  <a:pt x="0" y="0"/>
                </a:moveTo>
                <a:lnTo>
                  <a:pt x="1523790" y="0"/>
                </a:lnTo>
                <a:lnTo>
                  <a:pt x="1523790" y="755546"/>
                </a:lnTo>
                <a:lnTo>
                  <a:pt x="0" y="75554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62" id="62"/>
          <p:cNvSpPr txBox="true"/>
          <p:nvPr/>
        </p:nvSpPr>
        <p:spPr>
          <a:xfrm rot="0">
            <a:off x="1450435" y="1750710"/>
            <a:ext cx="7693565" cy="1026160"/>
          </a:xfrm>
          <a:prstGeom prst="rect">
            <a:avLst/>
          </a:prstGeom>
        </p:spPr>
        <p:txBody>
          <a:bodyPr anchor="t" rtlCol="false" tIns="0" lIns="0" bIns="0" rIns="0">
            <a:spAutoFit/>
          </a:bodyPr>
          <a:lstStyle/>
          <a:p>
            <a:pPr algn="l">
              <a:lnSpc>
                <a:spcPts val="7400"/>
              </a:lnSpc>
            </a:pPr>
            <a:r>
              <a:rPr lang="en-US" b="true" sz="7400" i="true">
                <a:solidFill>
                  <a:srgbClr val="DC2F02"/>
                </a:solidFill>
                <a:latin typeface="Ubuntu Bold Italics"/>
                <a:ea typeface="Ubuntu Bold Italics"/>
                <a:cs typeface="Ubuntu Bold Italics"/>
                <a:sym typeface="Ubuntu Bold Italics"/>
              </a:rPr>
              <a:t>TOOLS USED</a:t>
            </a:r>
          </a:p>
        </p:txBody>
      </p:sp>
      <p:sp>
        <p:nvSpPr>
          <p:cNvPr name="TextBox 63" id="63"/>
          <p:cNvSpPr txBox="true"/>
          <p:nvPr/>
        </p:nvSpPr>
        <p:spPr>
          <a:xfrm rot="0">
            <a:off x="1905192" y="5582614"/>
            <a:ext cx="2894719" cy="525145"/>
          </a:xfrm>
          <a:prstGeom prst="rect">
            <a:avLst/>
          </a:prstGeom>
        </p:spPr>
        <p:txBody>
          <a:bodyPr anchor="t" rtlCol="false" tIns="0" lIns="0" bIns="0" rIns="0">
            <a:spAutoFit/>
          </a:bodyPr>
          <a:lstStyle/>
          <a:p>
            <a:pPr algn="l" marL="0" indent="0" lvl="0">
              <a:lnSpc>
                <a:spcPts val="3800"/>
              </a:lnSpc>
              <a:spcBef>
                <a:spcPct val="0"/>
              </a:spcBef>
            </a:pPr>
            <a:r>
              <a:rPr lang="en-US" b="true" sz="3800" i="true">
                <a:solidFill>
                  <a:srgbClr val="F5F3F4"/>
                </a:solidFill>
                <a:latin typeface="Ubuntu Bold Italics"/>
                <a:ea typeface="Ubuntu Bold Italics"/>
                <a:cs typeface="Ubuntu Bold Italics"/>
                <a:sym typeface="Ubuntu Bold Italics"/>
              </a:rPr>
              <a:t>EXCEL </a:t>
            </a:r>
          </a:p>
        </p:txBody>
      </p:sp>
      <p:sp>
        <p:nvSpPr>
          <p:cNvPr name="TextBox 64" id="64"/>
          <p:cNvSpPr txBox="true"/>
          <p:nvPr/>
        </p:nvSpPr>
        <p:spPr>
          <a:xfrm rot="0">
            <a:off x="12758354" y="5582614"/>
            <a:ext cx="2968434" cy="525145"/>
          </a:xfrm>
          <a:prstGeom prst="rect">
            <a:avLst/>
          </a:prstGeom>
        </p:spPr>
        <p:txBody>
          <a:bodyPr anchor="t" rtlCol="false" tIns="0" lIns="0" bIns="0" rIns="0">
            <a:spAutoFit/>
          </a:bodyPr>
          <a:lstStyle/>
          <a:p>
            <a:pPr algn="l" marL="0" indent="0" lvl="0">
              <a:lnSpc>
                <a:spcPts val="3800"/>
              </a:lnSpc>
              <a:spcBef>
                <a:spcPct val="0"/>
              </a:spcBef>
            </a:pPr>
            <a:r>
              <a:rPr lang="en-US" b="true" sz="3800" i="true">
                <a:solidFill>
                  <a:srgbClr val="F5F3F4"/>
                </a:solidFill>
                <a:latin typeface="Ubuntu Bold Italics"/>
                <a:ea typeface="Ubuntu Bold Italics"/>
                <a:cs typeface="Ubuntu Bold Italics"/>
                <a:sym typeface="Ubuntu Bold Italics"/>
              </a:rPr>
              <a:t>SQL</a:t>
            </a:r>
          </a:p>
        </p:txBody>
      </p:sp>
      <p:sp>
        <p:nvSpPr>
          <p:cNvPr name="TextBox 65" id="65"/>
          <p:cNvSpPr txBox="true"/>
          <p:nvPr/>
        </p:nvSpPr>
        <p:spPr>
          <a:xfrm rot="0">
            <a:off x="1745560" y="6772945"/>
            <a:ext cx="7398440" cy="2748268"/>
          </a:xfrm>
          <a:prstGeom prst="rect">
            <a:avLst/>
          </a:prstGeom>
        </p:spPr>
        <p:txBody>
          <a:bodyPr anchor="t" rtlCol="false" tIns="0" lIns="0" bIns="0" rIns="0">
            <a:spAutoFit/>
          </a:bodyPr>
          <a:lstStyle/>
          <a:p>
            <a:pPr algn="l" marL="604376" indent="-302188" lvl="1">
              <a:lnSpc>
                <a:spcPts val="3639"/>
              </a:lnSpc>
              <a:buFont typeface="Arial"/>
              <a:buChar char="•"/>
            </a:pPr>
            <a:r>
              <a:rPr lang="en-US" sz="2799" i="true" spc="69">
                <a:solidFill>
                  <a:srgbClr val="F5F3F4"/>
                </a:solidFill>
                <a:latin typeface="Canva Sans Italics"/>
                <a:ea typeface="Canva Sans Italics"/>
                <a:cs typeface="Canva Sans Italics"/>
                <a:sym typeface="Canva Sans Italics"/>
              </a:rPr>
              <a:t>Pivot Tables</a:t>
            </a:r>
          </a:p>
          <a:p>
            <a:pPr algn="l" marL="604376" indent="-302188" lvl="1">
              <a:lnSpc>
                <a:spcPts val="3639"/>
              </a:lnSpc>
              <a:buFont typeface="Arial"/>
              <a:buChar char="•"/>
            </a:pPr>
            <a:r>
              <a:rPr lang="en-US" sz="2799" i="true" spc="69">
                <a:solidFill>
                  <a:srgbClr val="F5F3F4"/>
                </a:solidFill>
                <a:latin typeface="Canva Sans Italics"/>
                <a:ea typeface="Canva Sans Italics"/>
                <a:cs typeface="Canva Sans Italics"/>
                <a:sym typeface="Canva Sans Italics"/>
              </a:rPr>
              <a:t>Charts</a:t>
            </a:r>
          </a:p>
          <a:p>
            <a:pPr algn="l" marL="604376" indent="-302188" lvl="1">
              <a:lnSpc>
                <a:spcPts val="3639"/>
              </a:lnSpc>
              <a:buFont typeface="Arial"/>
              <a:buChar char="•"/>
            </a:pPr>
            <a:r>
              <a:rPr lang="en-US" sz="2799" i="true" spc="69">
                <a:solidFill>
                  <a:srgbClr val="F5F3F4"/>
                </a:solidFill>
                <a:latin typeface="Canva Sans Italics"/>
                <a:ea typeface="Canva Sans Italics"/>
                <a:cs typeface="Canva Sans Italics"/>
                <a:sym typeface="Canva Sans Italics"/>
              </a:rPr>
              <a:t>Dashboard design</a:t>
            </a:r>
          </a:p>
          <a:p>
            <a:pPr algn="l" marL="604376" indent="-302188" lvl="1">
              <a:lnSpc>
                <a:spcPts val="3639"/>
              </a:lnSpc>
              <a:buFont typeface="Arial"/>
              <a:buChar char="•"/>
            </a:pPr>
            <a:r>
              <a:rPr lang="en-US" sz="2799" i="true" spc="69">
                <a:solidFill>
                  <a:srgbClr val="F5F3F4"/>
                </a:solidFill>
                <a:latin typeface="Canva Sans Italics"/>
                <a:ea typeface="Canva Sans Italics"/>
                <a:cs typeface="Canva Sans Italics"/>
                <a:sym typeface="Canva Sans Italics"/>
              </a:rPr>
              <a:t>Slicers</a:t>
            </a:r>
          </a:p>
          <a:p>
            <a:pPr algn="l" marL="604376" indent="-302188" lvl="1">
              <a:lnSpc>
                <a:spcPts val="3639"/>
              </a:lnSpc>
              <a:buFont typeface="Arial"/>
              <a:buChar char="•"/>
            </a:pPr>
            <a:r>
              <a:rPr lang="en-US" sz="2799" i="true" spc="69">
                <a:solidFill>
                  <a:srgbClr val="F5F3F4"/>
                </a:solidFill>
                <a:latin typeface="Canva Sans Italics"/>
                <a:ea typeface="Canva Sans Italics"/>
                <a:cs typeface="Canva Sans Italics"/>
                <a:sym typeface="Canva Sans Italics"/>
              </a:rPr>
              <a:t>KPI boxes</a:t>
            </a:r>
          </a:p>
          <a:p>
            <a:pPr algn="l">
              <a:lnSpc>
                <a:spcPts val="3639"/>
              </a:lnSpc>
            </a:pPr>
          </a:p>
        </p:txBody>
      </p:sp>
      <p:sp>
        <p:nvSpPr>
          <p:cNvPr name="TextBox 66" id="66"/>
          <p:cNvSpPr txBox="true"/>
          <p:nvPr/>
        </p:nvSpPr>
        <p:spPr>
          <a:xfrm rot="0">
            <a:off x="12594657" y="6772945"/>
            <a:ext cx="8774227" cy="2279015"/>
          </a:xfrm>
          <a:prstGeom prst="rect">
            <a:avLst/>
          </a:prstGeom>
        </p:spPr>
        <p:txBody>
          <a:bodyPr anchor="t" rtlCol="false" tIns="0" lIns="0" bIns="0" rIns="0">
            <a:spAutoFit/>
          </a:bodyPr>
          <a:lstStyle/>
          <a:p>
            <a:pPr algn="l" marL="604519" indent="-302260" lvl="1">
              <a:lnSpc>
                <a:spcPts val="3639"/>
              </a:lnSpc>
              <a:buFont typeface="Arial"/>
              <a:buChar char="•"/>
            </a:pPr>
            <a:r>
              <a:rPr lang="en-US" sz="2799" i="true" spc="69">
                <a:solidFill>
                  <a:srgbClr val="F5F3F4"/>
                </a:solidFill>
                <a:latin typeface="Canva Sans Italics"/>
                <a:ea typeface="Canva Sans Italics"/>
                <a:cs typeface="Canva Sans Italics"/>
                <a:sym typeface="Canva Sans Italics"/>
              </a:rPr>
              <a:t>Aggregations</a:t>
            </a:r>
          </a:p>
          <a:p>
            <a:pPr algn="l" marL="604519" indent="-302260" lvl="1">
              <a:lnSpc>
                <a:spcPts val="3639"/>
              </a:lnSpc>
              <a:buFont typeface="Arial"/>
              <a:buChar char="•"/>
            </a:pPr>
            <a:r>
              <a:rPr lang="en-US" sz="2799" i="true" spc="69">
                <a:solidFill>
                  <a:srgbClr val="F5F3F4"/>
                </a:solidFill>
                <a:latin typeface="Canva Sans Italics"/>
                <a:ea typeface="Canva Sans Italics"/>
                <a:cs typeface="Canva Sans Italics"/>
                <a:sym typeface="Canva Sans Italics"/>
              </a:rPr>
              <a:t>Group-by operations</a:t>
            </a:r>
          </a:p>
          <a:p>
            <a:pPr algn="l" marL="604519" indent="-302260" lvl="1">
              <a:lnSpc>
                <a:spcPts val="3639"/>
              </a:lnSpc>
              <a:buFont typeface="Arial"/>
              <a:buChar char="•"/>
            </a:pPr>
            <a:r>
              <a:rPr lang="en-US" sz="2799" i="true" spc="69">
                <a:solidFill>
                  <a:srgbClr val="F5F3F4"/>
                </a:solidFill>
                <a:latin typeface="Canva Sans Italics"/>
                <a:ea typeface="Canva Sans Italics"/>
                <a:cs typeface="Canva Sans Italics"/>
                <a:sym typeface="Canva Sans Italics"/>
              </a:rPr>
              <a:t>Filters</a:t>
            </a:r>
          </a:p>
          <a:p>
            <a:pPr algn="l" marL="604519" indent="-302260" lvl="1">
              <a:lnSpc>
                <a:spcPts val="3639"/>
              </a:lnSpc>
              <a:buFont typeface="Arial"/>
              <a:buChar char="•"/>
            </a:pPr>
            <a:r>
              <a:rPr lang="en-US" sz="2799" i="true" spc="69">
                <a:solidFill>
                  <a:srgbClr val="F5F3F4"/>
                </a:solidFill>
                <a:latin typeface="Canva Sans Italics"/>
                <a:ea typeface="Canva Sans Italics"/>
                <a:cs typeface="Canva Sans Italics"/>
                <a:sym typeface="Canva Sans Italics"/>
              </a:rPr>
              <a:t>Distinct counts</a:t>
            </a:r>
          </a:p>
          <a:p>
            <a:pPr algn="l">
              <a:lnSpc>
                <a:spcPts val="3639"/>
              </a:lnSpc>
            </a:pPr>
          </a:p>
        </p:txBody>
      </p:sp>
      <p:sp>
        <p:nvSpPr>
          <p:cNvPr name="TextBox 67" id="67"/>
          <p:cNvSpPr txBox="true"/>
          <p:nvPr/>
        </p:nvSpPr>
        <p:spPr>
          <a:xfrm rot="0">
            <a:off x="10447069" y="2241883"/>
            <a:ext cx="6515086" cy="577215"/>
          </a:xfrm>
          <a:prstGeom prst="rect">
            <a:avLst/>
          </a:prstGeom>
        </p:spPr>
        <p:txBody>
          <a:bodyPr anchor="t" rtlCol="false" tIns="0" lIns="0" bIns="0" rIns="0">
            <a:spAutoFit/>
          </a:bodyPr>
          <a:lstStyle/>
          <a:p>
            <a:pPr algn="l">
              <a:lnSpc>
                <a:spcPts val="2340"/>
              </a:lnSpc>
            </a:pPr>
            <a:r>
              <a:rPr lang="en-US" sz="1800" i="true" spc="44">
                <a:solidFill>
                  <a:srgbClr val="F5F3F4"/>
                </a:solidFill>
                <a:latin typeface="Canva Sans Italics"/>
                <a:ea typeface="Canva Sans Italics"/>
                <a:cs typeface="Canva Sans Italics"/>
                <a:sym typeface="Canva Sans Italics"/>
              </a:rPr>
              <a:t>Following tools were used to demonstrate the sales of electronic vehicles sales in India.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61A1D"/>
        </a:solidFill>
      </p:bgPr>
    </p:bg>
    <p:spTree>
      <p:nvGrpSpPr>
        <p:cNvPr id="1" name=""/>
        <p:cNvGrpSpPr/>
        <p:nvPr/>
      </p:nvGrpSpPr>
      <p:grpSpPr>
        <a:xfrm>
          <a:off x="0" y="0"/>
          <a:ext cx="0" cy="0"/>
          <a:chOff x="0" y="0"/>
          <a:chExt cx="0" cy="0"/>
        </a:xfrm>
      </p:grpSpPr>
      <p:grpSp>
        <p:nvGrpSpPr>
          <p:cNvPr name="Group 2" id="2"/>
          <p:cNvGrpSpPr/>
          <p:nvPr/>
        </p:nvGrpSpPr>
        <p:grpSpPr>
          <a:xfrm rot="0">
            <a:off x="9559662" y="1085850"/>
            <a:ext cx="1748831" cy="2373742"/>
            <a:chOff x="0" y="0"/>
            <a:chExt cx="449117" cy="609600"/>
          </a:xfrm>
        </p:grpSpPr>
        <p:sp>
          <p:nvSpPr>
            <p:cNvPr name="Freeform 3" id="3"/>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4" id="4"/>
            <p:cNvSpPr txBox="true"/>
            <p:nvPr/>
          </p:nvSpPr>
          <p:spPr>
            <a:xfrm>
              <a:off x="101600" y="-38100"/>
              <a:ext cx="245917"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582566" y="3223323"/>
            <a:ext cx="1676734" cy="2316984"/>
            <a:chOff x="0" y="0"/>
            <a:chExt cx="2235646" cy="3089312"/>
          </a:xfrm>
        </p:grpSpPr>
        <p:grpSp>
          <p:nvGrpSpPr>
            <p:cNvPr name="Group 6" id="6"/>
            <p:cNvGrpSpPr/>
            <p:nvPr/>
          </p:nvGrpSpPr>
          <p:grpSpPr>
            <a:xfrm rot="0">
              <a:off x="466157" y="687532"/>
              <a:ext cx="1769488" cy="2401781"/>
              <a:chOff x="0" y="0"/>
              <a:chExt cx="449117" cy="609600"/>
            </a:xfrm>
          </p:grpSpPr>
          <p:sp>
            <p:nvSpPr>
              <p:cNvPr name="Freeform 7" id="7"/>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8" id="8"/>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9" id="9"/>
            <p:cNvGrpSpPr/>
            <p:nvPr/>
          </p:nvGrpSpPr>
          <p:grpSpPr>
            <a:xfrm rot="0">
              <a:off x="306896" y="361498"/>
              <a:ext cx="1769488" cy="2401781"/>
              <a:chOff x="0" y="0"/>
              <a:chExt cx="449117" cy="609600"/>
            </a:xfrm>
          </p:grpSpPr>
          <p:sp>
            <p:nvSpPr>
              <p:cNvPr name="Freeform 10" id="10"/>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11" id="11"/>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12" id="12"/>
            <p:cNvGrpSpPr/>
            <p:nvPr/>
          </p:nvGrpSpPr>
          <p:grpSpPr>
            <a:xfrm rot="0">
              <a:off x="0" y="0"/>
              <a:ext cx="1964043" cy="2665855"/>
              <a:chOff x="0" y="0"/>
              <a:chExt cx="449117" cy="609600"/>
            </a:xfrm>
          </p:grpSpPr>
          <p:sp>
            <p:nvSpPr>
              <p:cNvPr name="Freeform 13" id="13"/>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14" id="14"/>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15" id="15"/>
          <p:cNvGrpSpPr/>
          <p:nvPr/>
        </p:nvGrpSpPr>
        <p:grpSpPr>
          <a:xfrm rot="0">
            <a:off x="9134324" y="1229731"/>
            <a:ext cx="8435140" cy="3941547"/>
            <a:chOff x="0" y="0"/>
            <a:chExt cx="1304579" cy="609600"/>
          </a:xfrm>
        </p:grpSpPr>
        <p:sp>
          <p:nvSpPr>
            <p:cNvPr name="Freeform 16" id="16"/>
            <p:cNvSpPr/>
            <p:nvPr/>
          </p:nvSpPr>
          <p:spPr>
            <a:xfrm flipH="false" flipV="false" rot="0">
              <a:off x="0" y="0"/>
              <a:ext cx="1304579" cy="609600"/>
            </a:xfrm>
            <a:custGeom>
              <a:avLst/>
              <a:gdLst/>
              <a:ahLst/>
              <a:cxnLst/>
              <a:rect r="r" b="b" t="t" l="l"/>
              <a:pathLst>
                <a:path h="609600" w="1304579">
                  <a:moveTo>
                    <a:pt x="203200" y="0"/>
                  </a:moveTo>
                  <a:lnTo>
                    <a:pt x="1304579" y="0"/>
                  </a:lnTo>
                  <a:lnTo>
                    <a:pt x="1101379" y="609600"/>
                  </a:lnTo>
                  <a:lnTo>
                    <a:pt x="0" y="609600"/>
                  </a:lnTo>
                  <a:lnTo>
                    <a:pt x="203200" y="0"/>
                  </a:lnTo>
                  <a:close/>
                </a:path>
              </a:pathLst>
            </a:custGeom>
            <a:blipFill>
              <a:blip r:embed="rId2"/>
              <a:stretch>
                <a:fillRect l="0" t="-21205" r="0" b="-21205"/>
              </a:stretch>
            </a:blipFill>
          </p:spPr>
        </p:sp>
      </p:grpSp>
      <p:grpSp>
        <p:nvGrpSpPr>
          <p:cNvPr name="Group 17" id="17"/>
          <p:cNvGrpSpPr/>
          <p:nvPr/>
        </p:nvGrpSpPr>
        <p:grpSpPr>
          <a:xfrm rot="0">
            <a:off x="9533840" y="5399878"/>
            <a:ext cx="1748831" cy="2373742"/>
            <a:chOff x="0" y="0"/>
            <a:chExt cx="449117" cy="609600"/>
          </a:xfrm>
        </p:grpSpPr>
        <p:sp>
          <p:nvSpPr>
            <p:cNvPr name="Freeform 18" id="18"/>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19" id="19"/>
            <p:cNvSpPr txBox="true"/>
            <p:nvPr/>
          </p:nvSpPr>
          <p:spPr>
            <a:xfrm>
              <a:off x="101600" y="-38100"/>
              <a:ext cx="245917"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1450435" y="5399878"/>
            <a:ext cx="1748831" cy="2373742"/>
            <a:chOff x="0" y="0"/>
            <a:chExt cx="449117" cy="609600"/>
          </a:xfrm>
        </p:grpSpPr>
        <p:sp>
          <p:nvSpPr>
            <p:cNvPr name="Freeform 21" id="21"/>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22" id="22"/>
            <p:cNvSpPr txBox="true"/>
            <p:nvPr/>
          </p:nvSpPr>
          <p:spPr>
            <a:xfrm>
              <a:off x="101600" y="-38100"/>
              <a:ext cx="245917"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7467266" y="7535744"/>
            <a:ext cx="1676734" cy="2316984"/>
            <a:chOff x="0" y="0"/>
            <a:chExt cx="2235646" cy="3089312"/>
          </a:xfrm>
        </p:grpSpPr>
        <p:grpSp>
          <p:nvGrpSpPr>
            <p:cNvPr name="Group 24" id="24"/>
            <p:cNvGrpSpPr/>
            <p:nvPr/>
          </p:nvGrpSpPr>
          <p:grpSpPr>
            <a:xfrm rot="0">
              <a:off x="466157" y="687532"/>
              <a:ext cx="1769488" cy="2401781"/>
              <a:chOff x="0" y="0"/>
              <a:chExt cx="449117" cy="609600"/>
            </a:xfrm>
          </p:grpSpPr>
          <p:sp>
            <p:nvSpPr>
              <p:cNvPr name="Freeform 25" id="25"/>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26" id="26"/>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27" id="27"/>
            <p:cNvGrpSpPr/>
            <p:nvPr/>
          </p:nvGrpSpPr>
          <p:grpSpPr>
            <a:xfrm rot="0">
              <a:off x="306896" y="361498"/>
              <a:ext cx="1769488" cy="2401781"/>
              <a:chOff x="0" y="0"/>
              <a:chExt cx="449117" cy="609600"/>
            </a:xfrm>
          </p:grpSpPr>
          <p:sp>
            <p:nvSpPr>
              <p:cNvPr name="Freeform 28" id="28"/>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29" id="29"/>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30" id="30"/>
            <p:cNvGrpSpPr/>
            <p:nvPr/>
          </p:nvGrpSpPr>
          <p:grpSpPr>
            <a:xfrm rot="0">
              <a:off x="0" y="0"/>
              <a:ext cx="1964043" cy="2665855"/>
              <a:chOff x="0" y="0"/>
              <a:chExt cx="449117" cy="609600"/>
            </a:xfrm>
          </p:grpSpPr>
          <p:sp>
            <p:nvSpPr>
              <p:cNvPr name="Freeform 31" id="31"/>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32" id="32"/>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33" id="33"/>
          <p:cNvGrpSpPr/>
          <p:nvPr/>
        </p:nvGrpSpPr>
        <p:grpSpPr>
          <a:xfrm rot="0">
            <a:off x="15582566" y="7535744"/>
            <a:ext cx="1676734" cy="2316984"/>
            <a:chOff x="0" y="0"/>
            <a:chExt cx="2235646" cy="3089312"/>
          </a:xfrm>
        </p:grpSpPr>
        <p:grpSp>
          <p:nvGrpSpPr>
            <p:cNvPr name="Group 34" id="34"/>
            <p:cNvGrpSpPr/>
            <p:nvPr/>
          </p:nvGrpSpPr>
          <p:grpSpPr>
            <a:xfrm rot="0">
              <a:off x="466157" y="687532"/>
              <a:ext cx="1769488" cy="2401781"/>
              <a:chOff x="0" y="0"/>
              <a:chExt cx="449117" cy="609600"/>
            </a:xfrm>
          </p:grpSpPr>
          <p:sp>
            <p:nvSpPr>
              <p:cNvPr name="Freeform 35" id="35"/>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36" id="36"/>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37" id="37"/>
            <p:cNvGrpSpPr/>
            <p:nvPr/>
          </p:nvGrpSpPr>
          <p:grpSpPr>
            <a:xfrm rot="0">
              <a:off x="306896" y="361498"/>
              <a:ext cx="1769488" cy="2401781"/>
              <a:chOff x="0" y="0"/>
              <a:chExt cx="449117" cy="609600"/>
            </a:xfrm>
          </p:grpSpPr>
          <p:sp>
            <p:nvSpPr>
              <p:cNvPr name="Freeform 38" id="38"/>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39" id="39"/>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40" id="40"/>
            <p:cNvGrpSpPr/>
            <p:nvPr/>
          </p:nvGrpSpPr>
          <p:grpSpPr>
            <a:xfrm rot="0">
              <a:off x="0" y="0"/>
              <a:ext cx="1964043" cy="2665855"/>
              <a:chOff x="0" y="0"/>
              <a:chExt cx="449117" cy="609600"/>
            </a:xfrm>
          </p:grpSpPr>
          <p:sp>
            <p:nvSpPr>
              <p:cNvPr name="Freeform 41" id="41"/>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42" id="42"/>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43" id="43"/>
          <p:cNvGrpSpPr/>
          <p:nvPr/>
        </p:nvGrpSpPr>
        <p:grpSpPr>
          <a:xfrm rot="0">
            <a:off x="9134324" y="5517784"/>
            <a:ext cx="8435140" cy="3941547"/>
            <a:chOff x="0" y="0"/>
            <a:chExt cx="1304579" cy="609600"/>
          </a:xfrm>
        </p:grpSpPr>
        <p:sp>
          <p:nvSpPr>
            <p:cNvPr name="Freeform 44" id="44"/>
            <p:cNvSpPr/>
            <p:nvPr/>
          </p:nvSpPr>
          <p:spPr>
            <a:xfrm flipH="false" flipV="false" rot="0">
              <a:off x="0" y="0"/>
              <a:ext cx="1304579" cy="609600"/>
            </a:xfrm>
            <a:custGeom>
              <a:avLst/>
              <a:gdLst/>
              <a:ahLst/>
              <a:cxnLst/>
              <a:rect r="r" b="b" t="t" l="l"/>
              <a:pathLst>
                <a:path h="609600" w="1304579">
                  <a:moveTo>
                    <a:pt x="203200" y="0"/>
                  </a:moveTo>
                  <a:lnTo>
                    <a:pt x="1304579" y="0"/>
                  </a:lnTo>
                  <a:lnTo>
                    <a:pt x="1101379" y="609600"/>
                  </a:lnTo>
                  <a:lnTo>
                    <a:pt x="0" y="609600"/>
                  </a:lnTo>
                  <a:lnTo>
                    <a:pt x="203200" y="0"/>
                  </a:lnTo>
                  <a:close/>
                </a:path>
              </a:pathLst>
            </a:custGeom>
            <a:blipFill>
              <a:blip r:embed="rId3"/>
              <a:stretch>
                <a:fillRect l="0" t="-21789" r="0" b="-21789"/>
              </a:stretch>
            </a:blipFill>
          </p:spPr>
        </p:sp>
      </p:grpSp>
      <p:grpSp>
        <p:nvGrpSpPr>
          <p:cNvPr name="Group 45" id="45"/>
          <p:cNvGrpSpPr/>
          <p:nvPr/>
        </p:nvGrpSpPr>
        <p:grpSpPr>
          <a:xfrm rot="0">
            <a:off x="1028700" y="5517784"/>
            <a:ext cx="8435140" cy="3941547"/>
            <a:chOff x="0" y="0"/>
            <a:chExt cx="1304579" cy="609600"/>
          </a:xfrm>
        </p:grpSpPr>
        <p:sp>
          <p:nvSpPr>
            <p:cNvPr name="Freeform 46" id="46"/>
            <p:cNvSpPr/>
            <p:nvPr/>
          </p:nvSpPr>
          <p:spPr>
            <a:xfrm flipH="false" flipV="false" rot="0">
              <a:off x="0" y="0"/>
              <a:ext cx="1304579" cy="609600"/>
            </a:xfrm>
            <a:custGeom>
              <a:avLst/>
              <a:gdLst/>
              <a:ahLst/>
              <a:cxnLst/>
              <a:rect r="r" b="b" t="t" l="l"/>
              <a:pathLst>
                <a:path h="609600" w="1304579">
                  <a:moveTo>
                    <a:pt x="203200" y="0"/>
                  </a:moveTo>
                  <a:lnTo>
                    <a:pt x="1304579" y="0"/>
                  </a:lnTo>
                  <a:lnTo>
                    <a:pt x="1101379" y="609600"/>
                  </a:lnTo>
                  <a:lnTo>
                    <a:pt x="0" y="609600"/>
                  </a:lnTo>
                  <a:lnTo>
                    <a:pt x="203200" y="0"/>
                  </a:lnTo>
                  <a:close/>
                </a:path>
              </a:pathLst>
            </a:custGeom>
            <a:blipFill>
              <a:blip r:embed="rId4"/>
              <a:stretch>
                <a:fillRect l="0" t="-110358" r="0" b="-110358"/>
              </a:stretch>
            </a:blipFill>
          </p:spPr>
        </p:sp>
      </p:grpSp>
      <p:grpSp>
        <p:nvGrpSpPr>
          <p:cNvPr name="Group 47" id="47"/>
          <p:cNvGrpSpPr/>
          <p:nvPr/>
        </p:nvGrpSpPr>
        <p:grpSpPr>
          <a:xfrm rot="0">
            <a:off x="238697" y="0"/>
            <a:ext cx="705305" cy="10287000"/>
            <a:chOff x="0" y="0"/>
            <a:chExt cx="185759" cy="2709333"/>
          </a:xfrm>
        </p:grpSpPr>
        <p:sp>
          <p:nvSpPr>
            <p:cNvPr name="Freeform 48" id="48"/>
            <p:cNvSpPr/>
            <p:nvPr/>
          </p:nvSpPr>
          <p:spPr>
            <a:xfrm flipH="false" flipV="false" rot="0">
              <a:off x="0" y="0"/>
              <a:ext cx="185759" cy="2709333"/>
            </a:xfrm>
            <a:custGeom>
              <a:avLst/>
              <a:gdLst/>
              <a:ahLst/>
              <a:cxnLst/>
              <a:rect r="r" b="b" t="t" l="l"/>
              <a:pathLst>
                <a:path h="2709333" w="185759">
                  <a:moveTo>
                    <a:pt x="0" y="0"/>
                  </a:moveTo>
                  <a:lnTo>
                    <a:pt x="185759" y="0"/>
                  </a:lnTo>
                  <a:lnTo>
                    <a:pt x="185759" y="2709333"/>
                  </a:lnTo>
                  <a:lnTo>
                    <a:pt x="0" y="2709333"/>
                  </a:lnTo>
                  <a:close/>
                </a:path>
              </a:pathLst>
            </a:custGeom>
            <a:gradFill rotWithShape="true">
              <a:gsLst>
                <a:gs pos="0">
                  <a:srgbClr val="DC2F02">
                    <a:alpha val="100000"/>
                  </a:srgbClr>
                </a:gs>
                <a:gs pos="100000">
                  <a:srgbClr val="DC2F02">
                    <a:alpha val="0"/>
                  </a:srgbClr>
                </a:gs>
              </a:gsLst>
              <a:path path="circle">
                <a:fillToRect l="50000" r="50000" t="50000" b="50000"/>
              </a:path>
            </a:gradFill>
          </p:spPr>
        </p:sp>
        <p:sp>
          <p:nvSpPr>
            <p:cNvPr name="TextBox 49" id="49"/>
            <p:cNvSpPr txBox="true"/>
            <p:nvPr/>
          </p:nvSpPr>
          <p:spPr>
            <a:xfrm>
              <a:off x="0" y="-38100"/>
              <a:ext cx="185759"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0" id="50"/>
          <p:cNvGrpSpPr/>
          <p:nvPr/>
        </p:nvGrpSpPr>
        <p:grpSpPr>
          <a:xfrm rot="0">
            <a:off x="238697" y="4416974"/>
            <a:ext cx="705305" cy="703087"/>
            <a:chOff x="0" y="0"/>
            <a:chExt cx="185759" cy="185175"/>
          </a:xfrm>
        </p:grpSpPr>
        <p:sp>
          <p:nvSpPr>
            <p:cNvPr name="Freeform 51" id="51"/>
            <p:cNvSpPr/>
            <p:nvPr/>
          </p:nvSpPr>
          <p:spPr>
            <a:xfrm flipH="false" flipV="false" rot="0">
              <a:off x="0" y="0"/>
              <a:ext cx="185759" cy="185175"/>
            </a:xfrm>
            <a:custGeom>
              <a:avLst/>
              <a:gdLst/>
              <a:ahLst/>
              <a:cxnLst/>
              <a:rect r="r" b="b" t="t" l="l"/>
              <a:pathLst>
                <a:path h="185175" w="185759">
                  <a:moveTo>
                    <a:pt x="0" y="0"/>
                  </a:moveTo>
                  <a:lnTo>
                    <a:pt x="185759" y="0"/>
                  </a:lnTo>
                  <a:lnTo>
                    <a:pt x="185759" y="185175"/>
                  </a:lnTo>
                  <a:lnTo>
                    <a:pt x="0" y="185175"/>
                  </a:lnTo>
                  <a:close/>
                </a:path>
              </a:pathLst>
            </a:custGeom>
            <a:solidFill>
              <a:srgbClr val="DC2F02"/>
            </a:solidFill>
          </p:spPr>
        </p:sp>
        <p:sp>
          <p:nvSpPr>
            <p:cNvPr name="TextBox 52" id="52"/>
            <p:cNvSpPr txBox="true"/>
            <p:nvPr/>
          </p:nvSpPr>
          <p:spPr>
            <a:xfrm>
              <a:off x="0" y="-38100"/>
              <a:ext cx="185759" cy="223275"/>
            </a:xfrm>
            <a:prstGeom prst="rect">
              <a:avLst/>
            </a:prstGeom>
          </p:spPr>
          <p:txBody>
            <a:bodyPr anchor="ctr" rtlCol="false" tIns="50800" lIns="50800" bIns="50800" rIns="50800"/>
            <a:lstStyle/>
            <a:p>
              <a:pPr algn="ctr">
                <a:lnSpc>
                  <a:spcPts val="2659"/>
                </a:lnSpc>
                <a:spcBef>
                  <a:spcPct val="0"/>
                </a:spcBef>
              </a:pPr>
            </a:p>
          </p:txBody>
        </p:sp>
      </p:grpSp>
      <p:sp>
        <p:nvSpPr>
          <p:cNvPr name="Freeform 53" id="53"/>
          <p:cNvSpPr/>
          <p:nvPr/>
        </p:nvSpPr>
        <p:spPr>
          <a:xfrm flipH="false" flipV="false" rot="0">
            <a:off x="375398" y="1028700"/>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4" id="54"/>
          <p:cNvSpPr/>
          <p:nvPr/>
        </p:nvSpPr>
        <p:spPr>
          <a:xfrm flipH="false" flipV="false" rot="0">
            <a:off x="412503" y="1923573"/>
            <a:ext cx="357692" cy="429543"/>
          </a:xfrm>
          <a:custGeom>
            <a:avLst/>
            <a:gdLst/>
            <a:ahLst/>
            <a:cxnLst/>
            <a:rect r="r" b="b" t="t" l="l"/>
            <a:pathLst>
              <a:path h="429543" w="357692">
                <a:moveTo>
                  <a:pt x="0" y="0"/>
                </a:moveTo>
                <a:lnTo>
                  <a:pt x="357692" y="0"/>
                </a:lnTo>
                <a:lnTo>
                  <a:pt x="357692" y="429543"/>
                </a:lnTo>
                <a:lnTo>
                  <a:pt x="0" y="42954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5" id="55"/>
          <p:cNvSpPr/>
          <p:nvPr/>
        </p:nvSpPr>
        <p:spPr>
          <a:xfrm flipH="false" flipV="false" rot="0">
            <a:off x="375398" y="2845928"/>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56" id="56"/>
          <p:cNvSpPr/>
          <p:nvPr/>
        </p:nvSpPr>
        <p:spPr>
          <a:xfrm flipH="false" flipV="false" rot="0">
            <a:off x="412503" y="3740801"/>
            <a:ext cx="357692" cy="344685"/>
          </a:xfrm>
          <a:custGeom>
            <a:avLst/>
            <a:gdLst/>
            <a:ahLst/>
            <a:cxnLst/>
            <a:rect r="r" b="b" t="t" l="l"/>
            <a:pathLst>
              <a:path h="344685" w="357692">
                <a:moveTo>
                  <a:pt x="0" y="0"/>
                </a:moveTo>
                <a:lnTo>
                  <a:pt x="357692" y="0"/>
                </a:lnTo>
                <a:lnTo>
                  <a:pt x="357692" y="344685"/>
                </a:lnTo>
                <a:lnTo>
                  <a:pt x="0" y="3446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57" id="57"/>
          <p:cNvSpPr/>
          <p:nvPr/>
        </p:nvSpPr>
        <p:spPr>
          <a:xfrm flipH="false" flipV="false" rot="0">
            <a:off x="412503" y="4578297"/>
            <a:ext cx="394797" cy="380441"/>
          </a:xfrm>
          <a:custGeom>
            <a:avLst/>
            <a:gdLst/>
            <a:ahLst/>
            <a:cxnLst/>
            <a:rect r="r" b="b" t="t" l="l"/>
            <a:pathLst>
              <a:path h="380441" w="394797">
                <a:moveTo>
                  <a:pt x="0" y="0"/>
                </a:moveTo>
                <a:lnTo>
                  <a:pt x="394797" y="0"/>
                </a:lnTo>
                <a:lnTo>
                  <a:pt x="394797" y="380441"/>
                </a:lnTo>
                <a:lnTo>
                  <a:pt x="0" y="38044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58" id="58"/>
          <p:cNvSpPr/>
          <p:nvPr/>
        </p:nvSpPr>
        <p:spPr>
          <a:xfrm flipH="false" flipV="false" rot="0">
            <a:off x="393950" y="8842103"/>
            <a:ext cx="431903" cy="416197"/>
          </a:xfrm>
          <a:custGeom>
            <a:avLst/>
            <a:gdLst/>
            <a:ahLst/>
            <a:cxnLst/>
            <a:rect r="r" b="b" t="t" l="l"/>
            <a:pathLst>
              <a:path h="416197" w="431903">
                <a:moveTo>
                  <a:pt x="0" y="0"/>
                </a:moveTo>
                <a:lnTo>
                  <a:pt x="431903" y="0"/>
                </a:lnTo>
                <a:lnTo>
                  <a:pt x="431903" y="416197"/>
                </a:lnTo>
                <a:lnTo>
                  <a:pt x="0" y="41619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59" id="59"/>
          <p:cNvSpPr/>
          <p:nvPr/>
        </p:nvSpPr>
        <p:spPr>
          <a:xfrm flipH="false" flipV="false" rot="0">
            <a:off x="401032" y="5451550"/>
            <a:ext cx="380634" cy="377866"/>
          </a:xfrm>
          <a:custGeom>
            <a:avLst/>
            <a:gdLst/>
            <a:ahLst/>
            <a:cxnLst/>
            <a:rect r="r" b="b" t="t" l="l"/>
            <a:pathLst>
              <a:path h="377866" w="380634">
                <a:moveTo>
                  <a:pt x="0" y="0"/>
                </a:moveTo>
                <a:lnTo>
                  <a:pt x="380634" y="0"/>
                </a:lnTo>
                <a:lnTo>
                  <a:pt x="380634" y="377866"/>
                </a:lnTo>
                <a:lnTo>
                  <a:pt x="0" y="37786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60" id="60"/>
          <p:cNvSpPr/>
          <p:nvPr/>
        </p:nvSpPr>
        <p:spPr>
          <a:xfrm flipH="false" flipV="false" rot="0">
            <a:off x="393950" y="7171074"/>
            <a:ext cx="431903" cy="288197"/>
          </a:xfrm>
          <a:custGeom>
            <a:avLst/>
            <a:gdLst/>
            <a:ahLst/>
            <a:cxnLst/>
            <a:rect r="r" b="b" t="t" l="l"/>
            <a:pathLst>
              <a:path h="288197" w="431903">
                <a:moveTo>
                  <a:pt x="0" y="0"/>
                </a:moveTo>
                <a:lnTo>
                  <a:pt x="431903" y="0"/>
                </a:lnTo>
                <a:lnTo>
                  <a:pt x="431903" y="288196"/>
                </a:lnTo>
                <a:lnTo>
                  <a:pt x="0" y="28819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61" id="61"/>
          <p:cNvSpPr/>
          <p:nvPr/>
        </p:nvSpPr>
        <p:spPr>
          <a:xfrm flipH="false" flipV="false" rot="0">
            <a:off x="412503" y="7952082"/>
            <a:ext cx="394797" cy="397210"/>
          </a:xfrm>
          <a:custGeom>
            <a:avLst/>
            <a:gdLst/>
            <a:ahLst/>
            <a:cxnLst/>
            <a:rect r="r" b="b" t="t" l="l"/>
            <a:pathLst>
              <a:path h="397210" w="394797">
                <a:moveTo>
                  <a:pt x="0" y="0"/>
                </a:moveTo>
                <a:lnTo>
                  <a:pt x="394797" y="0"/>
                </a:lnTo>
                <a:lnTo>
                  <a:pt x="394797" y="397210"/>
                </a:lnTo>
                <a:lnTo>
                  <a:pt x="0" y="39721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62" id="62"/>
          <p:cNvSpPr/>
          <p:nvPr/>
        </p:nvSpPr>
        <p:spPr>
          <a:xfrm flipH="false" flipV="false" rot="0">
            <a:off x="412503" y="6322227"/>
            <a:ext cx="394797" cy="356035"/>
          </a:xfrm>
          <a:custGeom>
            <a:avLst/>
            <a:gdLst/>
            <a:ahLst/>
            <a:cxnLst/>
            <a:rect r="r" b="b" t="t" l="l"/>
            <a:pathLst>
              <a:path h="356035" w="394797">
                <a:moveTo>
                  <a:pt x="0" y="0"/>
                </a:moveTo>
                <a:lnTo>
                  <a:pt x="394797" y="0"/>
                </a:lnTo>
                <a:lnTo>
                  <a:pt x="394797" y="356035"/>
                </a:lnTo>
                <a:lnTo>
                  <a:pt x="0" y="356035"/>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63" id="63"/>
          <p:cNvGrpSpPr/>
          <p:nvPr/>
        </p:nvGrpSpPr>
        <p:grpSpPr>
          <a:xfrm rot="0">
            <a:off x="1185901" y="8794967"/>
            <a:ext cx="2189575" cy="571324"/>
            <a:chOff x="0" y="0"/>
            <a:chExt cx="2336266" cy="609600"/>
          </a:xfrm>
        </p:grpSpPr>
        <p:sp>
          <p:nvSpPr>
            <p:cNvPr name="Freeform 64" id="64"/>
            <p:cNvSpPr/>
            <p:nvPr/>
          </p:nvSpPr>
          <p:spPr>
            <a:xfrm flipH="false" flipV="false" rot="0">
              <a:off x="0" y="0"/>
              <a:ext cx="2336267" cy="609600"/>
            </a:xfrm>
            <a:custGeom>
              <a:avLst/>
              <a:gdLst/>
              <a:ahLst/>
              <a:cxnLst/>
              <a:rect r="r" b="b" t="t" l="l"/>
              <a:pathLst>
                <a:path h="609600" w="2336267">
                  <a:moveTo>
                    <a:pt x="203200" y="0"/>
                  </a:moveTo>
                  <a:lnTo>
                    <a:pt x="2336267" y="0"/>
                  </a:lnTo>
                  <a:lnTo>
                    <a:pt x="2133067" y="609600"/>
                  </a:lnTo>
                  <a:lnTo>
                    <a:pt x="0" y="609600"/>
                  </a:lnTo>
                  <a:lnTo>
                    <a:pt x="203200" y="0"/>
                  </a:lnTo>
                  <a:close/>
                </a:path>
              </a:pathLst>
            </a:custGeom>
            <a:solidFill>
              <a:srgbClr val="000000">
                <a:alpha val="0"/>
              </a:srgbClr>
            </a:solidFill>
            <a:ln w="28575" cap="sq">
              <a:gradFill>
                <a:gsLst>
                  <a:gs pos="0">
                    <a:srgbClr val="F5F3F4">
                      <a:alpha val="100000"/>
                    </a:srgbClr>
                  </a:gs>
                  <a:gs pos="100000">
                    <a:srgbClr val="F5F3F4">
                      <a:alpha val="0"/>
                    </a:srgbClr>
                  </a:gs>
                </a:gsLst>
                <a:lin ang="0"/>
              </a:gradFill>
              <a:prstDash val="solid"/>
              <a:miter/>
            </a:ln>
          </p:spPr>
        </p:sp>
        <p:sp>
          <p:nvSpPr>
            <p:cNvPr name="TextBox 65" id="65"/>
            <p:cNvSpPr txBox="true"/>
            <p:nvPr/>
          </p:nvSpPr>
          <p:spPr>
            <a:xfrm>
              <a:off x="101600" y="-38100"/>
              <a:ext cx="2133066"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6" id="66"/>
          <p:cNvGrpSpPr/>
          <p:nvPr/>
        </p:nvGrpSpPr>
        <p:grpSpPr>
          <a:xfrm rot="0">
            <a:off x="9291525" y="8794967"/>
            <a:ext cx="2189575" cy="571324"/>
            <a:chOff x="0" y="0"/>
            <a:chExt cx="2336266" cy="609600"/>
          </a:xfrm>
        </p:grpSpPr>
        <p:sp>
          <p:nvSpPr>
            <p:cNvPr name="Freeform 67" id="67"/>
            <p:cNvSpPr/>
            <p:nvPr/>
          </p:nvSpPr>
          <p:spPr>
            <a:xfrm flipH="false" flipV="false" rot="0">
              <a:off x="0" y="0"/>
              <a:ext cx="2336267" cy="609600"/>
            </a:xfrm>
            <a:custGeom>
              <a:avLst/>
              <a:gdLst/>
              <a:ahLst/>
              <a:cxnLst/>
              <a:rect r="r" b="b" t="t" l="l"/>
              <a:pathLst>
                <a:path h="609600" w="2336267">
                  <a:moveTo>
                    <a:pt x="203200" y="0"/>
                  </a:moveTo>
                  <a:lnTo>
                    <a:pt x="2336267" y="0"/>
                  </a:lnTo>
                  <a:lnTo>
                    <a:pt x="2133067" y="609600"/>
                  </a:lnTo>
                  <a:lnTo>
                    <a:pt x="0" y="609600"/>
                  </a:lnTo>
                  <a:lnTo>
                    <a:pt x="203200" y="0"/>
                  </a:lnTo>
                  <a:close/>
                </a:path>
              </a:pathLst>
            </a:custGeom>
            <a:solidFill>
              <a:srgbClr val="000000">
                <a:alpha val="0"/>
              </a:srgbClr>
            </a:solidFill>
            <a:ln w="28575" cap="sq">
              <a:gradFill>
                <a:gsLst>
                  <a:gs pos="0">
                    <a:srgbClr val="F5F3F4">
                      <a:alpha val="100000"/>
                    </a:srgbClr>
                  </a:gs>
                  <a:gs pos="100000">
                    <a:srgbClr val="F5F3F4">
                      <a:alpha val="0"/>
                    </a:srgbClr>
                  </a:gs>
                </a:gsLst>
                <a:lin ang="0"/>
              </a:gradFill>
              <a:prstDash val="solid"/>
              <a:miter/>
            </a:ln>
          </p:spPr>
        </p:sp>
        <p:sp>
          <p:nvSpPr>
            <p:cNvPr name="TextBox 68" id="68"/>
            <p:cNvSpPr txBox="true"/>
            <p:nvPr/>
          </p:nvSpPr>
          <p:spPr>
            <a:xfrm>
              <a:off x="101600" y="-38100"/>
              <a:ext cx="2133066"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69" id="69"/>
          <p:cNvGrpSpPr/>
          <p:nvPr/>
        </p:nvGrpSpPr>
        <p:grpSpPr>
          <a:xfrm rot="0">
            <a:off x="9291525" y="4506914"/>
            <a:ext cx="2189575" cy="571324"/>
            <a:chOff x="0" y="0"/>
            <a:chExt cx="2336266" cy="609600"/>
          </a:xfrm>
        </p:grpSpPr>
        <p:sp>
          <p:nvSpPr>
            <p:cNvPr name="Freeform 70" id="70"/>
            <p:cNvSpPr/>
            <p:nvPr/>
          </p:nvSpPr>
          <p:spPr>
            <a:xfrm flipH="false" flipV="false" rot="0">
              <a:off x="0" y="0"/>
              <a:ext cx="2336267" cy="609600"/>
            </a:xfrm>
            <a:custGeom>
              <a:avLst/>
              <a:gdLst/>
              <a:ahLst/>
              <a:cxnLst/>
              <a:rect r="r" b="b" t="t" l="l"/>
              <a:pathLst>
                <a:path h="609600" w="2336267">
                  <a:moveTo>
                    <a:pt x="203200" y="0"/>
                  </a:moveTo>
                  <a:lnTo>
                    <a:pt x="2336267" y="0"/>
                  </a:lnTo>
                  <a:lnTo>
                    <a:pt x="2133067" y="609600"/>
                  </a:lnTo>
                  <a:lnTo>
                    <a:pt x="0" y="609600"/>
                  </a:lnTo>
                  <a:lnTo>
                    <a:pt x="203200" y="0"/>
                  </a:lnTo>
                  <a:close/>
                </a:path>
              </a:pathLst>
            </a:custGeom>
            <a:solidFill>
              <a:srgbClr val="000000">
                <a:alpha val="0"/>
              </a:srgbClr>
            </a:solidFill>
            <a:ln w="28575" cap="sq">
              <a:gradFill>
                <a:gsLst>
                  <a:gs pos="0">
                    <a:srgbClr val="F5F3F4">
                      <a:alpha val="100000"/>
                    </a:srgbClr>
                  </a:gs>
                  <a:gs pos="100000">
                    <a:srgbClr val="F5F3F4">
                      <a:alpha val="0"/>
                    </a:srgbClr>
                  </a:gs>
                </a:gsLst>
                <a:lin ang="0"/>
              </a:gradFill>
              <a:prstDash val="solid"/>
              <a:miter/>
            </a:ln>
          </p:spPr>
        </p:sp>
        <p:sp>
          <p:nvSpPr>
            <p:cNvPr name="TextBox 71" id="71"/>
            <p:cNvSpPr txBox="true"/>
            <p:nvPr/>
          </p:nvSpPr>
          <p:spPr>
            <a:xfrm>
              <a:off x="101600" y="-38100"/>
              <a:ext cx="2133066"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72" id="72"/>
          <p:cNvGrpSpPr/>
          <p:nvPr/>
        </p:nvGrpSpPr>
        <p:grpSpPr>
          <a:xfrm rot="0">
            <a:off x="1028700" y="8888007"/>
            <a:ext cx="2189575" cy="571324"/>
            <a:chOff x="0" y="0"/>
            <a:chExt cx="2336266" cy="609600"/>
          </a:xfrm>
        </p:grpSpPr>
        <p:sp>
          <p:nvSpPr>
            <p:cNvPr name="Freeform 73" id="73"/>
            <p:cNvSpPr/>
            <p:nvPr/>
          </p:nvSpPr>
          <p:spPr>
            <a:xfrm flipH="false" flipV="false" rot="0">
              <a:off x="0" y="0"/>
              <a:ext cx="2336267" cy="609600"/>
            </a:xfrm>
            <a:custGeom>
              <a:avLst/>
              <a:gdLst/>
              <a:ahLst/>
              <a:cxnLst/>
              <a:rect r="r" b="b" t="t" l="l"/>
              <a:pathLst>
                <a:path h="609600" w="2336267">
                  <a:moveTo>
                    <a:pt x="203200" y="0"/>
                  </a:moveTo>
                  <a:lnTo>
                    <a:pt x="2336267" y="0"/>
                  </a:lnTo>
                  <a:lnTo>
                    <a:pt x="2133067" y="609600"/>
                  </a:lnTo>
                  <a:lnTo>
                    <a:pt x="0" y="609600"/>
                  </a:lnTo>
                  <a:lnTo>
                    <a:pt x="203200" y="0"/>
                  </a:lnTo>
                  <a:close/>
                </a:path>
              </a:pathLst>
            </a:custGeom>
            <a:gradFill rotWithShape="true">
              <a:gsLst>
                <a:gs pos="0">
                  <a:srgbClr val="DC2F02">
                    <a:alpha val="100000"/>
                  </a:srgbClr>
                </a:gs>
                <a:gs pos="100000">
                  <a:srgbClr val="DC2F02">
                    <a:alpha val="0"/>
                  </a:srgbClr>
                </a:gs>
              </a:gsLst>
              <a:lin ang="0"/>
            </a:gradFill>
          </p:spPr>
        </p:sp>
        <p:sp>
          <p:nvSpPr>
            <p:cNvPr name="TextBox 74" id="74"/>
            <p:cNvSpPr txBox="true"/>
            <p:nvPr/>
          </p:nvSpPr>
          <p:spPr>
            <a:xfrm>
              <a:off x="101600" y="-38100"/>
              <a:ext cx="2133066"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75" id="75"/>
          <p:cNvGrpSpPr/>
          <p:nvPr/>
        </p:nvGrpSpPr>
        <p:grpSpPr>
          <a:xfrm rot="0">
            <a:off x="9134324" y="8888007"/>
            <a:ext cx="2189575" cy="571324"/>
            <a:chOff x="0" y="0"/>
            <a:chExt cx="2336266" cy="609600"/>
          </a:xfrm>
        </p:grpSpPr>
        <p:sp>
          <p:nvSpPr>
            <p:cNvPr name="Freeform 76" id="76"/>
            <p:cNvSpPr/>
            <p:nvPr/>
          </p:nvSpPr>
          <p:spPr>
            <a:xfrm flipH="false" flipV="false" rot="0">
              <a:off x="0" y="0"/>
              <a:ext cx="2336267" cy="609600"/>
            </a:xfrm>
            <a:custGeom>
              <a:avLst/>
              <a:gdLst/>
              <a:ahLst/>
              <a:cxnLst/>
              <a:rect r="r" b="b" t="t" l="l"/>
              <a:pathLst>
                <a:path h="609600" w="2336267">
                  <a:moveTo>
                    <a:pt x="203200" y="0"/>
                  </a:moveTo>
                  <a:lnTo>
                    <a:pt x="2336267" y="0"/>
                  </a:lnTo>
                  <a:lnTo>
                    <a:pt x="2133067" y="609600"/>
                  </a:lnTo>
                  <a:lnTo>
                    <a:pt x="0" y="609600"/>
                  </a:lnTo>
                  <a:lnTo>
                    <a:pt x="203200" y="0"/>
                  </a:lnTo>
                  <a:close/>
                </a:path>
              </a:pathLst>
            </a:custGeom>
            <a:gradFill rotWithShape="true">
              <a:gsLst>
                <a:gs pos="0">
                  <a:srgbClr val="DC2F02">
                    <a:alpha val="100000"/>
                  </a:srgbClr>
                </a:gs>
                <a:gs pos="100000">
                  <a:srgbClr val="DC2F02">
                    <a:alpha val="0"/>
                  </a:srgbClr>
                </a:gs>
              </a:gsLst>
              <a:lin ang="0"/>
            </a:gradFill>
          </p:spPr>
        </p:sp>
        <p:sp>
          <p:nvSpPr>
            <p:cNvPr name="TextBox 77" id="77"/>
            <p:cNvSpPr txBox="true"/>
            <p:nvPr/>
          </p:nvSpPr>
          <p:spPr>
            <a:xfrm>
              <a:off x="101600" y="-38100"/>
              <a:ext cx="2133066"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78" id="78"/>
          <p:cNvGrpSpPr/>
          <p:nvPr/>
        </p:nvGrpSpPr>
        <p:grpSpPr>
          <a:xfrm rot="0">
            <a:off x="9134324" y="4599955"/>
            <a:ext cx="2189575" cy="571324"/>
            <a:chOff x="0" y="0"/>
            <a:chExt cx="2336266" cy="609600"/>
          </a:xfrm>
        </p:grpSpPr>
        <p:sp>
          <p:nvSpPr>
            <p:cNvPr name="Freeform 79" id="79"/>
            <p:cNvSpPr/>
            <p:nvPr/>
          </p:nvSpPr>
          <p:spPr>
            <a:xfrm flipH="false" flipV="false" rot="0">
              <a:off x="0" y="0"/>
              <a:ext cx="2336267" cy="609600"/>
            </a:xfrm>
            <a:custGeom>
              <a:avLst/>
              <a:gdLst/>
              <a:ahLst/>
              <a:cxnLst/>
              <a:rect r="r" b="b" t="t" l="l"/>
              <a:pathLst>
                <a:path h="609600" w="2336267">
                  <a:moveTo>
                    <a:pt x="203200" y="0"/>
                  </a:moveTo>
                  <a:lnTo>
                    <a:pt x="2336267" y="0"/>
                  </a:lnTo>
                  <a:lnTo>
                    <a:pt x="2133067" y="609600"/>
                  </a:lnTo>
                  <a:lnTo>
                    <a:pt x="0" y="609600"/>
                  </a:lnTo>
                  <a:lnTo>
                    <a:pt x="203200" y="0"/>
                  </a:lnTo>
                  <a:close/>
                </a:path>
              </a:pathLst>
            </a:custGeom>
            <a:gradFill rotWithShape="true">
              <a:gsLst>
                <a:gs pos="0">
                  <a:srgbClr val="DC2F02">
                    <a:alpha val="100000"/>
                  </a:srgbClr>
                </a:gs>
                <a:gs pos="100000">
                  <a:srgbClr val="DC2F02">
                    <a:alpha val="0"/>
                  </a:srgbClr>
                </a:gs>
              </a:gsLst>
              <a:lin ang="0"/>
            </a:gradFill>
          </p:spPr>
        </p:sp>
        <p:sp>
          <p:nvSpPr>
            <p:cNvPr name="TextBox 80" id="80"/>
            <p:cNvSpPr txBox="true"/>
            <p:nvPr/>
          </p:nvSpPr>
          <p:spPr>
            <a:xfrm>
              <a:off x="101600" y="-38100"/>
              <a:ext cx="2133066" cy="647700"/>
            </a:xfrm>
            <a:prstGeom prst="rect">
              <a:avLst/>
            </a:prstGeom>
          </p:spPr>
          <p:txBody>
            <a:bodyPr anchor="ctr" rtlCol="false" tIns="50800" lIns="50800" bIns="50800" rIns="50800"/>
            <a:lstStyle/>
            <a:p>
              <a:pPr algn="ctr">
                <a:lnSpc>
                  <a:spcPts val="2659"/>
                </a:lnSpc>
                <a:spcBef>
                  <a:spcPct val="0"/>
                </a:spcBef>
              </a:pPr>
            </a:p>
          </p:txBody>
        </p:sp>
      </p:grpSp>
      <p:sp>
        <p:nvSpPr>
          <p:cNvPr name="TextBox 81" id="81"/>
          <p:cNvSpPr txBox="true"/>
          <p:nvPr/>
        </p:nvSpPr>
        <p:spPr>
          <a:xfrm rot="0">
            <a:off x="1450435" y="1750710"/>
            <a:ext cx="7683889" cy="1026160"/>
          </a:xfrm>
          <a:prstGeom prst="rect">
            <a:avLst/>
          </a:prstGeom>
        </p:spPr>
        <p:txBody>
          <a:bodyPr anchor="t" rtlCol="false" tIns="0" lIns="0" bIns="0" rIns="0">
            <a:spAutoFit/>
          </a:bodyPr>
          <a:lstStyle/>
          <a:p>
            <a:pPr algn="l">
              <a:lnSpc>
                <a:spcPts val="7400"/>
              </a:lnSpc>
            </a:pPr>
            <a:r>
              <a:rPr lang="en-US" b="true" sz="7400" i="true">
                <a:solidFill>
                  <a:srgbClr val="DC2F02"/>
                </a:solidFill>
                <a:latin typeface="Ubuntu Bold Italics"/>
                <a:ea typeface="Ubuntu Bold Italics"/>
                <a:cs typeface="Ubuntu Bold Italics"/>
                <a:sym typeface="Ubuntu Bold Italics"/>
              </a:rPr>
              <a:t>SQL ANALYSIS </a:t>
            </a:r>
          </a:p>
        </p:txBody>
      </p:sp>
      <p:sp>
        <p:nvSpPr>
          <p:cNvPr name="TextBox 82" id="82"/>
          <p:cNvSpPr txBox="true"/>
          <p:nvPr/>
        </p:nvSpPr>
        <p:spPr>
          <a:xfrm rot="0">
            <a:off x="1632794" y="2954620"/>
            <a:ext cx="6051681" cy="2053590"/>
          </a:xfrm>
          <a:prstGeom prst="rect">
            <a:avLst/>
          </a:prstGeom>
        </p:spPr>
        <p:txBody>
          <a:bodyPr anchor="t" rtlCol="false" tIns="0" lIns="0" bIns="0" rIns="0">
            <a:spAutoFit/>
          </a:bodyPr>
          <a:lstStyle/>
          <a:p>
            <a:pPr algn="l">
              <a:lnSpc>
                <a:spcPts val="2340"/>
              </a:lnSpc>
            </a:pPr>
            <a:r>
              <a:rPr lang="en-US" sz="1800" i="true" spc="44">
                <a:solidFill>
                  <a:srgbClr val="F5F3F4"/>
                </a:solidFill>
                <a:latin typeface="Canva Sans Italics"/>
                <a:ea typeface="Canva Sans Italics"/>
                <a:cs typeface="Canva Sans Italics"/>
                <a:sym typeface="Canva Sans Italics"/>
              </a:rPr>
              <a:t>Total electronic vehicle sales :</a:t>
            </a:r>
          </a:p>
          <a:p>
            <a:pPr algn="l">
              <a:lnSpc>
                <a:spcPts val="2340"/>
              </a:lnSpc>
            </a:pPr>
            <a:r>
              <a:rPr lang="en-US" sz="1800" i="true" spc="44">
                <a:solidFill>
                  <a:srgbClr val="F5F3F4"/>
                </a:solidFill>
                <a:latin typeface="Canva Sans Italics"/>
                <a:ea typeface="Canva Sans Italics"/>
                <a:cs typeface="Canva Sans Italics"/>
                <a:sym typeface="Canva Sans Italics"/>
              </a:rPr>
              <a:t>SELECT SUM(c8) AS Total_Sales</a:t>
            </a:r>
          </a:p>
          <a:p>
            <a:pPr algn="l">
              <a:lnSpc>
                <a:spcPts val="2340"/>
              </a:lnSpc>
            </a:pPr>
            <a:r>
              <a:rPr lang="en-US" sz="1800" i="true" spc="44">
                <a:solidFill>
                  <a:srgbClr val="F5F3F4"/>
                </a:solidFill>
                <a:latin typeface="Canva Sans Italics"/>
                <a:ea typeface="Canva Sans Italics"/>
                <a:cs typeface="Canva Sans Italics"/>
                <a:sym typeface="Canva Sans Italics"/>
              </a:rPr>
              <a:t>FROM EVsales;</a:t>
            </a:r>
          </a:p>
          <a:p>
            <a:pPr algn="l">
              <a:lnSpc>
                <a:spcPts val="2340"/>
              </a:lnSpc>
            </a:pPr>
          </a:p>
          <a:p>
            <a:pPr algn="l">
              <a:lnSpc>
                <a:spcPts val="2340"/>
              </a:lnSpc>
            </a:pPr>
          </a:p>
          <a:p>
            <a:pPr algn="l">
              <a:lnSpc>
                <a:spcPts val="2340"/>
              </a:lnSpc>
            </a:pPr>
            <a:r>
              <a:rPr lang="en-US" sz="1800" i="true" spc="44">
                <a:solidFill>
                  <a:srgbClr val="F5F3F4"/>
                </a:solidFill>
                <a:latin typeface="Canva Sans Italics"/>
                <a:ea typeface="Canva Sans Italics"/>
                <a:cs typeface="Canva Sans Italics"/>
                <a:sym typeface="Canva Sans Italics"/>
              </a:rPr>
              <a:t>result : 3593811</a:t>
            </a:r>
          </a:p>
          <a:p>
            <a:pPr algn="l">
              <a:lnSpc>
                <a:spcPts val="2340"/>
              </a:lnSpc>
            </a:pPr>
          </a:p>
        </p:txBody>
      </p:sp>
      <p:sp>
        <p:nvSpPr>
          <p:cNvPr name="TextBox 83" id="83"/>
          <p:cNvSpPr txBox="true"/>
          <p:nvPr/>
        </p:nvSpPr>
        <p:spPr>
          <a:xfrm rot="0">
            <a:off x="1450435" y="8992000"/>
            <a:ext cx="1420847" cy="326959"/>
          </a:xfrm>
          <a:prstGeom prst="rect">
            <a:avLst/>
          </a:prstGeom>
        </p:spPr>
        <p:txBody>
          <a:bodyPr anchor="t" rtlCol="false" tIns="0" lIns="0" bIns="0" rIns="0">
            <a:spAutoFit/>
          </a:bodyPr>
          <a:lstStyle/>
          <a:p>
            <a:pPr algn="l">
              <a:lnSpc>
                <a:spcPts val="2599"/>
              </a:lnSpc>
            </a:pPr>
            <a:r>
              <a:rPr lang="en-US" sz="1999" i="true" spc="49">
                <a:solidFill>
                  <a:srgbClr val="F5F3F4"/>
                </a:solidFill>
                <a:latin typeface="Ubuntu Italics"/>
                <a:ea typeface="Ubuntu Italics"/>
                <a:cs typeface="Ubuntu Italics"/>
                <a:sym typeface="Ubuntu Italics"/>
              </a:rPr>
              <a:t>TYPE B</a:t>
            </a:r>
          </a:p>
        </p:txBody>
      </p:sp>
      <p:sp>
        <p:nvSpPr>
          <p:cNvPr name="TextBox 84" id="84"/>
          <p:cNvSpPr txBox="true"/>
          <p:nvPr/>
        </p:nvSpPr>
        <p:spPr>
          <a:xfrm rot="0">
            <a:off x="9556059" y="8992000"/>
            <a:ext cx="1420847" cy="326959"/>
          </a:xfrm>
          <a:prstGeom prst="rect">
            <a:avLst/>
          </a:prstGeom>
        </p:spPr>
        <p:txBody>
          <a:bodyPr anchor="t" rtlCol="false" tIns="0" lIns="0" bIns="0" rIns="0">
            <a:spAutoFit/>
          </a:bodyPr>
          <a:lstStyle/>
          <a:p>
            <a:pPr algn="l">
              <a:lnSpc>
                <a:spcPts val="2599"/>
              </a:lnSpc>
            </a:pPr>
            <a:r>
              <a:rPr lang="en-US" sz="1999" i="true" spc="49">
                <a:solidFill>
                  <a:srgbClr val="F5F3F4"/>
                </a:solidFill>
                <a:latin typeface="Ubuntu Italics"/>
                <a:ea typeface="Ubuntu Italics"/>
                <a:cs typeface="Ubuntu Italics"/>
                <a:sym typeface="Ubuntu Italics"/>
              </a:rPr>
              <a:t>TYPE C</a:t>
            </a:r>
          </a:p>
        </p:txBody>
      </p:sp>
      <p:sp>
        <p:nvSpPr>
          <p:cNvPr name="TextBox 85" id="85"/>
          <p:cNvSpPr txBox="true"/>
          <p:nvPr/>
        </p:nvSpPr>
        <p:spPr>
          <a:xfrm rot="0">
            <a:off x="9556059" y="4703947"/>
            <a:ext cx="1420847" cy="326959"/>
          </a:xfrm>
          <a:prstGeom prst="rect">
            <a:avLst/>
          </a:prstGeom>
        </p:spPr>
        <p:txBody>
          <a:bodyPr anchor="t" rtlCol="false" tIns="0" lIns="0" bIns="0" rIns="0">
            <a:spAutoFit/>
          </a:bodyPr>
          <a:lstStyle/>
          <a:p>
            <a:pPr algn="l">
              <a:lnSpc>
                <a:spcPts val="2599"/>
              </a:lnSpc>
            </a:pPr>
            <a:r>
              <a:rPr lang="en-US" sz="1999" i="true" spc="49">
                <a:solidFill>
                  <a:srgbClr val="F5F3F4"/>
                </a:solidFill>
                <a:latin typeface="Ubuntu Italics"/>
                <a:ea typeface="Ubuntu Italics"/>
                <a:cs typeface="Ubuntu Italics"/>
                <a:sym typeface="Ubuntu Italics"/>
              </a:rPr>
              <a:t>TYPE 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61A1D"/>
        </a:solidFill>
      </p:bgPr>
    </p:bg>
    <p:spTree>
      <p:nvGrpSpPr>
        <p:cNvPr id="1" name=""/>
        <p:cNvGrpSpPr/>
        <p:nvPr/>
      </p:nvGrpSpPr>
      <p:grpSpPr>
        <a:xfrm>
          <a:off x="0" y="0"/>
          <a:ext cx="0" cy="0"/>
          <a:chOff x="0" y="0"/>
          <a:chExt cx="0" cy="0"/>
        </a:xfrm>
      </p:grpSpPr>
      <p:grpSp>
        <p:nvGrpSpPr>
          <p:cNvPr name="Group 2" id="2"/>
          <p:cNvGrpSpPr/>
          <p:nvPr/>
        </p:nvGrpSpPr>
        <p:grpSpPr>
          <a:xfrm rot="0">
            <a:off x="1954177" y="734060"/>
            <a:ext cx="8576782" cy="3907705"/>
            <a:chOff x="0" y="0"/>
            <a:chExt cx="1337974" cy="609600"/>
          </a:xfrm>
        </p:grpSpPr>
        <p:sp>
          <p:nvSpPr>
            <p:cNvPr name="Freeform 3" id="3"/>
            <p:cNvSpPr/>
            <p:nvPr/>
          </p:nvSpPr>
          <p:spPr>
            <a:xfrm flipH="false" flipV="false" rot="0">
              <a:off x="0" y="0"/>
              <a:ext cx="1337974" cy="609600"/>
            </a:xfrm>
            <a:custGeom>
              <a:avLst/>
              <a:gdLst/>
              <a:ahLst/>
              <a:cxnLst/>
              <a:rect r="r" b="b" t="t" l="l"/>
              <a:pathLst>
                <a:path h="609600" w="1337974">
                  <a:moveTo>
                    <a:pt x="203200" y="0"/>
                  </a:moveTo>
                  <a:lnTo>
                    <a:pt x="1337974" y="0"/>
                  </a:lnTo>
                  <a:lnTo>
                    <a:pt x="1134774" y="609600"/>
                  </a:lnTo>
                  <a:lnTo>
                    <a:pt x="0" y="609600"/>
                  </a:lnTo>
                  <a:lnTo>
                    <a:pt x="203200" y="0"/>
                  </a:lnTo>
                  <a:close/>
                </a:path>
              </a:pathLst>
            </a:custGeom>
            <a:solidFill>
              <a:srgbClr val="000000">
                <a:alpha val="0"/>
              </a:srgbClr>
            </a:solidFill>
            <a:ln w="28575" cap="sq">
              <a:gradFill>
                <a:gsLst>
                  <a:gs pos="0">
                    <a:srgbClr val="F5F3F4">
                      <a:alpha val="100000"/>
                    </a:srgbClr>
                  </a:gs>
                  <a:gs pos="100000">
                    <a:srgbClr val="F5F3F4">
                      <a:alpha val="0"/>
                    </a:srgbClr>
                  </a:gs>
                </a:gsLst>
                <a:lin ang="0"/>
              </a:gradFill>
              <a:prstDash val="solid"/>
              <a:miter/>
            </a:ln>
          </p:spPr>
        </p:sp>
        <p:sp>
          <p:nvSpPr>
            <p:cNvPr name="TextBox 4" id="4"/>
            <p:cNvSpPr txBox="true"/>
            <p:nvPr/>
          </p:nvSpPr>
          <p:spPr>
            <a:xfrm>
              <a:off x="101600" y="-38100"/>
              <a:ext cx="113477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54177" y="5304901"/>
            <a:ext cx="8576782" cy="3907705"/>
            <a:chOff x="0" y="0"/>
            <a:chExt cx="1337974" cy="609600"/>
          </a:xfrm>
        </p:grpSpPr>
        <p:sp>
          <p:nvSpPr>
            <p:cNvPr name="Freeform 6" id="6"/>
            <p:cNvSpPr/>
            <p:nvPr/>
          </p:nvSpPr>
          <p:spPr>
            <a:xfrm flipH="false" flipV="false" rot="0">
              <a:off x="0" y="0"/>
              <a:ext cx="1337974" cy="609600"/>
            </a:xfrm>
            <a:custGeom>
              <a:avLst/>
              <a:gdLst/>
              <a:ahLst/>
              <a:cxnLst/>
              <a:rect r="r" b="b" t="t" l="l"/>
              <a:pathLst>
                <a:path h="609600" w="1337974">
                  <a:moveTo>
                    <a:pt x="203200" y="0"/>
                  </a:moveTo>
                  <a:lnTo>
                    <a:pt x="1337974" y="0"/>
                  </a:lnTo>
                  <a:lnTo>
                    <a:pt x="1134774" y="609600"/>
                  </a:lnTo>
                  <a:lnTo>
                    <a:pt x="0" y="609600"/>
                  </a:lnTo>
                  <a:lnTo>
                    <a:pt x="203200" y="0"/>
                  </a:lnTo>
                  <a:close/>
                </a:path>
              </a:pathLst>
            </a:custGeom>
            <a:solidFill>
              <a:srgbClr val="000000">
                <a:alpha val="0"/>
              </a:srgbClr>
            </a:solidFill>
            <a:ln w="28575" cap="sq">
              <a:gradFill>
                <a:gsLst>
                  <a:gs pos="0">
                    <a:srgbClr val="F5F3F4">
                      <a:alpha val="100000"/>
                    </a:srgbClr>
                  </a:gs>
                  <a:gs pos="100000">
                    <a:srgbClr val="F5F3F4">
                      <a:alpha val="0"/>
                    </a:srgbClr>
                  </a:gs>
                </a:gsLst>
                <a:lin ang="0"/>
              </a:gradFill>
              <a:prstDash val="solid"/>
              <a:miter/>
            </a:ln>
          </p:spPr>
        </p:sp>
        <p:sp>
          <p:nvSpPr>
            <p:cNvPr name="TextBox 7" id="7"/>
            <p:cNvSpPr txBox="true"/>
            <p:nvPr/>
          </p:nvSpPr>
          <p:spPr>
            <a:xfrm>
              <a:off x="101600" y="-38100"/>
              <a:ext cx="113477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531753" y="1028700"/>
            <a:ext cx="8576782" cy="3907705"/>
            <a:chOff x="0" y="0"/>
            <a:chExt cx="1337974" cy="609600"/>
          </a:xfrm>
        </p:grpSpPr>
        <p:sp>
          <p:nvSpPr>
            <p:cNvPr name="Freeform 9" id="9"/>
            <p:cNvSpPr/>
            <p:nvPr/>
          </p:nvSpPr>
          <p:spPr>
            <a:xfrm flipH="false" flipV="false" rot="0">
              <a:off x="0" y="0"/>
              <a:ext cx="1337974" cy="609600"/>
            </a:xfrm>
            <a:custGeom>
              <a:avLst/>
              <a:gdLst/>
              <a:ahLst/>
              <a:cxnLst/>
              <a:rect r="r" b="b" t="t" l="l"/>
              <a:pathLst>
                <a:path h="609600" w="1337974">
                  <a:moveTo>
                    <a:pt x="203200" y="0"/>
                  </a:moveTo>
                  <a:lnTo>
                    <a:pt x="1337974" y="0"/>
                  </a:lnTo>
                  <a:lnTo>
                    <a:pt x="1134774" y="609600"/>
                  </a:lnTo>
                  <a:lnTo>
                    <a:pt x="0" y="609600"/>
                  </a:lnTo>
                  <a:lnTo>
                    <a:pt x="203200" y="0"/>
                  </a:lnTo>
                  <a:close/>
                </a:path>
              </a:pathLst>
            </a:custGeom>
            <a:gradFill rotWithShape="true">
              <a:gsLst>
                <a:gs pos="0">
                  <a:srgbClr val="DC2F02">
                    <a:alpha val="100000"/>
                  </a:srgbClr>
                </a:gs>
                <a:gs pos="100000">
                  <a:srgbClr val="DC2F02">
                    <a:alpha val="0"/>
                  </a:srgbClr>
                </a:gs>
              </a:gsLst>
              <a:lin ang="0"/>
            </a:gradFill>
          </p:spPr>
        </p:sp>
        <p:sp>
          <p:nvSpPr>
            <p:cNvPr name="TextBox 10" id="10"/>
            <p:cNvSpPr txBox="true"/>
            <p:nvPr/>
          </p:nvSpPr>
          <p:spPr>
            <a:xfrm>
              <a:off x="101600" y="-38100"/>
              <a:ext cx="1134774"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531753" y="5584622"/>
            <a:ext cx="8438286" cy="3844604"/>
            <a:chOff x="0" y="0"/>
            <a:chExt cx="1337974" cy="609600"/>
          </a:xfrm>
        </p:grpSpPr>
        <p:sp>
          <p:nvSpPr>
            <p:cNvPr name="Freeform 12" id="12"/>
            <p:cNvSpPr/>
            <p:nvPr/>
          </p:nvSpPr>
          <p:spPr>
            <a:xfrm flipH="false" flipV="false" rot="0">
              <a:off x="0" y="0"/>
              <a:ext cx="1337974" cy="609600"/>
            </a:xfrm>
            <a:custGeom>
              <a:avLst/>
              <a:gdLst/>
              <a:ahLst/>
              <a:cxnLst/>
              <a:rect r="r" b="b" t="t" l="l"/>
              <a:pathLst>
                <a:path h="609600" w="1337974">
                  <a:moveTo>
                    <a:pt x="203200" y="0"/>
                  </a:moveTo>
                  <a:lnTo>
                    <a:pt x="1337974" y="0"/>
                  </a:lnTo>
                  <a:lnTo>
                    <a:pt x="1134774" y="609600"/>
                  </a:lnTo>
                  <a:lnTo>
                    <a:pt x="0" y="609600"/>
                  </a:lnTo>
                  <a:lnTo>
                    <a:pt x="203200" y="0"/>
                  </a:lnTo>
                  <a:close/>
                </a:path>
              </a:pathLst>
            </a:custGeom>
            <a:gradFill rotWithShape="true">
              <a:gsLst>
                <a:gs pos="0">
                  <a:srgbClr val="DC2F02">
                    <a:alpha val="100000"/>
                  </a:srgbClr>
                </a:gs>
                <a:gs pos="100000">
                  <a:srgbClr val="DC2F02">
                    <a:alpha val="0"/>
                  </a:srgbClr>
                </a:gs>
              </a:gsLst>
              <a:lin ang="0"/>
            </a:gradFill>
          </p:spPr>
        </p:sp>
        <p:sp>
          <p:nvSpPr>
            <p:cNvPr name="TextBox 13" id="13"/>
            <p:cNvSpPr txBox="true"/>
            <p:nvPr/>
          </p:nvSpPr>
          <p:spPr>
            <a:xfrm>
              <a:off x="101600" y="-38100"/>
              <a:ext cx="1134774"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2141488" y="9536587"/>
            <a:ext cx="574689" cy="555097"/>
          </a:xfrm>
          <a:custGeom>
            <a:avLst/>
            <a:gdLst/>
            <a:ahLst/>
            <a:cxnLst/>
            <a:rect r="r" b="b" t="t" l="l"/>
            <a:pathLst>
              <a:path h="555097" w="574689">
                <a:moveTo>
                  <a:pt x="0" y="0"/>
                </a:moveTo>
                <a:lnTo>
                  <a:pt x="574689" y="0"/>
                </a:lnTo>
                <a:lnTo>
                  <a:pt x="574689" y="555097"/>
                </a:lnTo>
                <a:lnTo>
                  <a:pt x="0" y="5550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2925727" y="9536587"/>
            <a:ext cx="719677" cy="448817"/>
          </a:xfrm>
          <a:custGeom>
            <a:avLst/>
            <a:gdLst/>
            <a:ahLst/>
            <a:cxnLst/>
            <a:rect r="r" b="b" t="t" l="l"/>
            <a:pathLst>
              <a:path h="448817" w="719677">
                <a:moveTo>
                  <a:pt x="0" y="0"/>
                </a:moveTo>
                <a:lnTo>
                  <a:pt x="719677" y="0"/>
                </a:lnTo>
                <a:lnTo>
                  <a:pt x="719677" y="448817"/>
                </a:lnTo>
                <a:lnTo>
                  <a:pt x="0" y="4488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3859369" y="9483447"/>
            <a:ext cx="702484" cy="501957"/>
          </a:xfrm>
          <a:custGeom>
            <a:avLst/>
            <a:gdLst/>
            <a:ahLst/>
            <a:cxnLst/>
            <a:rect r="r" b="b" t="t" l="l"/>
            <a:pathLst>
              <a:path h="501957" w="702484">
                <a:moveTo>
                  <a:pt x="0" y="0"/>
                </a:moveTo>
                <a:lnTo>
                  <a:pt x="702484" y="0"/>
                </a:lnTo>
                <a:lnTo>
                  <a:pt x="702484" y="501957"/>
                </a:lnTo>
                <a:lnTo>
                  <a:pt x="0" y="5019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true" flipV="false" rot="0">
            <a:off x="14771403" y="9467421"/>
            <a:ext cx="555097" cy="555097"/>
          </a:xfrm>
          <a:custGeom>
            <a:avLst/>
            <a:gdLst/>
            <a:ahLst/>
            <a:cxnLst/>
            <a:rect r="r" b="b" t="t" l="l"/>
            <a:pathLst>
              <a:path h="555097" w="555097">
                <a:moveTo>
                  <a:pt x="555097" y="0"/>
                </a:moveTo>
                <a:lnTo>
                  <a:pt x="0" y="0"/>
                </a:lnTo>
                <a:lnTo>
                  <a:pt x="0" y="555097"/>
                </a:lnTo>
                <a:lnTo>
                  <a:pt x="555097" y="555097"/>
                </a:lnTo>
                <a:lnTo>
                  <a:pt x="555097"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8" id="18"/>
          <p:cNvGrpSpPr/>
          <p:nvPr/>
        </p:nvGrpSpPr>
        <p:grpSpPr>
          <a:xfrm rot="0">
            <a:off x="16031109" y="-1350589"/>
            <a:ext cx="1971087" cy="2723734"/>
            <a:chOff x="0" y="0"/>
            <a:chExt cx="2628117" cy="3631646"/>
          </a:xfrm>
        </p:grpSpPr>
        <p:grpSp>
          <p:nvGrpSpPr>
            <p:cNvPr name="Group 19" id="19"/>
            <p:cNvGrpSpPr/>
            <p:nvPr/>
          </p:nvGrpSpPr>
          <p:grpSpPr>
            <a:xfrm rot="0">
              <a:off x="547992" y="808229"/>
              <a:ext cx="2080125" cy="2823417"/>
              <a:chOff x="0" y="0"/>
              <a:chExt cx="449117" cy="609600"/>
            </a:xfrm>
          </p:grpSpPr>
          <p:sp>
            <p:nvSpPr>
              <p:cNvPr name="Freeform 20" id="20"/>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21" id="21"/>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22" id="22"/>
            <p:cNvGrpSpPr/>
            <p:nvPr/>
          </p:nvGrpSpPr>
          <p:grpSpPr>
            <a:xfrm rot="0">
              <a:off x="360772" y="424960"/>
              <a:ext cx="2080125" cy="2823417"/>
              <a:chOff x="0" y="0"/>
              <a:chExt cx="449117" cy="609600"/>
            </a:xfrm>
          </p:grpSpPr>
          <p:sp>
            <p:nvSpPr>
              <p:cNvPr name="Freeform 23" id="23"/>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24" id="24"/>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25" id="25"/>
            <p:cNvGrpSpPr/>
            <p:nvPr/>
          </p:nvGrpSpPr>
          <p:grpSpPr>
            <a:xfrm rot="0">
              <a:off x="0" y="0"/>
              <a:ext cx="2308833" cy="3133850"/>
              <a:chOff x="0" y="0"/>
              <a:chExt cx="449117" cy="609600"/>
            </a:xfrm>
          </p:grpSpPr>
          <p:sp>
            <p:nvSpPr>
              <p:cNvPr name="Freeform 26" id="26"/>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27" id="27"/>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28" id="28"/>
          <p:cNvGrpSpPr/>
          <p:nvPr/>
        </p:nvGrpSpPr>
        <p:grpSpPr>
          <a:xfrm rot="0">
            <a:off x="16980350" y="-172762"/>
            <a:ext cx="1971087" cy="2723734"/>
            <a:chOff x="0" y="0"/>
            <a:chExt cx="2628117" cy="3631646"/>
          </a:xfrm>
        </p:grpSpPr>
        <p:grpSp>
          <p:nvGrpSpPr>
            <p:cNvPr name="Group 29" id="29"/>
            <p:cNvGrpSpPr/>
            <p:nvPr/>
          </p:nvGrpSpPr>
          <p:grpSpPr>
            <a:xfrm rot="0">
              <a:off x="547992" y="808229"/>
              <a:ext cx="2080125" cy="2823417"/>
              <a:chOff x="0" y="0"/>
              <a:chExt cx="449117" cy="609600"/>
            </a:xfrm>
          </p:grpSpPr>
          <p:sp>
            <p:nvSpPr>
              <p:cNvPr name="Freeform 30" id="30"/>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31" id="31"/>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32" id="32"/>
            <p:cNvGrpSpPr/>
            <p:nvPr/>
          </p:nvGrpSpPr>
          <p:grpSpPr>
            <a:xfrm rot="0">
              <a:off x="360772" y="424960"/>
              <a:ext cx="2080125" cy="2823417"/>
              <a:chOff x="0" y="0"/>
              <a:chExt cx="449117" cy="609600"/>
            </a:xfrm>
          </p:grpSpPr>
          <p:sp>
            <p:nvSpPr>
              <p:cNvPr name="Freeform 33" id="33"/>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34" id="34"/>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35" id="35"/>
            <p:cNvGrpSpPr/>
            <p:nvPr/>
          </p:nvGrpSpPr>
          <p:grpSpPr>
            <a:xfrm rot="0">
              <a:off x="0" y="0"/>
              <a:ext cx="2308833" cy="3133850"/>
              <a:chOff x="0" y="0"/>
              <a:chExt cx="449117" cy="609600"/>
            </a:xfrm>
          </p:grpSpPr>
          <p:sp>
            <p:nvSpPr>
              <p:cNvPr name="Freeform 36" id="36"/>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37" id="37"/>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38" id="38"/>
          <p:cNvGrpSpPr/>
          <p:nvPr/>
        </p:nvGrpSpPr>
        <p:grpSpPr>
          <a:xfrm rot="0">
            <a:off x="238697" y="0"/>
            <a:ext cx="705305" cy="10287000"/>
            <a:chOff x="0" y="0"/>
            <a:chExt cx="185759" cy="2709333"/>
          </a:xfrm>
        </p:grpSpPr>
        <p:sp>
          <p:nvSpPr>
            <p:cNvPr name="Freeform 39" id="39"/>
            <p:cNvSpPr/>
            <p:nvPr/>
          </p:nvSpPr>
          <p:spPr>
            <a:xfrm flipH="false" flipV="false" rot="0">
              <a:off x="0" y="0"/>
              <a:ext cx="185759" cy="2709333"/>
            </a:xfrm>
            <a:custGeom>
              <a:avLst/>
              <a:gdLst/>
              <a:ahLst/>
              <a:cxnLst/>
              <a:rect r="r" b="b" t="t" l="l"/>
              <a:pathLst>
                <a:path h="2709333" w="185759">
                  <a:moveTo>
                    <a:pt x="0" y="0"/>
                  </a:moveTo>
                  <a:lnTo>
                    <a:pt x="185759" y="0"/>
                  </a:lnTo>
                  <a:lnTo>
                    <a:pt x="185759" y="2709333"/>
                  </a:lnTo>
                  <a:lnTo>
                    <a:pt x="0" y="2709333"/>
                  </a:lnTo>
                  <a:close/>
                </a:path>
              </a:pathLst>
            </a:custGeom>
            <a:gradFill rotWithShape="true">
              <a:gsLst>
                <a:gs pos="0">
                  <a:srgbClr val="DC2F02">
                    <a:alpha val="100000"/>
                  </a:srgbClr>
                </a:gs>
                <a:gs pos="100000">
                  <a:srgbClr val="DC2F02">
                    <a:alpha val="0"/>
                  </a:srgbClr>
                </a:gs>
              </a:gsLst>
              <a:path path="circle">
                <a:fillToRect l="50000" r="50000" t="50000" b="50000"/>
              </a:path>
            </a:gradFill>
          </p:spPr>
        </p:sp>
        <p:sp>
          <p:nvSpPr>
            <p:cNvPr name="TextBox 40" id="40"/>
            <p:cNvSpPr txBox="true"/>
            <p:nvPr/>
          </p:nvSpPr>
          <p:spPr>
            <a:xfrm>
              <a:off x="0" y="-38100"/>
              <a:ext cx="185759"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41" id="41"/>
          <p:cNvGrpSpPr/>
          <p:nvPr/>
        </p:nvGrpSpPr>
        <p:grpSpPr>
          <a:xfrm rot="0">
            <a:off x="238697" y="5288939"/>
            <a:ext cx="705305" cy="703087"/>
            <a:chOff x="0" y="0"/>
            <a:chExt cx="185759" cy="185175"/>
          </a:xfrm>
        </p:grpSpPr>
        <p:sp>
          <p:nvSpPr>
            <p:cNvPr name="Freeform 42" id="42"/>
            <p:cNvSpPr/>
            <p:nvPr/>
          </p:nvSpPr>
          <p:spPr>
            <a:xfrm flipH="false" flipV="false" rot="0">
              <a:off x="0" y="0"/>
              <a:ext cx="185759" cy="185175"/>
            </a:xfrm>
            <a:custGeom>
              <a:avLst/>
              <a:gdLst/>
              <a:ahLst/>
              <a:cxnLst/>
              <a:rect r="r" b="b" t="t" l="l"/>
              <a:pathLst>
                <a:path h="185175" w="185759">
                  <a:moveTo>
                    <a:pt x="0" y="0"/>
                  </a:moveTo>
                  <a:lnTo>
                    <a:pt x="185759" y="0"/>
                  </a:lnTo>
                  <a:lnTo>
                    <a:pt x="185759" y="185175"/>
                  </a:lnTo>
                  <a:lnTo>
                    <a:pt x="0" y="185175"/>
                  </a:lnTo>
                  <a:close/>
                </a:path>
              </a:pathLst>
            </a:custGeom>
            <a:solidFill>
              <a:srgbClr val="DC2F02"/>
            </a:solidFill>
          </p:spPr>
        </p:sp>
        <p:sp>
          <p:nvSpPr>
            <p:cNvPr name="TextBox 43" id="43"/>
            <p:cNvSpPr txBox="true"/>
            <p:nvPr/>
          </p:nvSpPr>
          <p:spPr>
            <a:xfrm>
              <a:off x="0" y="-38100"/>
              <a:ext cx="185759" cy="223275"/>
            </a:xfrm>
            <a:prstGeom prst="rect">
              <a:avLst/>
            </a:prstGeom>
          </p:spPr>
          <p:txBody>
            <a:bodyPr anchor="ctr" rtlCol="false" tIns="50800" lIns="50800" bIns="50800" rIns="50800"/>
            <a:lstStyle/>
            <a:p>
              <a:pPr algn="ctr">
                <a:lnSpc>
                  <a:spcPts val="2659"/>
                </a:lnSpc>
                <a:spcBef>
                  <a:spcPct val="0"/>
                </a:spcBef>
              </a:pPr>
            </a:p>
          </p:txBody>
        </p:sp>
      </p:grpSp>
      <p:sp>
        <p:nvSpPr>
          <p:cNvPr name="Freeform 44" id="44"/>
          <p:cNvSpPr/>
          <p:nvPr/>
        </p:nvSpPr>
        <p:spPr>
          <a:xfrm flipH="false" flipV="false" rot="0">
            <a:off x="375398" y="1028700"/>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5" id="45"/>
          <p:cNvSpPr/>
          <p:nvPr/>
        </p:nvSpPr>
        <p:spPr>
          <a:xfrm flipH="false" flipV="false" rot="0">
            <a:off x="412503" y="1923573"/>
            <a:ext cx="357692" cy="429543"/>
          </a:xfrm>
          <a:custGeom>
            <a:avLst/>
            <a:gdLst/>
            <a:ahLst/>
            <a:cxnLst/>
            <a:rect r="r" b="b" t="t" l="l"/>
            <a:pathLst>
              <a:path h="429543" w="357692">
                <a:moveTo>
                  <a:pt x="0" y="0"/>
                </a:moveTo>
                <a:lnTo>
                  <a:pt x="357692" y="0"/>
                </a:lnTo>
                <a:lnTo>
                  <a:pt x="357692" y="429543"/>
                </a:lnTo>
                <a:lnTo>
                  <a:pt x="0" y="42954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6" id="46"/>
          <p:cNvSpPr/>
          <p:nvPr/>
        </p:nvSpPr>
        <p:spPr>
          <a:xfrm flipH="false" flipV="false" rot="0">
            <a:off x="375398" y="2845928"/>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47" id="47"/>
          <p:cNvSpPr/>
          <p:nvPr/>
        </p:nvSpPr>
        <p:spPr>
          <a:xfrm flipH="false" flipV="false" rot="0">
            <a:off x="412503" y="3740801"/>
            <a:ext cx="357692" cy="344685"/>
          </a:xfrm>
          <a:custGeom>
            <a:avLst/>
            <a:gdLst/>
            <a:ahLst/>
            <a:cxnLst/>
            <a:rect r="r" b="b" t="t" l="l"/>
            <a:pathLst>
              <a:path h="344685" w="357692">
                <a:moveTo>
                  <a:pt x="0" y="0"/>
                </a:moveTo>
                <a:lnTo>
                  <a:pt x="357692" y="0"/>
                </a:lnTo>
                <a:lnTo>
                  <a:pt x="357692" y="344685"/>
                </a:lnTo>
                <a:lnTo>
                  <a:pt x="0" y="34468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48" id="48"/>
          <p:cNvSpPr/>
          <p:nvPr/>
        </p:nvSpPr>
        <p:spPr>
          <a:xfrm flipH="false" flipV="false" rot="0">
            <a:off x="412503" y="4578297"/>
            <a:ext cx="394797" cy="380441"/>
          </a:xfrm>
          <a:custGeom>
            <a:avLst/>
            <a:gdLst/>
            <a:ahLst/>
            <a:cxnLst/>
            <a:rect r="r" b="b" t="t" l="l"/>
            <a:pathLst>
              <a:path h="380441" w="394797">
                <a:moveTo>
                  <a:pt x="0" y="0"/>
                </a:moveTo>
                <a:lnTo>
                  <a:pt x="394797" y="0"/>
                </a:lnTo>
                <a:lnTo>
                  <a:pt x="394797" y="380441"/>
                </a:lnTo>
                <a:lnTo>
                  <a:pt x="0" y="38044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49" id="49"/>
          <p:cNvSpPr/>
          <p:nvPr/>
        </p:nvSpPr>
        <p:spPr>
          <a:xfrm flipH="false" flipV="false" rot="0">
            <a:off x="393950" y="8842103"/>
            <a:ext cx="431903" cy="416197"/>
          </a:xfrm>
          <a:custGeom>
            <a:avLst/>
            <a:gdLst/>
            <a:ahLst/>
            <a:cxnLst/>
            <a:rect r="r" b="b" t="t" l="l"/>
            <a:pathLst>
              <a:path h="416197" w="431903">
                <a:moveTo>
                  <a:pt x="0" y="0"/>
                </a:moveTo>
                <a:lnTo>
                  <a:pt x="431903" y="0"/>
                </a:lnTo>
                <a:lnTo>
                  <a:pt x="431903" y="416197"/>
                </a:lnTo>
                <a:lnTo>
                  <a:pt x="0" y="416197"/>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50" id="50"/>
          <p:cNvSpPr/>
          <p:nvPr/>
        </p:nvSpPr>
        <p:spPr>
          <a:xfrm flipH="false" flipV="false" rot="0">
            <a:off x="401032" y="5451550"/>
            <a:ext cx="380634" cy="377866"/>
          </a:xfrm>
          <a:custGeom>
            <a:avLst/>
            <a:gdLst/>
            <a:ahLst/>
            <a:cxnLst/>
            <a:rect r="r" b="b" t="t" l="l"/>
            <a:pathLst>
              <a:path h="377866" w="380634">
                <a:moveTo>
                  <a:pt x="0" y="0"/>
                </a:moveTo>
                <a:lnTo>
                  <a:pt x="380634" y="0"/>
                </a:lnTo>
                <a:lnTo>
                  <a:pt x="380634" y="377866"/>
                </a:lnTo>
                <a:lnTo>
                  <a:pt x="0" y="37786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51" id="51"/>
          <p:cNvSpPr/>
          <p:nvPr/>
        </p:nvSpPr>
        <p:spPr>
          <a:xfrm flipH="false" flipV="false" rot="0">
            <a:off x="393950" y="7171074"/>
            <a:ext cx="431903" cy="288197"/>
          </a:xfrm>
          <a:custGeom>
            <a:avLst/>
            <a:gdLst/>
            <a:ahLst/>
            <a:cxnLst/>
            <a:rect r="r" b="b" t="t" l="l"/>
            <a:pathLst>
              <a:path h="288197" w="431903">
                <a:moveTo>
                  <a:pt x="0" y="0"/>
                </a:moveTo>
                <a:lnTo>
                  <a:pt x="431903" y="0"/>
                </a:lnTo>
                <a:lnTo>
                  <a:pt x="431903" y="288196"/>
                </a:lnTo>
                <a:lnTo>
                  <a:pt x="0" y="288196"/>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52" id="52"/>
          <p:cNvSpPr/>
          <p:nvPr/>
        </p:nvSpPr>
        <p:spPr>
          <a:xfrm flipH="false" flipV="false" rot="0">
            <a:off x="412503" y="7952082"/>
            <a:ext cx="394797" cy="397210"/>
          </a:xfrm>
          <a:custGeom>
            <a:avLst/>
            <a:gdLst/>
            <a:ahLst/>
            <a:cxnLst/>
            <a:rect r="r" b="b" t="t" l="l"/>
            <a:pathLst>
              <a:path h="397210" w="394797">
                <a:moveTo>
                  <a:pt x="0" y="0"/>
                </a:moveTo>
                <a:lnTo>
                  <a:pt x="394797" y="0"/>
                </a:lnTo>
                <a:lnTo>
                  <a:pt x="394797" y="397210"/>
                </a:lnTo>
                <a:lnTo>
                  <a:pt x="0" y="397210"/>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53" id="53"/>
          <p:cNvSpPr/>
          <p:nvPr/>
        </p:nvSpPr>
        <p:spPr>
          <a:xfrm flipH="false" flipV="false" rot="0">
            <a:off x="412503" y="6322227"/>
            <a:ext cx="394797" cy="356035"/>
          </a:xfrm>
          <a:custGeom>
            <a:avLst/>
            <a:gdLst/>
            <a:ahLst/>
            <a:cxnLst/>
            <a:rect r="r" b="b" t="t" l="l"/>
            <a:pathLst>
              <a:path h="356035" w="394797">
                <a:moveTo>
                  <a:pt x="0" y="0"/>
                </a:moveTo>
                <a:lnTo>
                  <a:pt x="394797" y="0"/>
                </a:lnTo>
                <a:lnTo>
                  <a:pt x="394797" y="356035"/>
                </a:lnTo>
                <a:lnTo>
                  <a:pt x="0" y="356035"/>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54" id="54"/>
          <p:cNvSpPr/>
          <p:nvPr/>
        </p:nvSpPr>
        <p:spPr>
          <a:xfrm flipH="false" flipV="false" rot="0">
            <a:off x="3709380" y="1024050"/>
            <a:ext cx="4221529" cy="3643755"/>
          </a:xfrm>
          <a:custGeom>
            <a:avLst/>
            <a:gdLst/>
            <a:ahLst/>
            <a:cxnLst/>
            <a:rect r="r" b="b" t="t" l="l"/>
            <a:pathLst>
              <a:path h="3643755" w="4221529">
                <a:moveTo>
                  <a:pt x="0" y="0"/>
                </a:moveTo>
                <a:lnTo>
                  <a:pt x="4221529" y="0"/>
                </a:lnTo>
                <a:lnTo>
                  <a:pt x="4221529" y="3643755"/>
                </a:lnTo>
                <a:lnTo>
                  <a:pt x="0" y="3643755"/>
                </a:lnTo>
                <a:lnTo>
                  <a:pt x="0" y="0"/>
                </a:lnTo>
                <a:close/>
              </a:path>
            </a:pathLst>
          </a:custGeom>
          <a:blipFill>
            <a:blip r:embed="rId30"/>
            <a:stretch>
              <a:fillRect l="0" t="0" r="-61" b="0"/>
            </a:stretch>
          </a:blipFill>
        </p:spPr>
      </p:sp>
      <p:sp>
        <p:nvSpPr>
          <p:cNvPr name="Freeform 55" id="55"/>
          <p:cNvSpPr/>
          <p:nvPr/>
        </p:nvSpPr>
        <p:spPr>
          <a:xfrm flipH="false" flipV="false" rot="0">
            <a:off x="1531753" y="5347780"/>
            <a:ext cx="7298136" cy="4386646"/>
          </a:xfrm>
          <a:custGeom>
            <a:avLst/>
            <a:gdLst/>
            <a:ahLst/>
            <a:cxnLst/>
            <a:rect r="r" b="b" t="t" l="l"/>
            <a:pathLst>
              <a:path h="4386646" w="7298136">
                <a:moveTo>
                  <a:pt x="0" y="0"/>
                </a:moveTo>
                <a:lnTo>
                  <a:pt x="7298136" y="0"/>
                </a:lnTo>
                <a:lnTo>
                  <a:pt x="7298136" y="4386646"/>
                </a:lnTo>
                <a:lnTo>
                  <a:pt x="0" y="4386646"/>
                </a:lnTo>
                <a:lnTo>
                  <a:pt x="0" y="0"/>
                </a:lnTo>
                <a:close/>
              </a:path>
            </a:pathLst>
          </a:custGeom>
          <a:blipFill>
            <a:blip r:embed="rId31"/>
            <a:stretch>
              <a:fillRect l="0" t="0" r="0" b="0"/>
            </a:stretch>
          </a:blipFill>
        </p:spPr>
      </p:sp>
      <p:sp>
        <p:nvSpPr>
          <p:cNvPr name="TextBox 56" id="56"/>
          <p:cNvSpPr txBox="true"/>
          <p:nvPr/>
        </p:nvSpPr>
        <p:spPr>
          <a:xfrm rot="0">
            <a:off x="11254860" y="591362"/>
            <a:ext cx="5928994" cy="1959610"/>
          </a:xfrm>
          <a:prstGeom prst="rect">
            <a:avLst/>
          </a:prstGeom>
        </p:spPr>
        <p:txBody>
          <a:bodyPr anchor="t" rtlCol="false" tIns="0" lIns="0" bIns="0" rIns="0">
            <a:spAutoFit/>
          </a:bodyPr>
          <a:lstStyle/>
          <a:p>
            <a:pPr algn="l">
              <a:lnSpc>
                <a:spcPts val="7400"/>
              </a:lnSpc>
            </a:pPr>
            <a:r>
              <a:rPr lang="en-US" b="true" sz="7400" i="true">
                <a:solidFill>
                  <a:srgbClr val="DC2F02"/>
                </a:solidFill>
                <a:latin typeface="Ubuntu Bold Italics"/>
                <a:ea typeface="Ubuntu Bold Italics"/>
                <a:cs typeface="Ubuntu Bold Italics"/>
                <a:sym typeface="Ubuntu Bold Italics"/>
              </a:rPr>
              <a:t>NO OF STATES</a:t>
            </a:r>
          </a:p>
        </p:txBody>
      </p:sp>
      <p:sp>
        <p:nvSpPr>
          <p:cNvPr name="TextBox 57" id="57"/>
          <p:cNvSpPr txBox="true"/>
          <p:nvPr/>
        </p:nvSpPr>
        <p:spPr>
          <a:xfrm rot="0">
            <a:off x="11254860" y="2655633"/>
            <a:ext cx="6051681" cy="1758315"/>
          </a:xfrm>
          <a:prstGeom prst="rect">
            <a:avLst/>
          </a:prstGeom>
        </p:spPr>
        <p:txBody>
          <a:bodyPr anchor="t" rtlCol="false" tIns="0" lIns="0" bIns="0" rIns="0">
            <a:spAutoFit/>
          </a:bodyPr>
          <a:lstStyle/>
          <a:p>
            <a:pPr algn="l">
              <a:lnSpc>
                <a:spcPts val="2340"/>
              </a:lnSpc>
            </a:pPr>
            <a:r>
              <a:rPr lang="en-US" sz="1800" i="true" spc="44">
                <a:solidFill>
                  <a:srgbClr val="F5F3F4"/>
                </a:solidFill>
                <a:latin typeface="Canva Sans Italics"/>
                <a:ea typeface="Canva Sans Italics"/>
                <a:cs typeface="Canva Sans Italics"/>
                <a:sym typeface="Canva Sans Italics"/>
              </a:rPr>
              <a:t>Insights:</a:t>
            </a:r>
          </a:p>
          <a:p>
            <a:pPr algn="l">
              <a:lnSpc>
                <a:spcPts val="2340"/>
              </a:lnSpc>
            </a:pPr>
            <a:r>
              <a:rPr lang="en-US" sz="1800" i="true" spc="44">
                <a:solidFill>
                  <a:srgbClr val="F5F3F4"/>
                </a:solidFill>
                <a:latin typeface="Canva Sans Italics"/>
                <a:ea typeface="Canva Sans Italics"/>
                <a:cs typeface="Canva Sans Italics"/>
                <a:sym typeface="Canva Sans Italics"/>
              </a:rPr>
              <a:t>The dataset covers Electronic Vehicles sales across 35 states and union territories.</a:t>
            </a:r>
          </a:p>
          <a:p>
            <a:pPr algn="l">
              <a:lnSpc>
                <a:spcPts val="2340"/>
              </a:lnSpc>
            </a:pPr>
          </a:p>
          <a:p>
            <a:pPr algn="l">
              <a:lnSpc>
                <a:spcPts val="2340"/>
              </a:lnSpc>
            </a:pPr>
            <a:r>
              <a:rPr lang="en-US" sz="1800" i="true" spc="44">
                <a:solidFill>
                  <a:srgbClr val="F5F3F4"/>
                </a:solidFill>
                <a:latin typeface="Canva Sans Italics"/>
                <a:ea typeface="Canva Sans Italics"/>
                <a:cs typeface="Canva Sans Italics"/>
                <a:sym typeface="Canva Sans Italics"/>
              </a:rPr>
              <a:t>CODE: SELECT COUNT(DISTINCT c4) AS Number_of_States FROM EVsales;</a:t>
            </a:r>
          </a:p>
        </p:txBody>
      </p:sp>
      <p:sp>
        <p:nvSpPr>
          <p:cNvPr name="TextBox 58" id="58"/>
          <p:cNvSpPr txBox="true"/>
          <p:nvPr/>
        </p:nvSpPr>
        <p:spPr>
          <a:xfrm rot="0">
            <a:off x="11121510" y="5078936"/>
            <a:ext cx="6880687" cy="1959610"/>
          </a:xfrm>
          <a:prstGeom prst="rect">
            <a:avLst/>
          </a:prstGeom>
        </p:spPr>
        <p:txBody>
          <a:bodyPr anchor="t" rtlCol="false" tIns="0" lIns="0" bIns="0" rIns="0">
            <a:spAutoFit/>
          </a:bodyPr>
          <a:lstStyle/>
          <a:p>
            <a:pPr algn="l">
              <a:lnSpc>
                <a:spcPts val="7400"/>
              </a:lnSpc>
            </a:pPr>
            <a:r>
              <a:rPr lang="en-US" b="true" sz="7400" i="true">
                <a:solidFill>
                  <a:srgbClr val="DC2F02"/>
                </a:solidFill>
                <a:latin typeface="Ubuntu Bold Italics"/>
                <a:ea typeface="Ubuntu Bold Italics"/>
                <a:cs typeface="Ubuntu Bold Italics"/>
                <a:sym typeface="Ubuntu Bold Italics"/>
              </a:rPr>
              <a:t>YEARS COVERED </a:t>
            </a:r>
          </a:p>
        </p:txBody>
      </p:sp>
      <p:sp>
        <p:nvSpPr>
          <p:cNvPr name="TextBox 59" id="59"/>
          <p:cNvSpPr txBox="true"/>
          <p:nvPr/>
        </p:nvSpPr>
        <p:spPr>
          <a:xfrm rot="0">
            <a:off x="11254860" y="7213554"/>
            <a:ext cx="6051681" cy="2939415"/>
          </a:xfrm>
          <a:prstGeom prst="rect">
            <a:avLst/>
          </a:prstGeom>
        </p:spPr>
        <p:txBody>
          <a:bodyPr anchor="t" rtlCol="false" tIns="0" lIns="0" bIns="0" rIns="0">
            <a:spAutoFit/>
          </a:bodyPr>
          <a:lstStyle/>
          <a:p>
            <a:pPr algn="l">
              <a:lnSpc>
                <a:spcPts val="2340"/>
              </a:lnSpc>
            </a:pPr>
            <a:r>
              <a:rPr lang="en-US" sz="1800" i="true" spc="44">
                <a:solidFill>
                  <a:srgbClr val="F5F3F4"/>
                </a:solidFill>
                <a:latin typeface="Canva Sans Italics"/>
                <a:ea typeface="Canva Sans Italics"/>
                <a:cs typeface="Canva Sans Italics"/>
                <a:sym typeface="Canva Sans Italics"/>
              </a:rPr>
              <a:t>Insight:</a:t>
            </a:r>
          </a:p>
          <a:p>
            <a:pPr algn="l">
              <a:lnSpc>
                <a:spcPts val="2340"/>
              </a:lnSpc>
            </a:pPr>
            <a:r>
              <a:rPr lang="en-US" sz="1800" i="true" spc="44">
                <a:solidFill>
                  <a:srgbClr val="F5F3F4"/>
                </a:solidFill>
                <a:latin typeface="Canva Sans Italics"/>
                <a:ea typeface="Canva Sans Italics"/>
                <a:cs typeface="Canva Sans Italics"/>
                <a:sym typeface="Canva Sans Italics"/>
              </a:rPr>
              <a:t> The EV market shows 11-year continuous growth.</a:t>
            </a:r>
          </a:p>
          <a:p>
            <a:pPr algn="l">
              <a:lnSpc>
                <a:spcPts val="2340"/>
              </a:lnSpc>
            </a:pPr>
          </a:p>
          <a:p>
            <a:pPr algn="l">
              <a:lnSpc>
                <a:spcPts val="2340"/>
              </a:lnSpc>
            </a:pPr>
            <a:r>
              <a:rPr lang="en-US" sz="1800" i="true" spc="44">
                <a:solidFill>
                  <a:srgbClr val="F5F3F4"/>
                </a:solidFill>
                <a:latin typeface="Canva Sans Italics"/>
                <a:ea typeface="Canva Sans Italics"/>
                <a:cs typeface="Canva Sans Italics"/>
                <a:sym typeface="Canva Sans Italics"/>
              </a:rPr>
              <a:t>CODE: SELECT COUNT(DISTINCT c1) AS Years_Covered FROM EVsales;</a:t>
            </a:r>
          </a:p>
          <a:p>
            <a:pPr algn="l">
              <a:lnSpc>
                <a:spcPts val="2340"/>
              </a:lnSpc>
            </a:pPr>
          </a:p>
          <a:p>
            <a:pPr algn="l">
              <a:lnSpc>
                <a:spcPts val="2340"/>
              </a:lnSpc>
            </a:pPr>
          </a:p>
          <a:p>
            <a:pPr algn="l">
              <a:lnSpc>
                <a:spcPts val="2340"/>
              </a:lnSpc>
            </a:pPr>
          </a:p>
          <a:p>
            <a:pPr algn="l">
              <a:lnSpc>
                <a:spcPts val="2340"/>
              </a:lnSpc>
            </a:pPr>
          </a:p>
          <a:p>
            <a:pPr algn="l">
              <a:lnSpc>
                <a:spcPts val="234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61A1D"/>
        </a:solidFill>
      </p:bgPr>
    </p:bg>
    <p:spTree>
      <p:nvGrpSpPr>
        <p:cNvPr id="1" name=""/>
        <p:cNvGrpSpPr/>
        <p:nvPr/>
      </p:nvGrpSpPr>
      <p:grpSpPr>
        <a:xfrm>
          <a:off x="0" y="0"/>
          <a:ext cx="0" cy="0"/>
          <a:chOff x="0" y="0"/>
          <a:chExt cx="0" cy="0"/>
        </a:xfrm>
      </p:grpSpPr>
      <p:grpSp>
        <p:nvGrpSpPr>
          <p:cNvPr name="Group 2" id="2"/>
          <p:cNvGrpSpPr/>
          <p:nvPr/>
        </p:nvGrpSpPr>
        <p:grpSpPr>
          <a:xfrm rot="0">
            <a:off x="1064782" y="2010710"/>
            <a:ext cx="1226064" cy="1839095"/>
            <a:chOff x="0" y="0"/>
            <a:chExt cx="406400" cy="609600"/>
          </a:xfrm>
        </p:grpSpPr>
        <p:sp>
          <p:nvSpPr>
            <p:cNvPr name="Freeform 3" id="3"/>
            <p:cNvSpPr/>
            <p:nvPr/>
          </p:nvSpPr>
          <p:spPr>
            <a:xfrm flipH="false" flipV="false" rot="0">
              <a:off x="0" y="0"/>
              <a:ext cx="406400" cy="609600"/>
            </a:xfrm>
            <a:custGeom>
              <a:avLst/>
              <a:gdLst/>
              <a:ahLst/>
              <a:cxnLst/>
              <a:rect r="r" b="b" t="t" l="l"/>
              <a:pathLst>
                <a:path h="609600" w="406400">
                  <a:moveTo>
                    <a:pt x="203200" y="0"/>
                  </a:moveTo>
                  <a:lnTo>
                    <a:pt x="406400" y="0"/>
                  </a:lnTo>
                  <a:lnTo>
                    <a:pt x="203200"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4" id="4"/>
            <p:cNvSpPr txBox="true"/>
            <p:nvPr/>
          </p:nvSpPr>
          <p:spPr>
            <a:xfrm>
              <a:off x="101600" y="-38100"/>
              <a:ext cx="2032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347761" y="2553826"/>
            <a:ext cx="1226064" cy="1839095"/>
            <a:chOff x="0" y="0"/>
            <a:chExt cx="406400" cy="609600"/>
          </a:xfrm>
        </p:grpSpPr>
        <p:sp>
          <p:nvSpPr>
            <p:cNvPr name="Freeform 6" id="6"/>
            <p:cNvSpPr/>
            <p:nvPr/>
          </p:nvSpPr>
          <p:spPr>
            <a:xfrm flipH="false" flipV="false" rot="0">
              <a:off x="0" y="0"/>
              <a:ext cx="406400" cy="609600"/>
            </a:xfrm>
            <a:custGeom>
              <a:avLst/>
              <a:gdLst/>
              <a:ahLst/>
              <a:cxnLst/>
              <a:rect r="r" b="b" t="t" l="l"/>
              <a:pathLst>
                <a:path h="609600" w="406400">
                  <a:moveTo>
                    <a:pt x="203200" y="0"/>
                  </a:moveTo>
                  <a:lnTo>
                    <a:pt x="406400" y="0"/>
                  </a:lnTo>
                  <a:lnTo>
                    <a:pt x="203200"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7" id="7"/>
            <p:cNvSpPr txBox="true"/>
            <p:nvPr/>
          </p:nvSpPr>
          <p:spPr>
            <a:xfrm>
              <a:off x="101600" y="-38100"/>
              <a:ext cx="2032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5160930" y="3119643"/>
            <a:ext cx="1226064" cy="1839095"/>
            <a:chOff x="0" y="0"/>
            <a:chExt cx="406400" cy="609600"/>
          </a:xfrm>
        </p:grpSpPr>
        <p:sp>
          <p:nvSpPr>
            <p:cNvPr name="Freeform 9" id="9"/>
            <p:cNvSpPr/>
            <p:nvPr/>
          </p:nvSpPr>
          <p:spPr>
            <a:xfrm flipH="false" flipV="false" rot="0">
              <a:off x="0" y="0"/>
              <a:ext cx="406400" cy="609600"/>
            </a:xfrm>
            <a:custGeom>
              <a:avLst/>
              <a:gdLst/>
              <a:ahLst/>
              <a:cxnLst/>
              <a:rect r="r" b="b" t="t" l="l"/>
              <a:pathLst>
                <a:path h="609600" w="406400">
                  <a:moveTo>
                    <a:pt x="203200" y="0"/>
                  </a:moveTo>
                  <a:lnTo>
                    <a:pt x="406400" y="0"/>
                  </a:lnTo>
                  <a:lnTo>
                    <a:pt x="203200"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10" id="10"/>
            <p:cNvSpPr txBox="true"/>
            <p:nvPr/>
          </p:nvSpPr>
          <p:spPr>
            <a:xfrm>
              <a:off x="101600" y="-38100"/>
              <a:ext cx="2032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264909" y="3082788"/>
            <a:ext cx="1226064" cy="1839095"/>
            <a:chOff x="0" y="0"/>
            <a:chExt cx="406400" cy="609600"/>
          </a:xfrm>
        </p:grpSpPr>
        <p:sp>
          <p:nvSpPr>
            <p:cNvPr name="Freeform 12" id="12"/>
            <p:cNvSpPr/>
            <p:nvPr/>
          </p:nvSpPr>
          <p:spPr>
            <a:xfrm flipH="false" flipV="false" rot="0">
              <a:off x="0" y="0"/>
              <a:ext cx="406400" cy="609600"/>
            </a:xfrm>
            <a:custGeom>
              <a:avLst/>
              <a:gdLst/>
              <a:ahLst/>
              <a:cxnLst/>
              <a:rect r="r" b="b" t="t" l="l"/>
              <a:pathLst>
                <a:path h="609600" w="406400">
                  <a:moveTo>
                    <a:pt x="203200" y="0"/>
                  </a:moveTo>
                  <a:lnTo>
                    <a:pt x="406400" y="0"/>
                  </a:lnTo>
                  <a:lnTo>
                    <a:pt x="203200"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13" id="13"/>
            <p:cNvSpPr txBox="true"/>
            <p:nvPr/>
          </p:nvSpPr>
          <p:spPr>
            <a:xfrm>
              <a:off x="101600" y="-38100"/>
              <a:ext cx="20320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3884681" y="5308921"/>
            <a:ext cx="1206455" cy="1667133"/>
            <a:chOff x="0" y="0"/>
            <a:chExt cx="1608607" cy="2222843"/>
          </a:xfrm>
        </p:grpSpPr>
        <p:grpSp>
          <p:nvGrpSpPr>
            <p:cNvPr name="Group 15" id="15"/>
            <p:cNvGrpSpPr/>
            <p:nvPr/>
          </p:nvGrpSpPr>
          <p:grpSpPr>
            <a:xfrm rot="0">
              <a:off x="335413" y="494698"/>
              <a:ext cx="1273194" cy="1728146"/>
              <a:chOff x="0" y="0"/>
              <a:chExt cx="449117" cy="609600"/>
            </a:xfrm>
          </p:grpSpPr>
          <p:sp>
            <p:nvSpPr>
              <p:cNvPr name="Freeform 16" id="16"/>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17" id="17"/>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18" id="18"/>
            <p:cNvGrpSpPr/>
            <p:nvPr/>
          </p:nvGrpSpPr>
          <p:grpSpPr>
            <a:xfrm rot="0">
              <a:off x="220820" y="260108"/>
              <a:ext cx="1273194" cy="1728146"/>
              <a:chOff x="0" y="0"/>
              <a:chExt cx="449117" cy="609600"/>
            </a:xfrm>
          </p:grpSpPr>
          <p:sp>
            <p:nvSpPr>
              <p:cNvPr name="Freeform 19" id="19"/>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20" id="20"/>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21" id="21"/>
            <p:cNvGrpSpPr/>
            <p:nvPr/>
          </p:nvGrpSpPr>
          <p:grpSpPr>
            <a:xfrm rot="0">
              <a:off x="0" y="0"/>
              <a:ext cx="1413181" cy="1918155"/>
              <a:chOff x="0" y="0"/>
              <a:chExt cx="449117" cy="609600"/>
            </a:xfrm>
          </p:grpSpPr>
          <p:sp>
            <p:nvSpPr>
              <p:cNvPr name="Freeform 22" id="22"/>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23" id="23"/>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24" id="24"/>
          <p:cNvGrpSpPr/>
          <p:nvPr/>
        </p:nvGrpSpPr>
        <p:grpSpPr>
          <a:xfrm rot="0">
            <a:off x="11870599" y="5308921"/>
            <a:ext cx="1206455" cy="1667133"/>
            <a:chOff x="0" y="0"/>
            <a:chExt cx="1608607" cy="2222843"/>
          </a:xfrm>
        </p:grpSpPr>
        <p:grpSp>
          <p:nvGrpSpPr>
            <p:cNvPr name="Group 25" id="25"/>
            <p:cNvGrpSpPr/>
            <p:nvPr/>
          </p:nvGrpSpPr>
          <p:grpSpPr>
            <a:xfrm rot="0">
              <a:off x="335413" y="494698"/>
              <a:ext cx="1273194" cy="1728146"/>
              <a:chOff x="0" y="0"/>
              <a:chExt cx="449117" cy="609600"/>
            </a:xfrm>
          </p:grpSpPr>
          <p:sp>
            <p:nvSpPr>
              <p:cNvPr name="Freeform 26" id="26"/>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27" id="27"/>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28" id="28"/>
            <p:cNvGrpSpPr/>
            <p:nvPr/>
          </p:nvGrpSpPr>
          <p:grpSpPr>
            <a:xfrm rot="0">
              <a:off x="220820" y="260108"/>
              <a:ext cx="1273194" cy="1728146"/>
              <a:chOff x="0" y="0"/>
              <a:chExt cx="449117" cy="609600"/>
            </a:xfrm>
          </p:grpSpPr>
          <p:sp>
            <p:nvSpPr>
              <p:cNvPr name="Freeform 29" id="29"/>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30" id="30"/>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31" id="31"/>
            <p:cNvGrpSpPr/>
            <p:nvPr/>
          </p:nvGrpSpPr>
          <p:grpSpPr>
            <a:xfrm rot="0">
              <a:off x="0" y="0"/>
              <a:ext cx="1413181" cy="1918155"/>
              <a:chOff x="0" y="0"/>
              <a:chExt cx="449117" cy="609600"/>
            </a:xfrm>
          </p:grpSpPr>
          <p:sp>
            <p:nvSpPr>
              <p:cNvPr name="Freeform 32" id="32"/>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33" id="33"/>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34" id="34"/>
          <p:cNvGrpSpPr/>
          <p:nvPr/>
        </p:nvGrpSpPr>
        <p:grpSpPr>
          <a:xfrm rot="0">
            <a:off x="7462861" y="6588157"/>
            <a:ext cx="1206455" cy="1667133"/>
            <a:chOff x="0" y="0"/>
            <a:chExt cx="1608607" cy="2222843"/>
          </a:xfrm>
        </p:grpSpPr>
        <p:grpSp>
          <p:nvGrpSpPr>
            <p:cNvPr name="Group 35" id="35"/>
            <p:cNvGrpSpPr/>
            <p:nvPr/>
          </p:nvGrpSpPr>
          <p:grpSpPr>
            <a:xfrm rot="0">
              <a:off x="335413" y="494698"/>
              <a:ext cx="1273194" cy="1728146"/>
              <a:chOff x="0" y="0"/>
              <a:chExt cx="449117" cy="609600"/>
            </a:xfrm>
          </p:grpSpPr>
          <p:sp>
            <p:nvSpPr>
              <p:cNvPr name="Freeform 36" id="36"/>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37" id="37"/>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38" id="38"/>
            <p:cNvGrpSpPr/>
            <p:nvPr/>
          </p:nvGrpSpPr>
          <p:grpSpPr>
            <a:xfrm rot="0">
              <a:off x="220820" y="260108"/>
              <a:ext cx="1273194" cy="1728146"/>
              <a:chOff x="0" y="0"/>
              <a:chExt cx="449117" cy="609600"/>
            </a:xfrm>
          </p:grpSpPr>
          <p:sp>
            <p:nvSpPr>
              <p:cNvPr name="Freeform 39" id="39"/>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40" id="40"/>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41" id="41"/>
            <p:cNvGrpSpPr/>
            <p:nvPr/>
          </p:nvGrpSpPr>
          <p:grpSpPr>
            <a:xfrm rot="0">
              <a:off x="0" y="0"/>
              <a:ext cx="1413181" cy="1918155"/>
              <a:chOff x="0" y="0"/>
              <a:chExt cx="449117" cy="609600"/>
            </a:xfrm>
          </p:grpSpPr>
          <p:sp>
            <p:nvSpPr>
              <p:cNvPr name="Freeform 42" id="42"/>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43" id="43"/>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44" id="44"/>
          <p:cNvGrpSpPr/>
          <p:nvPr/>
        </p:nvGrpSpPr>
        <p:grpSpPr>
          <a:xfrm rot="0">
            <a:off x="16738621" y="7383069"/>
            <a:ext cx="1206455" cy="1667133"/>
            <a:chOff x="0" y="0"/>
            <a:chExt cx="1608607" cy="2222843"/>
          </a:xfrm>
        </p:grpSpPr>
        <p:grpSp>
          <p:nvGrpSpPr>
            <p:cNvPr name="Group 45" id="45"/>
            <p:cNvGrpSpPr/>
            <p:nvPr/>
          </p:nvGrpSpPr>
          <p:grpSpPr>
            <a:xfrm rot="0">
              <a:off x="335413" y="494698"/>
              <a:ext cx="1273194" cy="1728146"/>
              <a:chOff x="0" y="0"/>
              <a:chExt cx="449117" cy="609600"/>
            </a:xfrm>
          </p:grpSpPr>
          <p:sp>
            <p:nvSpPr>
              <p:cNvPr name="Freeform 46" id="46"/>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47" id="47"/>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48" id="48"/>
            <p:cNvGrpSpPr/>
            <p:nvPr/>
          </p:nvGrpSpPr>
          <p:grpSpPr>
            <a:xfrm rot="0">
              <a:off x="220820" y="260108"/>
              <a:ext cx="1273194" cy="1728146"/>
              <a:chOff x="0" y="0"/>
              <a:chExt cx="449117" cy="609600"/>
            </a:xfrm>
          </p:grpSpPr>
          <p:sp>
            <p:nvSpPr>
              <p:cNvPr name="Freeform 49" id="49"/>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50" id="50"/>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51" id="51"/>
            <p:cNvGrpSpPr/>
            <p:nvPr/>
          </p:nvGrpSpPr>
          <p:grpSpPr>
            <a:xfrm rot="0">
              <a:off x="0" y="0"/>
              <a:ext cx="1413181" cy="1918155"/>
              <a:chOff x="0" y="0"/>
              <a:chExt cx="449117" cy="609600"/>
            </a:xfrm>
          </p:grpSpPr>
          <p:sp>
            <p:nvSpPr>
              <p:cNvPr name="Freeform 52" id="52"/>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53" id="53"/>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54" id="54"/>
          <p:cNvGrpSpPr/>
          <p:nvPr/>
        </p:nvGrpSpPr>
        <p:grpSpPr>
          <a:xfrm rot="0">
            <a:off x="238697" y="0"/>
            <a:ext cx="705305" cy="10287000"/>
            <a:chOff x="0" y="0"/>
            <a:chExt cx="185759" cy="2709333"/>
          </a:xfrm>
        </p:grpSpPr>
        <p:sp>
          <p:nvSpPr>
            <p:cNvPr name="Freeform 55" id="55"/>
            <p:cNvSpPr/>
            <p:nvPr/>
          </p:nvSpPr>
          <p:spPr>
            <a:xfrm flipH="false" flipV="false" rot="0">
              <a:off x="0" y="0"/>
              <a:ext cx="185759" cy="2709333"/>
            </a:xfrm>
            <a:custGeom>
              <a:avLst/>
              <a:gdLst/>
              <a:ahLst/>
              <a:cxnLst/>
              <a:rect r="r" b="b" t="t" l="l"/>
              <a:pathLst>
                <a:path h="2709333" w="185759">
                  <a:moveTo>
                    <a:pt x="0" y="0"/>
                  </a:moveTo>
                  <a:lnTo>
                    <a:pt x="185759" y="0"/>
                  </a:lnTo>
                  <a:lnTo>
                    <a:pt x="185759" y="2709333"/>
                  </a:lnTo>
                  <a:lnTo>
                    <a:pt x="0" y="2709333"/>
                  </a:lnTo>
                  <a:close/>
                </a:path>
              </a:pathLst>
            </a:custGeom>
            <a:gradFill rotWithShape="true">
              <a:gsLst>
                <a:gs pos="0">
                  <a:srgbClr val="DC2F02">
                    <a:alpha val="100000"/>
                  </a:srgbClr>
                </a:gs>
                <a:gs pos="100000">
                  <a:srgbClr val="DC2F02">
                    <a:alpha val="0"/>
                  </a:srgbClr>
                </a:gs>
              </a:gsLst>
              <a:path path="circle">
                <a:fillToRect l="50000" r="50000" t="50000" b="50000"/>
              </a:path>
            </a:gradFill>
          </p:spPr>
        </p:sp>
        <p:sp>
          <p:nvSpPr>
            <p:cNvPr name="TextBox 56" id="56"/>
            <p:cNvSpPr txBox="true"/>
            <p:nvPr/>
          </p:nvSpPr>
          <p:spPr>
            <a:xfrm>
              <a:off x="0" y="-38100"/>
              <a:ext cx="185759"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57" id="57"/>
          <p:cNvGrpSpPr/>
          <p:nvPr/>
        </p:nvGrpSpPr>
        <p:grpSpPr>
          <a:xfrm rot="0">
            <a:off x="238697" y="6142488"/>
            <a:ext cx="705305" cy="703087"/>
            <a:chOff x="0" y="0"/>
            <a:chExt cx="185759" cy="185175"/>
          </a:xfrm>
        </p:grpSpPr>
        <p:sp>
          <p:nvSpPr>
            <p:cNvPr name="Freeform 58" id="58"/>
            <p:cNvSpPr/>
            <p:nvPr/>
          </p:nvSpPr>
          <p:spPr>
            <a:xfrm flipH="false" flipV="false" rot="0">
              <a:off x="0" y="0"/>
              <a:ext cx="185759" cy="185175"/>
            </a:xfrm>
            <a:custGeom>
              <a:avLst/>
              <a:gdLst/>
              <a:ahLst/>
              <a:cxnLst/>
              <a:rect r="r" b="b" t="t" l="l"/>
              <a:pathLst>
                <a:path h="185175" w="185759">
                  <a:moveTo>
                    <a:pt x="0" y="0"/>
                  </a:moveTo>
                  <a:lnTo>
                    <a:pt x="185759" y="0"/>
                  </a:lnTo>
                  <a:lnTo>
                    <a:pt x="185759" y="185175"/>
                  </a:lnTo>
                  <a:lnTo>
                    <a:pt x="0" y="185175"/>
                  </a:lnTo>
                  <a:close/>
                </a:path>
              </a:pathLst>
            </a:custGeom>
            <a:solidFill>
              <a:srgbClr val="DC2F02"/>
            </a:solidFill>
          </p:spPr>
        </p:sp>
        <p:sp>
          <p:nvSpPr>
            <p:cNvPr name="TextBox 59" id="59"/>
            <p:cNvSpPr txBox="true"/>
            <p:nvPr/>
          </p:nvSpPr>
          <p:spPr>
            <a:xfrm>
              <a:off x="0" y="-38100"/>
              <a:ext cx="185759" cy="223275"/>
            </a:xfrm>
            <a:prstGeom prst="rect">
              <a:avLst/>
            </a:prstGeom>
          </p:spPr>
          <p:txBody>
            <a:bodyPr anchor="ctr" rtlCol="false" tIns="50800" lIns="50800" bIns="50800" rIns="50800"/>
            <a:lstStyle/>
            <a:p>
              <a:pPr algn="ctr">
                <a:lnSpc>
                  <a:spcPts val="2659"/>
                </a:lnSpc>
                <a:spcBef>
                  <a:spcPct val="0"/>
                </a:spcBef>
              </a:pPr>
            </a:p>
          </p:txBody>
        </p:sp>
      </p:grpSp>
      <p:sp>
        <p:nvSpPr>
          <p:cNvPr name="Freeform 60" id="60"/>
          <p:cNvSpPr/>
          <p:nvPr/>
        </p:nvSpPr>
        <p:spPr>
          <a:xfrm flipH="false" flipV="false" rot="0">
            <a:off x="375398" y="1028700"/>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1" id="61"/>
          <p:cNvSpPr/>
          <p:nvPr/>
        </p:nvSpPr>
        <p:spPr>
          <a:xfrm flipH="false" flipV="false" rot="0">
            <a:off x="412503" y="1923573"/>
            <a:ext cx="357692" cy="429543"/>
          </a:xfrm>
          <a:custGeom>
            <a:avLst/>
            <a:gdLst/>
            <a:ahLst/>
            <a:cxnLst/>
            <a:rect r="r" b="b" t="t" l="l"/>
            <a:pathLst>
              <a:path h="429543" w="357692">
                <a:moveTo>
                  <a:pt x="0" y="0"/>
                </a:moveTo>
                <a:lnTo>
                  <a:pt x="357692" y="0"/>
                </a:lnTo>
                <a:lnTo>
                  <a:pt x="357692" y="429543"/>
                </a:lnTo>
                <a:lnTo>
                  <a:pt x="0" y="4295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2" id="62"/>
          <p:cNvSpPr/>
          <p:nvPr/>
        </p:nvSpPr>
        <p:spPr>
          <a:xfrm flipH="false" flipV="false" rot="0">
            <a:off x="375398" y="2845928"/>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3" id="63"/>
          <p:cNvSpPr/>
          <p:nvPr/>
        </p:nvSpPr>
        <p:spPr>
          <a:xfrm flipH="false" flipV="false" rot="0">
            <a:off x="412503" y="3740801"/>
            <a:ext cx="357692" cy="344685"/>
          </a:xfrm>
          <a:custGeom>
            <a:avLst/>
            <a:gdLst/>
            <a:ahLst/>
            <a:cxnLst/>
            <a:rect r="r" b="b" t="t" l="l"/>
            <a:pathLst>
              <a:path h="344685" w="357692">
                <a:moveTo>
                  <a:pt x="0" y="0"/>
                </a:moveTo>
                <a:lnTo>
                  <a:pt x="357692" y="0"/>
                </a:lnTo>
                <a:lnTo>
                  <a:pt x="357692" y="344685"/>
                </a:lnTo>
                <a:lnTo>
                  <a:pt x="0" y="3446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4" id="64"/>
          <p:cNvSpPr/>
          <p:nvPr/>
        </p:nvSpPr>
        <p:spPr>
          <a:xfrm flipH="false" flipV="false" rot="0">
            <a:off x="412503" y="4578297"/>
            <a:ext cx="394797" cy="380441"/>
          </a:xfrm>
          <a:custGeom>
            <a:avLst/>
            <a:gdLst/>
            <a:ahLst/>
            <a:cxnLst/>
            <a:rect r="r" b="b" t="t" l="l"/>
            <a:pathLst>
              <a:path h="380441" w="394797">
                <a:moveTo>
                  <a:pt x="0" y="0"/>
                </a:moveTo>
                <a:lnTo>
                  <a:pt x="394797" y="0"/>
                </a:lnTo>
                <a:lnTo>
                  <a:pt x="394797" y="380441"/>
                </a:lnTo>
                <a:lnTo>
                  <a:pt x="0" y="3804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65" id="65"/>
          <p:cNvSpPr/>
          <p:nvPr/>
        </p:nvSpPr>
        <p:spPr>
          <a:xfrm flipH="false" flipV="false" rot="0">
            <a:off x="393950" y="8842103"/>
            <a:ext cx="431903" cy="416197"/>
          </a:xfrm>
          <a:custGeom>
            <a:avLst/>
            <a:gdLst/>
            <a:ahLst/>
            <a:cxnLst/>
            <a:rect r="r" b="b" t="t" l="l"/>
            <a:pathLst>
              <a:path h="416197" w="431903">
                <a:moveTo>
                  <a:pt x="0" y="0"/>
                </a:moveTo>
                <a:lnTo>
                  <a:pt x="431903" y="0"/>
                </a:lnTo>
                <a:lnTo>
                  <a:pt x="431903" y="416197"/>
                </a:lnTo>
                <a:lnTo>
                  <a:pt x="0" y="41619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66" id="66"/>
          <p:cNvSpPr/>
          <p:nvPr/>
        </p:nvSpPr>
        <p:spPr>
          <a:xfrm flipH="false" flipV="false" rot="0">
            <a:off x="401032" y="5451550"/>
            <a:ext cx="380634" cy="377866"/>
          </a:xfrm>
          <a:custGeom>
            <a:avLst/>
            <a:gdLst/>
            <a:ahLst/>
            <a:cxnLst/>
            <a:rect r="r" b="b" t="t" l="l"/>
            <a:pathLst>
              <a:path h="377866" w="380634">
                <a:moveTo>
                  <a:pt x="0" y="0"/>
                </a:moveTo>
                <a:lnTo>
                  <a:pt x="380634" y="0"/>
                </a:lnTo>
                <a:lnTo>
                  <a:pt x="380634" y="377866"/>
                </a:lnTo>
                <a:lnTo>
                  <a:pt x="0" y="3778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67" id="67"/>
          <p:cNvSpPr/>
          <p:nvPr/>
        </p:nvSpPr>
        <p:spPr>
          <a:xfrm flipH="false" flipV="false" rot="0">
            <a:off x="393950" y="7171074"/>
            <a:ext cx="431903" cy="288197"/>
          </a:xfrm>
          <a:custGeom>
            <a:avLst/>
            <a:gdLst/>
            <a:ahLst/>
            <a:cxnLst/>
            <a:rect r="r" b="b" t="t" l="l"/>
            <a:pathLst>
              <a:path h="288197" w="431903">
                <a:moveTo>
                  <a:pt x="0" y="0"/>
                </a:moveTo>
                <a:lnTo>
                  <a:pt x="431903" y="0"/>
                </a:lnTo>
                <a:lnTo>
                  <a:pt x="431903" y="288196"/>
                </a:lnTo>
                <a:lnTo>
                  <a:pt x="0" y="28819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68" id="68"/>
          <p:cNvSpPr/>
          <p:nvPr/>
        </p:nvSpPr>
        <p:spPr>
          <a:xfrm flipH="false" flipV="false" rot="0">
            <a:off x="412503" y="7952082"/>
            <a:ext cx="394797" cy="397210"/>
          </a:xfrm>
          <a:custGeom>
            <a:avLst/>
            <a:gdLst/>
            <a:ahLst/>
            <a:cxnLst/>
            <a:rect r="r" b="b" t="t" l="l"/>
            <a:pathLst>
              <a:path h="397210" w="394797">
                <a:moveTo>
                  <a:pt x="0" y="0"/>
                </a:moveTo>
                <a:lnTo>
                  <a:pt x="394797" y="0"/>
                </a:lnTo>
                <a:lnTo>
                  <a:pt x="394797" y="397210"/>
                </a:lnTo>
                <a:lnTo>
                  <a:pt x="0" y="39721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69" id="69"/>
          <p:cNvSpPr/>
          <p:nvPr/>
        </p:nvSpPr>
        <p:spPr>
          <a:xfrm flipH="false" flipV="false" rot="0">
            <a:off x="412503" y="6322227"/>
            <a:ext cx="394797" cy="356035"/>
          </a:xfrm>
          <a:custGeom>
            <a:avLst/>
            <a:gdLst/>
            <a:ahLst/>
            <a:cxnLst/>
            <a:rect r="r" b="b" t="t" l="l"/>
            <a:pathLst>
              <a:path h="356035" w="394797">
                <a:moveTo>
                  <a:pt x="0" y="0"/>
                </a:moveTo>
                <a:lnTo>
                  <a:pt x="394797" y="0"/>
                </a:lnTo>
                <a:lnTo>
                  <a:pt x="394797" y="356035"/>
                </a:lnTo>
                <a:lnTo>
                  <a:pt x="0" y="356035"/>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70" id="70"/>
          <p:cNvSpPr/>
          <p:nvPr/>
        </p:nvSpPr>
        <p:spPr>
          <a:xfrm flipH="false" flipV="false" rot="0">
            <a:off x="1636348" y="2265957"/>
            <a:ext cx="3226202" cy="4412305"/>
          </a:xfrm>
          <a:custGeom>
            <a:avLst/>
            <a:gdLst/>
            <a:ahLst/>
            <a:cxnLst/>
            <a:rect r="r" b="b" t="t" l="l"/>
            <a:pathLst>
              <a:path h="4412305" w="3226202">
                <a:moveTo>
                  <a:pt x="0" y="0"/>
                </a:moveTo>
                <a:lnTo>
                  <a:pt x="3226201" y="0"/>
                </a:lnTo>
                <a:lnTo>
                  <a:pt x="3226201" y="4412305"/>
                </a:lnTo>
                <a:lnTo>
                  <a:pt x="0" y="4412305"/>
                </a:lnTo>
                <a:lnTo>
                  <a:pt x="0" y="0"/>
                </a:lnTo>
                <a:close/>
              </a:path>
            </a:pathLst>
          </a:custGeom>
          <a:blipFill>
            <a:blip r:embed="rId22"/>
            <a:stretch>
              <a:fillRect l="0" t="0" r="0" b="0"/>
            </a:stretch>
          </a:blipFill>
        </p:spPr>
      </p:sp>
      <p:sp>
        <p:nvSpPr>
          <p:cNvPr name="Freeform 71" id="71"/>
          <p:cNvSpPr/>
          <p:nvPr/>
        </p:nvSpPr>
        <p:spPr>
          <a:xfrm flipH="false" flipV="false" rot="0">
            <a:off x="5738836" y="3422356"/>
            <a:ext cx="2742150" cy="4436253"/>
          </a:xfrm>
          <a:custGeom>
            <a:avLst/>
            <a:gdLst/>
            <a:ahLst/>
            <a:cxnLst/>
            <a:rect r="r" b="b" t="t" l="l"/>
            <a:pathLst>
              <a:path h="4436253" w="2742150">
                <a:moveTo>
                  <a:pt x="0" y="0"/>
                </a:moveTo>
                <a:lnTo>
                  <a:pt x="2742150" y="0"/>
                </a:lnTo>
                <a:lnTo>
                  <a:pt x="2742150" y="4436253"/>
                </a:lnTo>
                <a:lnTo>
                  <a:pt x="0" y="4436253"/>
                </a:lnTo>
                <a:lnTo>
                  <a:pt x="0" y="0"/>
                </a:lnTo>
                <a:close/>
              </a:path>
            </a:pathLst>
          </a:custGeom>
          <a:blipFill>
            <a:blip r:embed="rId23"/>
            <a:stretch>
              <a:fillRect l="0" t="0" r="0" b="0"/>
            </a:stretch>
          </a:blipFill>
        </p:spPr>
      </p:sp>
      <p:sp>
        <p:nvSpPr>
          <p:cNvPr name="Freeform 72" id="72"/>
          <p:cNvSpPr/>
          <p:nvPr/>
        </p:nvSpPr>
        <p:spPr>
          <a:xfrm flipH="false" flipV="false" rot="0">
            <a:off x="9660358" y="2812109"/>
            <a:ext cx="3176749" cy="3691082"/>
          </a:xfrm>
          <a:custGeom>
            <a:avLst/>
            <a:gdLst/>
            <a:ahLst/>
            <a:cxnLst/>
            <a:rect r="r" b="b" t="t" l="l"/>
            <a:pathLst>
              <a:path h="3691082" w="3176749">
                <a:moveTo>
                  <a:pt x="0" y="0"/>
                </a:moveTo>
                <a:lnTo>
                  <a:pt x="3176749" y="0"/>
                </a:lnTo>
                <a:lnTo>
                  <a:pt x="3176749" y="3691082"/>
                </a:lnTo>
                <a:lnTo>
                  <a:pt x="0" y="3691082"/>
                </a:lnTo>
                <a:lnTo>
                  <a:pt x="0" y="0"/>
                </a:lnTo>
                <a:close/>
              </a:path>
            </a:pathLst>
          </a:custGeom>
          <a:blipFill>
            <a:blip r:embed="rId24"/>
            <a:stretch>
              <a:fillRect l="0" t="0" r="-9040" b="0"/>
            </a:stretch>
          </a:blipFill>
        </p:spPr>
      </p:sp>
      <p:sp>
        <p:nvSpPr>
          <p:cNvPr name="Freeform 73" id="73"/>
          <p:cNvSpPr/>
          <p:nvPr/>
        </p:nvSpPr>
        <p:spPr>
          <a:xfrm flipH="false" flipV="false" rot="0">
            <a:off x="13727344" y="3249219"/>
            <a:ext cx="3974437" cy="5356850"/>
          </a:xfrm>
          <a:custGeom>
            <a:avLst/>
            <a:gdLst/>
            <a:ahLst/>
            <a:cxnLst/>
            <a:rect r="r" b="b" t="t" l="l"/>
            <a:pathLst>
              <a:path h="5356850" w="3974437">
                <a:moveTo>
                  <a:pt x="0" y="0"/>
                </a:moveTo>
                <a:lnTo>
                  <a:pt x="3974438" y="0"/>
                </a:lnTo>
                <a:lnTo>
                  <a:pt x="3974438" y="5356850"/>
                </a:lnTo>
                <a:lnTo>
                  <a:pt x="0" y="5356850"/>
                </a:lnTo>
                <a:lnTo>
                  <a:pt x="0" y="0"/>
                </a:lnTo>
                <a:close/>
              </a:path>
            </a:pathLst>
          </a:custGeom>
          <a:blipFill>
            <a:blip r:embed="rId25"/>
            <a:stretch>
              <a:fillRect l="0" t="0" r="0" b="0"/>
            </a:stretch>
          </a:blipFill>
        </p:spPr>
      </p:sp>
      <p:sp>
        <p:nvSpPr>
          <p:cNvPr name="TextBox 74" id="74"/>
          <p:cNvSpPr txBox="true"/>
          <p:nvPr/>
        </p:nvSpPr>
        <p:spPr>
          <a:xfrm rot="0">
            <a:off x="13727344" y="1248569"/>
            <a:ext cx="872451" cy="597535"/>
          </a:xfrm>
          <a:prstGeom prst="rect">
            <a:avLst/>
          </a:prstGeom>
        </p:spPr>
        <p:txBody>
          <a:bodyPr anchor="t" rtlCol="false" tIns="0" lIns="0" bIns="0" rIns="0">
            <a:spAutoFit/>
          </a:bodyPr>
          <a:lstStyle/>
          <a:p>
            <a:pPr algn="r">
              <a:lnSpc>
                <a:spcPts val="4400"/>
              </a:lnSpc>
            </a:pPr>
            <a:r>
              <a:rPr lang="en-US" b="true" sz="4400" i="true">
                <a:solidFill>
                  <a:srgbClr val="DC2F02"/>
                </a:solidFill>
                <a:latin typeface="Ubuntu Bold Italics"/>
                <a:ea typeface="Ubuntu Bold Italics"/>
                <a:cs typeface="Ubuntu Bold Italics"/>
                <a:sym typeface="Ubuntu Bold Italics"/>
              </a:rPr>
              <a:t>04</a:t>
            </a:r>
          </a:p>
        </p:txBody>
      </p:sp>
      <p:sp>
        <p:nvSpPr>
          <p:cNvPr name="TextBox 75" id="75"/>
          <p:cNvSpPr txBox="true"/>
          <p:nvPr/>
        </p:nvSpPr>
        <p:spPr>
          <a:xfrm rot="0">
            <a:off x="6565777" y="1206165"/>
            <a:ext cx="2602743" cy="752474"/>
          </a:xfrm>
          <a:prstGeom prst="rect">
            <a:avLst/>
          </a:prstGeom>
        </p:spPr>
        <p:txBody>
          <a:bodyPr anchor="t" rtlCol="false" tIns="0" lIns="0" bIns="0" rIns="0">
            <a:spAutoFit/>
          </a:bodyPr>
          <a:lstStyle/>
          <a:p>
            <a:pPr algn="l" marL="0" indent="0" lvl="0">
              <a:lnSpc>
                <a:spcPts val="2999"/>
              </a:lnSpc>
            </a:pPr>
            <a:r>
              <a:rPr lang="en-US" sz="2999" i="true" spc="74">
                <a:solidFill>
                  <a:srgbClr val="F5F3F4"/>
                </a:solidFill>
                <a:latin typeface="Canva Sans Italics"/>
                <a:ea typeface="Canva Sans Italics"/>
                <a:cs typeface="Canva Sans Italics"/>
                <a:sym typeface="Canva Sans Italics"/>
              </a:rPr>
              <a:t>Year wise sales </a:t>
            </a:r>
          </a:p>
        </p:txBody>
      </p:sp>
      <p:sp>
        <p:nvSpPr>
          <p:cNvPr name="TextBox 76" id="76"/>
          <p:cNvSpPr txBox="true"/>
          <p:nvPr/>
        </p:nvSpPr>
        <p:spPr>
          <a:xfrm rot="0">
            <a:off x="1344458" y="6824188"/>
            <a:ext cx="872451" cy="597535"/>
          </a:xfrm>
          <a:prstGeom prst="rect">
            <a:avLst/>
          </a:prstGeom>
        </p:spPr>
        <p:txBody>
          <a:bodyPr anchor="t" rtlCol="false" tIns="0" lIns="0" bIns="0" rIns="0">
            <a:spAutoFit/>
          </a:bodyPr>
          <a:lstStyle/>
          <a:p>
            <a:pPr algn="r">
              <a:lnSpc>
                <a:spcPts val="4400"/>
              </a:lnSpc>
            </a:pPr>
            <a:r>
              <a:rPr lang="en-US" b="true" sz="4400" i="true">
                <a:solidFill>
                  <a:srgbClr val="DC2F02"/>
                </a:solidFill>
                <a:latin typeface="Ubuntu Bold Italics"/>
                <a:ea typeface="Ubuntu Bold Italics"/>
                <a:cs typeface="Ubuntu Bold Italics"/>
                <a:sym typeface="Ubuntu Bold Italics"/>
              </a:rPr>
              <a:t>01</a:t>
            </a:r>
          </a:p>
        </p:txBody>
      </p:sp>
      <p:sp>
        <p:nvSpPr>
          <p:cNvPr name="TextBox 77" id="77"/>
          <p:cNvSpPr txBox="true"/>
          <p:nvPr/>
        </p:nvSpPr>
        <p:spPr>
          <a:xfrm rot="0">
            <a:off x="8973944" y="6824188"/>
            <a:ext cx="872451" cy="597535"/>
          </a:xfrm>
          <a:prstGeom prst="rect">
            <a:avLst/>
          </a:prstGeom>
        </p:spPr>
        <p:txBody>
          <a:bodyPr anchor="t" rtlCol="false" tIns="0" lIns="0" bIns="0" rIns="0">
            <a:spAutoFit/>
          </a:bodyPr>
          <a:lstStyle/>
          <a:p>
            <a:pPr algn="r">
              <a:lnSpc>
                <a:spcPts val="4400"/>
              </a:lnSpc>
            </a:pPr>
            <a:r>
              <a:rPr lang="en-US" b="true" sz="4400" i="true">
                <a:solidFill>
                  <a:srgbClr val="DC2F02"/>
                </a:solidFill>
                <a:latin typeface="Ubuntu Bold Italics"/>
                <a:ea typeface="Ubuntu Bold Italics"/>
                <a:cs typeface="Ubuntu Bold Italics"/>
                <a:sym typeface="Ubuntu Bold Italics"/>
              </a:rPr>
              <a:t>03</a:t>
            </a:r>
          </a:p>
        </p:txBody>
      </p:sp>
      <p:sp>
        <p:nvSpPr>
          <p:cNvPr name="TextBox 78" id="78"/>
          <p:cNvSpPr txBox="true"/>
          <p:nvPr/>
        </p:nvSpPr>
        <p:spPr>
          <a:xfrm rot="0">
            <a:off x="5514542" y="1283635"/>
            <a:ext cx="872451" cy="597535"/>
          </a:xfrm>
          <a:prstGeom prst="rect">
            <a:avLst/>
          </a:prstGeom>
        </p:spPr>
        <p:txBody>
          <a:bodyPr anchor="t" rtlCol="false" tIns="0" lIns="0" bIns="0" rIns="0">
            <a:spAutoFit/>
          </a:bodyPr>
          <a:lstStyle/>
          <a:p>
            <a:pPr algn="r">
              <a:lnSpc>
                <a:spcPts val="4400"/>
              </a:lnSpc>
            </a:pPr>
            <a:r>
              <a:rPr lang="en-US" b="true" sz="4400" i="true">
                <a:solidFill>
                  <a:srgbClr val="DC2F02"/>
                </a:solidFill>
                <a:latin typeface="Ubuntu Bold Italics"/>
                <a:ea typeface="Ubuntu Bold Italics"/>
                <a:cs typeface="Ubuntu Bold Italics"/>
                <a:sym typeface="Ubuntu Bold Italics"/>
              </a:rPr>
              <a:t>02</a:t>
            </a:r>
          </a:p>
        </p:txBody>
      </p:sp>
      <p:sp>
        <p:nvSpPr>
          <p:cNvPr name="TextBox 79" id="79"/>
          <p:cNvSpPr txBox="true"/>
          <p:nvPr/>
        </p:nvSpPr>
        <p:spPr>
          <a:xfrm rot="0">
            <a:off x="2484517" y="6932456"/>
            <a:ext cx="2221743" cy="752474"/>
          </a:xfrm>
          <a:prstGeom prst="rect">
            <a:avLst/>
          </a:prstGeom>
        </p:spPr>
        <p:txBody>
          <a:bodyPr anchor="t" rtlCol="false" tIns="0" lIns="0" bIns="0" rIns="0">
            <a:spAutoFit/>
          </a:bodyPr>
          <a:lstStyle/>
          <a:p>
            <a:pPr algn="l" marL="0" indent="0" lvl="0">
              <a:lnSpc>
                <a:spcPts val="2999"/>
              </a:lnSpc>
            </a:pPr>
            <a:r>
              <a:rPr lang="en-US" sz="2999" i="true" spc="74">
                <a:solidFill>
                  <a:srgbClr val="F5F3F4"/>
                </a:solidFill>
                <a:latin typeface="Canva Sans Italics"/>
                <a:ea typeface="Canva Sans Italics"/>
                <a:cs typeface="Canva Sans Italics"/>
                <a:sym typeface="Canva Sans Italics"/>
              </a:rPr>
              <a:t>Top 10 states </a:t>
            </a:r>
          </a:p>
        </p:txBody>
      </p:sp>
      <p:sp>
        <p:nvSpPr>
          <p:cNvPr name="TextBox 80" id="80"/>
          <p:cNvSpPr txBox="true"/>
          <p:nvPr/>
        </p:nvSpPr>
        <p:spPr>
          <a:xfrm rot="0">
            <a:off x="10114003" y="6932456"/>
            <a:ext cx="2221743" cy="752474"/>
          </a:xfrm>
          <a:prstGeom prst="rect">
            <a:avLst/>
          </a:prstGeom>
        </p:spPr>
        <p:txBody>
          <a:bodyPr anchor="t" rtlCol="false" tIns="0" lIns="0" bIns="0" rIns="0">
            <a:spAutoFit/>
          </a:bodyPr>
          <a:lstStyle/>
          <a:p>
            <a:pPr algn="l" marL="0" indent="0" lvl="0">
              <a:lnSpc>
                <a:spcPts val="2999"/>
              </a:lnSpc>
            </a:pPr>
            <a:r>
              <a:rPr lang="en-US" sz="2999" i="true" spc="74">
                <a:solidFill>
                  <a:srgbClr val="F5F3F4"/>
                </a:solidFill>
                <a:latin typeface="Canva Sans Italics"/>
                <a:ea typeface="Canva Sans Italics"/>
                <a:cs typeface="Canva Sans Italics"/>
                <a:sym typeface="Canva Sans Italics"/>
              </a:rPr>
              <a:t>Category-wise sales </a:t>
            </a:r>
          </a:p>
        </p:txBody>
      </p:sp>
      <p:sp>
        <p:nvSpPr>
          <p:cNvPr name="TextBox 81" id="81"/>
          <p:cNvSpPr txBox="true"/>
          <p:nvPr/>
        </p:nvSpPr>
        <p:spPr>
          <a:xfrm rot="0">
            <a:off x="14790296" y="1248569"/>
            <a:ext cx="2602743" cy="752474"/>
          </a:xfrm>
          <a:prstGeom prst="rect">
            <a:avLst/>
          </a:prstGeom>
        </p:spPr>
        <p:txBody>
          <a:bodyPr anchor="t" rtlCol="false" tIns="0" lIns="0" bIns="0" rIns="0">
            <a:spAutoFit/>
          </a:bodyPr>
          <a:lstStyle/>
          <a:p>
            <a:pPr algn="l" marL="0" indent="0" lvl="0">
              <a:lnSpc>
                <a:spcPts val="2999"/>
              </a:lnSpc>
            </a:pPr>
            <a:r>
              <a:rPr lang="en-US" sz="2999" i="true" spc="74">
                <a:solidFill>
                  <a:srgbClr val="F5F3F4"/>
                </a:solidFill>
                <a:latin typeface="Canva Sans Italics"/>
                <a:ea typeface="Canva Sans Italics"/>
                <a:cs typeface="Canva Sans Italics"/>
                <a:sym typeface="Canva Sans Italics"/>
              </a:rPr>
              <a:t> Vehicle Type Sales</a:t>
            </a:r>
          </a:p>
        </p:txBody>
      </p:sp>
      <p:sp>
        <p:nvSpPr>
          <p:cNvPr name="TextBox 82" id="82"/>
          <p:cNvSpPr txBox="true"/>
          <p:nvPr/>
        </p:nvSpPr>
        <p:spPr>
          <a:xfrm rot="0">
            <a:off x="1274910" y="7849084"/>
            <a:ext cx="4044826" cy="1113413"/>
          </a:xfrm>
          <a:prstGeom prst="rect">
            <a:avLst/>
          </a:prstGeom>
        </p:spPr>
        <p:txBody>
          <a:bodyPr anchor="t" rtlCol="false" tIns="0" lIns="0" bIns="0" rIns="0">
            <a:spAutoFit/>
          </a:bodyPr>
          <a:lstStyle/>
          <a:p>
            <a:pPr algn="l">
              <a:lnSpc>
                <a:spcPts val="2230"/>
              </a:lnSpc>
            </a:pPr>
            <a:r>
              <a:rPr lang="en-US" sz="1715" i="true" spc="42">
                <a:solidFill>
                  <a:srgbClr val="F5F3F4"/>
                </a:solidFill>
                <a:latin typeface="Canva Sans Italics"/>
                <a:ea typeface="Canva Sans Italics"/>
                <a:cs typeface="Canva Sans Italics"/>
                <a:sym typeface="Canva Sans Italics"/>
              </a:rPr>
              <a:t>CODE: SELECT c4 AS State, SUM(c8) AS Total_Sales FROM EVsales GROUP BY c4 ORDER BY Total_Sales DESC LIMIT 10;</a:t>
            </a:r>
          </a:p>
        </p:txBody>
      </p:sp>
      <p:sp>
        <p:nvSpPr>
          <p:cNvPr name="TextBox 83" id="83"/>
          <p:cNvSpPr txBox="true"/>
          <p:nvPr/>
        </p:nvSpPr>
        <p:spPr>
          <a:xfrm rot="0">
            <a:off x="5514542" y="2128820"/>
            <a:ext cx="3732239" cy="1034023"/>
          </a:xfrm>
          <a:prstGeom prst="rect">
            <a:avLst/>
          </a:prstGeom>
        </p:spPr>
        <p:txBody>
          <a:bodyPr anchor="t" rtlCol="false" tIns="0" lIns="0" bIns="0" rIns="0">
            <a:spAutoFit/>
          </a:bodyPr>
          <a:lstStyle/>
          <a:p>
            <a:pPr algn="l">
              <a:lnSpc>
                <a:spcPts val="2069"/>
              </a:lnSpc>
            </a:pPr>
            <a:r>
              <a:rPr lang="en-US" sz="1592" i="true" spc="39">
                <a:solidFill>
                  <a:srgbClr val="F5F3F4"/>
                </a:solidFill>
                <a:latin typeface="Canva Sans Italics"/>
                <a:ea typeface="Canva Sans Italics"/>
                <a:cs typeface="Canva Sans Italics"/>
                <a:sym typeface="Canva Sans Italics"/>
              </a:rPr>
              <a:t>CODE: SELECT c1 AS Year, SUM(c8) AS Yearly_Sales FROM EVsales GROUP BY c1 ORDER BY Year;</a:t>
            </a:r>
          </a:p>
          <a:p>
            <a:pPr algn="l">
              <a:lnSpc>
                <a:spcPts val="2069"/>
              </a:lnSpc>
            </a:pPr>
          </a:p>
        </p:txBody>
      </p:sp>
      <p:sp>
        <p:nvSpPr>
          <p:cNvPr name="TextBox 84" id="84"/>
          <p:cNvSpPr txBox="true"/>
          <p:nvPr/>
        </p:nvSpPr>
        <p:spPr>
          <a:xfrm rot="0">
            <a:off x="9144000" y="7853485"/>
            <a:ext cx="3937021" cy="1109012"/>
          </a:xfrm>
          <a:prstGeom prst="rect">
            <a:avLst/>
          </a:prstGeom>
        </p:spPr>
        <p:txBody>
          <a:bodyPr anchor="t" rtlCol="false" tIns="0" lIns="0" bIns="0" rIns="0">
            <a:spAutoFit/>
          </a:bodyPr>
          <a:lstStyle/>
          <a:p>
            <a:pPr algn="l">
              <a:lnSpc>
                <a:spcPts val="2202"/>
              </a:lnSpc>
            </a:pPr>
            <a:r>
              <a:rPr lang="en-US" sz="1693" i="true" spc="42">
                <a:solidFill>
                  <a:srgbClr val="F5F3F4"/>
                </a:solidFill>
                <a:latin typeface="Canva Sans Italics"/>
                <a:ea typeface="Canva Sans Italics"/>
                <a:cs typeface="Canva Sans Italics"/>
                <a:sym typeface="Canva Sans Italics"/>
              </a:rPr>
              <a:t>CODE: SELECT c6 AS Vehicle_Category, SUM(c8) AS Total_Sales FROM EVsales GROUP BY c6;</a:t>
            </a:r>
          </a:p>
        </p:txBody>
      </p:sp>
      <p:sp>
        <p:nvSpPr>
          <p:cNvPr name="TextBox 85" id="85"/>
          <p:cNvSpPr txBox="true"/>
          <p:nvPr/>
        </p:nvSpPr>
        <p:spPr>
          <a:xfrm rot="0">
            <a:off x="13819913" y="2128820"/>
            <a:ext cx="4543508" cy="872490"/>
          </a:xfrm>
          <a:prstGeom prst="rect">
            <a:avLst/>
          </a:prstGeom>
        </p:spPr>
        <p:txBody>
          <a:bodyPr anchor="t" rtlCol="false" tIns="0" lIns="0" bIns="0" rIns="0">
            <a:spAutoFit/>
          </a:bodyPr>
          <a:lstStyle/>
          <a:p>
            <a:pPr algn="l">
              <a:lnSpc>
                <a:spcPts val="2340"/>
              </a:lnSpc>
            </a:pPr>
            <a:r>
              <a:rPr lang="en-US" sz="1800" i="true" spc="44">
                <a:solidFill>
                  <a:srgbClr val="F5F3F4"/>
                </a:solidFill>
                <a:latin typeface="Canva Sans Italics"/>
                <a:ea typeface="Canva Sans Italics"/>
                <a:cs typeface="Canva Sans Italics"/>
                <a:sym typeface="Canva Sans Italics"/>
              </a:rPr>
              <a:t>CODE: SELECT c7 AS Vehicle_Type, SUM(c8) AS Type_Sales FROM EVsales GROUP BY c7;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61A1D"/>
        </a:solidFill>
      </p:bgPr>
    </p:bg>
    <p:spTree>
      <p:nvGrpSpPr>
        <p:cNvPr id="1" name=""/>
        <p:cNvGrpSpPr/>
        <p:nvPr/>
      </p:nvGrpSpPr>
      <p:grpSpPr>
        <a:xfrm>
          <a:off x="0" y="0"/>
          <a:ext cx="0" cy="0"/>
          <a:chOff x="0" y="0"/>
          <a:chExt cx="0" cy="0"/>
        </a:xfrm>
      </p:grpSpPr>
      <p:grpSp>
        <p:nvGrpSpPr>
          <p:cNvPr name="Group 2" id="2"/>
          <p:cNvGrpSpPr/>
          <p:nvPr/>
        </p:nvGrpSpPr>
        <p:grpSpPr>
          <a:xfrm rot="0">
            <a:off x="13710940" y="3122637"/>
            <a:ext cx="2893922" cy="1315263"/>
            <a:chOff x="0" y="0"/>
            <a:chExt cx="1341279" cy="609600"/>
          </a:xfrm>
        </p:grpSpPr>
        <p:sp>
          <p:nvSpPr>
            <p:cNvPr name="Freeform 3" id="3"/>
            <p:cNvSpPr/>
            <p:nvPr/>
          </p:nvSpPr>
          <p:spPr>
            <a:xfrm flipH="false" flipV="false" rot="0">
              <a:off x="0" y="0"/>
              <a:ext cx="1341279" cy="609600"/>
            </a:xfrm>
            <a:custGeom>
              <a:avLst/>
              <a:gdLst/>
              <a:ahLst/>
              <a:cxnLst/>
              <a:rect r="r" b="b" t="t" l="l"/>
              <a:pathLst>
                <a:path h="609600" w="1341279">
                  <a:moveTo>
                    <a:pt x="203200" y="0"/>
                  </a:moveTo>
                  <a:lnTo>
                    <a:pt x="1341279" y="0"/>
                  </a:lnTo>
                  <a:lnTo>
                    <a:pt x="1138079" y="609600"/>
                  </a:lnTo>
                  <a:lnTo>
                    <a:pt x="0" y="609600"/>
                  </a:lnTo>
                  <a:lnTo>
                    <a:pt x="203200" y="0"/>
                  </a:lnTo>
                  <a:close/>
                </a:path>
              </a:pathLst>
            </a:custGeom>
            <a:gradFill rotWithShape="true">
              <a:gsLst>
                <a:gs pos="0">
                  <a:srgbClr val="DC2F02">
                    <a:alpha val="100000"/>
                  </a:srgbClr>
                </a:gs>
                <a:gs pos="100000">
                  <a:srgbClr val="DC2F02">
                    <a:alpha val="0"/>
                  </a:srgbClr>
                </a:gs>
              </a:gsLst>
              <a:lin ang="0"/>
            </a:gradFill>
          </p:spPr>
        </p:sp>
        <p:sp>
          <p:nvSpPr>
            <p:cNvPr name="TextBox 4" id="4"/>
            <p:cNvSpPr txBox="true"/>
            <p:nvPr/>
          </p:nvSpPr>
          <p:spPr>
            <a:xfrm>
              <a:off x="101600" y="-38100"/>
              <a:ext cx="1138079"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198520" y="5450078"/>
            <a:ext cx="2273211" cy="3141222"/>
            <a:chOff x="0" y="0"/>
            <a:chExt cx="3030949" cy="4188296"/>
          </a:xfrm>
        </p:grpSpPr>
        <p:grpSp>
          <p:nvGrpSpPr>
            <p:cNvPr name="Group 6" id="6"/>
            <p:cNvGrpSpPr/>
            <p:nvPr/>
          </p:nvGrpSpPr>
          <p:grpSpPr>
            <a:xfrm rot="0">
              <a:off x="631987" y="932112"/>
              <a:ext cx="2398962" cy="3256184"/>
              <a:chOff x="0" y="0"/>
              <a:chExt cx="449117" cy="609600"/>
            </a:xfrm>
          </p:grpSpPr>
          <p:sp>
            <p:nvSpPr>
              <p:cNvPr name="Freeform 7" id="7"/>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a:ln w="19050" cap="sq">
                <a:gradFill>
                  <a:gsLst>
                    <a:gs pos="0">
                      <a:srgbClr val="F5F3F4">
                        <a:alpha val="100000"/>
                      </a:srgbClr>
                    </a:gs>
                    <a:gs pos="100000">
                      <a:srgbClr val="F5F3F4">
                        <a:alpha val="0"/>
                      </a:srgbClr>
                    </a:gs>
                  </a:gsLst>
                  <a:lin ang="5400000"/>
                </a:gradFill>
                <a:prstDash val="solid"/>
                <a:miter/>
              </a:ln>
            </p:spPr>
          </p:sp>
          <p:sp>
            <p:nvSpPr>
              <p:cNvPr name="TextBox 8" id="8"/>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9" id="9"/>
            <p:cNvGrpSpPr/>
            <p:nvPr/>
          </p:nvGrpSpPr>
          <p:grpSpPr>
            <a:xfrm rot="0">
              <a:off x="416071" y="490097"/>
              <a:ext cx="2398962" cy="3256184"/>
              <a:chOff x="0" y="0"/>
              <a:chExt cx="449117" cy="609600"/>
            </a:xfrm>
          </p:grpSpPr>
          <p:sp>
            <p:nvSpPr>
              <p:cNvPr name="Freeform 10" id="10"/>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5400000"/>
                </a:gradFill>
                <a:prstDash val="solid"/>
                <a:miter/>
              </a:ln>
            </p:spPr>
          </p:sp>
          <p:sp>
            <p:nvSpPr>
              <p:cNvPr name="TextBox 11" id="11"/>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nvGrpSpPr>
            <p:cNvPr name="Group 12" id="12"/>
            <p:cNvGrpSpPr/>
            <p:nvPr/>
          </p:nvGrpSpPr>
          <p:grpSpPr>
            <a:xfrm rot="0">
              <a:off x="0" y="0"/>
              <a:ext cx="2662726" cy="3614200"/>
              <a:chOff x="0" y="0"/>
              <a:chExt cx="449117" cy="609600"/>
            </a:xfrm>
          </p:grpSpPr>
          <p:sp>
            <p:nvSpPr>
              <p:cNvPr name="Freeform 13" id="13"/>
              <p:cNvSpPr/>
              <p:nvPr/>
            </p:nvSpPr>
            <p:spPr>
              <a:xfrm flipH="false" flipV="false" rot="0">
                <a:off x="0" y="0"/>
                <a:ext cx="449117" cy="609600"/>
              </a:xfrm>
              <a:custGeom>
                <a:avLst/>
                <a:gdLst/>
                <a:ahLst/>
                <a:cxnLst/>
                <a:rect r="r" b="b" t="t" l="l"/>
                <a:pathLst>
                  <a:path h="609600" w="449117">
                    <a:moveTo>
                      <a:pt x="203200" y="0"/>
                    </a:moveTo>
                    <a:lnTo>
                      <a:pt x="449117" y="0"/>
                    </a:lnTo>
                    <a:lnTo>
                      <a:pt x="245917" y="609600"/>
                    </a:lnTo>
                    <a:lnTo>
                      <a:pt x="0" y="609600"/>
                    </a:lnTo>
                    <a:lnTo>
                      <a:pt x="203200" y="0"/>
                    </a:lnTo>
                    <a:close/>
                  </a:path>
                </a:pathLst>
              </a:custGeom>
              <a:gradFill rotWithShape="true">
                <a:gsLst>
                  <a:gs pos="0">
                    <a:srgbClr val="DC2F02">
                      <a:alpha val="100000"/>
                    </a:srgbClr>
                  </a:gs>
                  <a:gs pos="100000">
                    <a:srgbClr val="DC2F02">
                      <a:alpha val="0"/>
                    </a:srgbClr>
                  </a:gs>
                </a:gsLst>
                <a:lin ang="5400000"/>
              </a:gradFill>
            </p:spPr>
          </p:sp>
          <p:sp>
            <p:nvSpPr>
              <p:cNvPr name="TextBox 14" id="14"/>
              <p:cNvSpPr txBox="true"/>
              <p:nvPr/>
            </p:nvSpPr>
            <p:spPr>
              <a:xfrm>
                <a:off x="101600" y="-38100"/>
                <a:ext cx="245917" cy="647700"/>
              </a:xfrm>
              <a:prstGeom prst="rect">
                <a:avLst/>
              </a:prstGeom>
            </p:spPr>
            <p:txBody>
              <a:bodyPr anchor="ctr" rtlCol="false" tIns="50800" lIns="50800" bIns="50800" rIns="50800"/>
              <a:lstStyle/>
              <a:p>
                <a:pPr algn="ctr">
                  <a:lnSpc>
                    <a:spcPts val="2660"/>
                  </a:lnSpc>
                  <a:spcBef>
                    <a:spcPct val="0"/>
                  </a:spcBef>
                </a:pPr>
              </a:p>
            </p:txBody>
          </p:sp>
        </p:grpSp>
      </p:grpSp>
      <p:grpSp>
        <p:nvGrpSpPr>
          <p:cNvPr name="Group 15" id="15"/>
          <p:cNvGrpSpPr/>
          <p:nvPr/>
        </p:nvGrpSpPr>
        <p:grpSpPr>
          <a:xfrm rot="0">
            <a:off x="12757103" y="3232848"/>
            <a:ext cx="4882834" cy="4434459"/>
            <a:chOff x="0" y="0"/>
            <a:chExt cx="671238" cy="609600"/>
          </a:xfrm>
        </p:grpSpPr>
        <p:sp>
          <p:nvSpPr>
            <p:cNvPr name="Freeform 16" id="16"/>
            <p:cNvSpPr/>
            <p:nvPr/>
          </p:nvSpPr>
          <p:spPr>
            <a:xfrm flipH="false" flipV="false" rot="0">
              <a:off x="0" y="0"/>
              <a:ext cx="671238" cy="609600"/>
            </a:xfrm>
            <a:custGeom>
              <a:avLst/>
              <a:gdLst/>
              <a:ahLst/>
              <a:cxnLst/>
              <a:rect r="r" b="b" t="t" l="l"/>
              <a:pathLst>
                <a:path h="609600" w="671238">
                  <a:moveTo>
                    <a:pt x="203200" y="0"/>
                  </a:moveTo>
                  <a:lnTo>
                    <a:pt x="671238" y="0"/>
                  </a:lnTo>
                  <a:lnTo>
                    <a:pt x="468038" y="609600"/>
                  </a:lnTo>
                  <a:lnTo>
                    <a:pt x="0" y="609600"/>
                  </a:lnTo>
                  <a:lnTo>
                    <a:pt x="203200" y="0"/>
                  </a:lnTo>
                  <a:close/>
                </a:path>
              </a:pathLst>
            </a:custGeom>
            <a:blipFill>
              <a:blip r:embed="rId2"/>
              <a:stretch>
                <a:fillRect l="-18051" t="0" r="-18051" b="0"/>
              </a:stretch>
            </a:blipFill>
          </p:spPr>
        </p:sp>
      </p:grpSp>
      <p:grpSp>
        <p:nvGrpSpPr>
          <p:cNvPr name="Group 17" id="17"/>
          <p:cNvGrpSpPr/>
          <p:nvPr/>
        </p:nvGrpSpPr>
        <p:grpSpPr>
          <a:xfrm rot="0">
            <a:off x="238697" y="0"/>
            <a:ext cx="705305" cy="10287000"/>
            <a:chOff x="0" y="0"/>
            <a:chExt cx="185759" cy="2709333"/>
          </a:xfrm>
        </p:grpSpPr>
        <p:sp>
          <p:nvSpPr>
            <p:cNvPr name="Freeform 18" id="18"/>
            <p:cNvSpPr/>
            <p:nvPr/>
          </p:nvSpPr>
          <p:spPr>
            <a:xfrm flipH="false" flipV="false" rot="0">
              <a:off x="0" y="0"/>
              <a:ext cx="185759" cy="2709333"/>
            </a:xfrm>
            <a:custGeom>
              <a:avLst/>
              <a:gdLst/>
              <a:ahLst/>
              <a:cxnLst/>
              <a:rect r="r" b="b" t="t" l="l"/>
              <a:pathLst>
                <a:path h="2709333" w="185759">
                  <a:moveTo>
                    <a:pt x="0" y="0"/>
                  </a:moveTo>
                  <a:lnTo>
                    <a:pt x="185759" y="0"/>
                  </a:lnTo>
                  <a:lnTo>
                    <a:pt x="185759" y="2709333"/>
                  </a:lnTo>
                  <a:lnTo>
                    <a:pt x="0" y="2709333"/>
                  </a:lnTo>
                  <a:close/>
                </a:path>
              </a:pathLst>
            </a:custGeom>
            <a:gradFill rotWithShape="true">
              <a:gsLst>
                <a:gs pos="0">
                  <a:srgbClr val="DC2F02">
                    <a:alpha val="100000"/>
                  </a:srgbClr>
                </a:gs>
                <a:gs pos="100000">
                  <a:srgbClr val="DC2F02">
                    <a:alpha val="0"/>
                  </a:srgbClr>
                </a:gs>
              </a:gsLst>
              <a:path path="circle">
                <a:fillToRect l="50000" r="50000" t="50000" b="50000"/>
              </a:path>
            </a:gradFill>
          </p:spPr>
        </p:sp>
        <p:sp>
          <p:nvSpPr>
            <p:cNvPr name="TextBox 19" id="19"/>
            <p:cNvSpPr txBox="true"/>
            <p:nvPr/>
          </p:nvSpPr>
          <p:spPr>
            <a:xfrm>
              <a:off x="0" y="-38100"/>
              <a:ext cx="185759"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238697" y="6963628"/>
            <a:ext cx="705305" cy="703087"/>
            <a:chOff x="0" y="0"/>
            <a:chExt cx="185759" cy="185175"/>
          </a:xfrm>
        </p:grpSpPr>
        <p:sp>
          <p:nvSpPr>
            <p:cNvPr name="Freeform 21" id="21"/>
            <p:cNvSpPr/>
            <p:nvPr/>
          </p:nvSpPr>
          <p:spPr>
            <a:xfrm flipH="false" flipV="false" rot="0">
              <a:off x="0" y="0"/>
              <a:ext cx="185759" cy="185175"/>
            </a:xfrm>
            <a:custGeom>
              <a:avLst/>
              <a:gdLst/>
              <a:ahLst/>
              <a:cxnLst/>
              <a:rect r="r" b="b" t="t" l="l"/>
              <a:pathLst>
                <a:path h="185175" w="185759">
                  <a:moveTo>
                    <a:pt x="0" y="0"/>
                  </a:moveTo>
                  <a:lnTo>
                    <a:pt x="185759" y="0"/>
                  </a:lnTo>
                  <a:lnTo>
                    <a:pt x="185759" y="185175"/>
                  </a:lnTo>
                  <a:lnTo>
                    <a:pt x="0" y="185175"/>
                  </a:lnTo>
                  <a:close/>
                </a:path>
              </a:pathLst>
            </a:custGeom>
            <a:solidFill>
              <a:srgbClr val="DC2F02"/>
            </a:solidFill>
          </p:spPr>
        </p:sp>
        <p:sp>
          <p:nvSpPr>
            <p:cNvPr name="TextBox 22" id="22"/>
            <p:cNvSpPr txBox="true"/>
            <p:nvPr/>
          </p:nvSpPr>
          <p:spPr>
            <a:xfrm>
              <a:off x="0" y="-38100"/>
              <a:ext cx="185759" cy="223275"/>
            </a:xfrm>
            <a:prstGeom prst="rect">
              <a:avLst/>
            </a:prstGeom>
          </p:spPr>
          <p:txBody>
            <a:bodyPr anchor="ctr" rtlCol="false" tIns="50800" lIns="50800" bIns="50800" rIns="50800"/>
            <a:lstStyle/>
            <a:p>
              <a:pPr algn="ctr">
                <a:lnSpc>
                  <a:spcPts val="2659"/>
                </a:lnSpc>
                <a:spcBef>
                  <a:spcPct val="0"/>
                </a:spcBef>
              </a:pPr>
            </a:p>
          </p:txBody>
        </p:sp>
      </p:grpSp>
      <p:sp>
        <p:nvSpPr>
          <p:cNvPr name="Freeform 23" id="23"/>
          <p:cNvSpPr/>
          <p:nvPr/>
        </p:nvSpPr>
        <p:spPr>
          <a:xfrm flipH="false" flipV="false" rot="0">
            <a:off x="375398" y="1028700"/>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4" id="24"/>
          <p:cNvSpPr/>
          <p:nvPr/>
        </p:nvSpPr>
        <p:spPr>
          <a:xfrm flipH="false" flipV="false" rot="0">
            <a:off x="412503" y="1923573"/>
            <a:ext cx="357692" cy="429543"/>
          </a:xfrm>
          <a:custGeom>
            <a:avLst/>
            <a:gdLst/>
            <a:ahLst/>
            <a:cxnLst/>
            <a:rect r="r" b="b" t="t" l="l"/>
            <a:pathLst>
              <a:path h="429543" w="357692">
                <a:moveTo>
                  <a:pt x="0" y="0"/>
                </a:moveTo>
                <a:lnTo>
                  <a:pt x="357692" y="0"/>
                </a:lnTo>
                <a:lnTo>
                  <a:pt x="357692" y="429543"/>
                </a:lnTo>
                <a:lnTo>
                  <a:pt x="0" y="4295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5" id="25"/>
          <p:cNvSpPr/>
          <p:nvPr/>
        </p:nvSpPr>
        <p:spPr>
          <a:xfrm flipH="false" flipV="false" rot="0">
            <a:off x="375398" y="2845928"/>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6" id="26"/>
          <p:cNvSpPr/>
          <p:nvPr/>
        </p:nvSpPr>
        <p:spPr>
          <a:xfrm flipH="false" flipV="false" rot="0">
            <a:off x="412503" y="3740801"/>
            <a:ext cx="357692" cy="344685"/>
          </a:xfrm>
          <a:custGeom>
            <a:avLst/>
            <a:gdLst/>
            <a:ahLst/>
            <a:cxnLst/>
            <a:rect r="r" b="b" t="t" l="l"/>
            <a:pathLst>
              <a:path h="344685" w="357692">
                <a:moveTo>
                  <a:pt x="0" y="0"/>
                </a:moveTo>
                <a:lnTo>
                  <a:pt x="357692" y="0"/>
                </a:lnTo>
                <a:lnTo>
                  <a:pt x="357692" y="344685"/>
                </a:lnTo>
                <a:lnTo>
                  <a:pt x="0" y="3446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7" id="27"/>
          <p:cNvSpPr/>
          <p:nvPr/>
        </p:nvSpPr>
        <p:spPr>
          <a:xfrm flipH="false" flipV="false" rot="0">
            <a:off x="412503" y="4578297"/>
            <a:ext cx="394797" cy="380441"/>
          </a:xfrm>
          <a:custGeom>
            <a:avLst/>
            <a:gdLst/>
            <a:ahLst/>
            <a:cxnLst/>
            <a:rect r="r" b="b" t="t" l="l"/>
            <a:pathLst>
              <a:path h="380441" w="394797">
                <a:moveTo>
                  <a:pt x="0" y="0"/>
                </a:moveTo>
                <a:lnTo>
                  <a:pt x="394797" y="0"/>
                </a:lnTo>
                <a:lnTo>
                  <a:pt x="394797" y="380441"/>
                </a:lnTo>
                <a:lnTo>
                  <a:pt x="0" y="3804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8" id="28"/>
          <p:cNvSpPr/>
          <p:nvPr/>
        </p:nvSpPr>
        <p:spPr>
          <a:xfrm flipH="false" flipV="false" rot="0">
            <a:off x="393950" y="8842103"/>
            <a:ext cx="431903" cy="416197"/>
          </a:xfrm>
          <a:custGeom>
            <a:avLst/>
            <a:gdLst/>
            <a:ahLst/>
            <a:cxnLst/>
            <a:rect r="r" b="b" t="t" l="l"/>
            <a:pathLst>
              <a:path h="416197" w="431903">
                <a:moveTo>
                  <a:pt x="0" y="0"/>
                </a:moveTo>
                <a:lnTo>
                  <a:pt x="431903" y="0"/>
                </a:lnTo>
                <a:lnTo>
                  <a:pt x="431903" y="416197"/>
                </a:lnTo>
                <a:lnTo>
                  <a:pt x="0" y="4161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9" id="29"/>
          <p:cNvSpPr/>
          <p:nvPr/>
        </p:nvSpPr>
        <p:spPr>
          <a:xfrm flipH="false" flipV="false" rot="0">
            <a:off x="401032" y="5451550"/>
            <a:ext cx="380634" cy="377866"/>
          </a:xfrm>
          <a:custGeom>
            <a:avLst/>
            <a:gdLst/>
            <a:ahLst/>
            <a:cxnLst/>
            <a:rect r="r" b="b" t="t" l="l"/>
            <a:pathLst>
              <a:path h="377866" w="380634">
                <a:moveTo>
                  <a:pt x="0" y="0"/>
                </a:moveTo>
                <a:lnTo>
                  <a:pt x="380634" y="0"/>
                </a:lnTo>
                <a:lnTo>
                  <a:pt x="380634" y="377866"/>
                </a:lnTo>
                <a:lnTo>
                  <a:pt x="0" y="37786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0" id="30"/>
          <p:cNvSpPr/>
          <p:nvPr/>
        </p:nvSpPr>
        <p:spPr>
          <a:xfrm flipH="false" flipV="false" rot="0">
            <a:off x="393950" y="7171074"/>
            <a:ext cx="431903" cy="288197"/>
          </a:xfrm>
          <a:custGeom>
            <a:avLst/>
            <a:gdLst/>
            <a:ahLst/>
            <a:cxnLst/>
            <a:rect r="r" b="b" t="t" l="l"/>
            <a:pathLst>
              <a:path h="288197" w="431903">
                <a:moveTo>
                  <a:pt x="0" y="0"/>
                </a:moveTo>
                <a:lnTo>
                  <a:pt x="431903" y="0"/>
                </a:lnTo>
                <a:lnTo>
                  <a:pt x="431903" y="288196"/>
                </a:lnTo>
                <a:lnTo>
                  <a:pt x="0" y="28819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1" id="31"/>
          <p:cNvSpPr/>
          <p:nvPr/>
        </p:nvSpPr>
        <p:spPr>
          <a:xfrm flipH="false" flipV="false" rot="0">
            <a:off x="412503" y="7952082"/>
            <a:ext cx="394797" cy="397210"/>
          </a:xfrm>
          <a:custGeom>
            <a:avLst/>
            <a:gdLst/>
            <a:ahLst/>
            <a:cxnLst/>
            <a:rect r="r" b="b" t="t" l="l"/>
            <a:pathLst>
              <a:path h="397210" w="394797">
                <a:moveTo>
                  <a:pt x="0" y="0"/>
                </a:moveTo>
                <a:lnTo>
                  <a:pt x="394797" y="0"/>
                </a:lnTo>
                <a:lnTo>
                  <a:pt x="394797" y="397210"/>
                </a:lnTo>
                <a:lnTo>
                  <a:pt x="0" y="39721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32" id="32"/>
          <p:cNvSpPr/>
          <p:nvPr/>
        </p:nvSpPr>
        <p:spPr>
          <a:xfrm flipH="false" flipV="false" rot="0">
            <a:off x="412503" y="6322227"/>
            <a:ext cx="394797" cy="356035"/>
          </a:xfrm>
          <a:custGeom>
            <a:avLst/>
            <a:gdLst/>
            <a:ahLst/>
            <a:cxnLst/>
            <a:rect r="r" b="b" t="t" l="l"/>
            <a:pathLst>
              <a:path h="356035" w="394797">
                <a:moveTo>
                  <a:pt x="0" y="0"/>
                </a:moveTo>
                <a:lnTo>
                  <a:pt x="394797" y="0"/>
                </a:lnTo>
                <a:lnTo>
                  <a:pt x="394797" y="356035"/>
                </a:lnTo>
                <a:lnTo>
                  <a:pt x="0" y="35603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33" id="33"/>
          <p:cNvSpPr txBox="true"/>
          <p:nvPr/>
        </p:nvSpPr>
        <p:spPr>
          <a:xfrm rot="0">
            <a:off x="1942091" y="2218771"/>
            <a:ext cx="10529584" cy="7202239"/>
          </a:xfrm>
          <a:prstGeom prst="rect">
            <a:avLst/>
          </a:prstGeom>
        </p:spPr>
        <p:txBody>
          <a:bodyPr anchor="t" rtlCol="false" tIns="0" lIns="0" bIns="0" rIns="0">
            <a:spAutoFit/>
          </a:bodyPr>
          <a:lstStyle/>
          <a:p>
            <a:pPr algn="ctr" marL="451856" indent="-225928" lvl="1">
              <a:lnSpc>
                <a:spcPts val="2720"/>
              </a:lnSpc>
              <a:buFont typeface="Arial"/>
              <a:buChar char="•"/>
            </a:pPr>
            <a:r>
              <a:rPr lang="en-US" sz="2092" i="true" spc="52">
                <a:solidFill>
                  <a:srgbClr val="F5F3F4"/>
                </a:solidFill>
                <a:latin typeface="Canva Sans Italics"/>
                <a:ea typeface="Canva Sans Italics"/>
                <a:cs typeface="Canva Sans Italics"/>
                <a:sym typeface="Canva Sans Italics"/>
              </a:rPr>
              <a:t>Strong EV Growth Trend:</a:t>
            </a:r>
          </a:p>
          <a:p>
            <a:pPr algn="ctr" marL="451856" indent="-225928" lvl="1">
              <a:lnSpc>
                <a:spcPts val="2720"/>
              </a:lnSpc>
              <a:buFont typeface="Arial"/>
              <a:buChar char="•"/>
            </a:pPr>
            <a:r>
              <a:rPr lang="en-US" sz="2092" i="true" spc="52">
                <a:solidFill>
                  <a:srgbClr val="F5F3F4"/>
                </a:solidFill>
                <a:latin typeface="Canva Sans Italics"/>
                <a:ea typeface="Canva Sans Italics"/>
                <a:cs typeface="Canva Sans Italics"/>
                <a:sym typeface="Canva Sans Italics"/>
              </a:rPr>
              <a:t> EV sales in India have shown a consistent upward trend from 2014 to 2024, indicating rising adoption and awareness.</a:t>
            </a:r>
          </a:p>
          <a:p>
            <a:pPr algn="ctr" marL="451856" indent="-225928" lvl="1">
              <a:lnSpc>
                <a:spcPts val="2720"/>
              </a:lnSpc>
              <a:buFont typeface="Arial"/>
              <a:buChar char="•"/>
            </a:pPr>
            <a:r>
              <a:rPr lang="en-US" sz="2092" i="true" spc="52">
                <a:solidFill>
                  <a:srgbClr val="F5F3F4"/>
                </a:solidFill>
                <a:latin typeface="Canva Sans Italics"/>
                <a:ea typeface="Canva Sans Italics"/>
                <a:cs typeface="Canva Sans Italics"/>
                <a:sym typeface="Canva Sans Italics"/>
              </a:rPr>
              <a:t>Rapid Growth After 2019:</a:t>
            </a:r>
          </a:p>
          <a:p>
            <a:pPr algn="ctr" marL="451856" indent="-225928" lvl="1">
              <a:lnSpc>
                <a:spcPts val="2720"/>
              </a:lnSpc>
              <a:buFont typeface="Arial"/>
              <a:buChar char="•"/>
            </a:pPr>
            <a:r>
              <a:rPr lang="en-US" sz="2092" i="true" spc="52">
                <a:solidFill>
                  <a:srgbClr val="F5F3F4"/>
                </a:solidFill>
                <a:latin typeface="Canva Sans Italics"/>
                <a:ea typeface="Canva Sans Italics"/>
                <a:cs typeface="Canva Sans Italics"/>
                <a:sym typeface="Canva Sans Italics"/>
              </a:rPr>
              <a:t> A sharp increase in EV sales is observed post-2019, driven by government incentives, policy support, and improved charging infrastructure.</a:t>
            </a:r>
          </a:p>
          <a:p>
            <a:pPr algn="ctr" marL="451856" indent="-225928" lvl="1">
              <a:lnSpc>
                <a:spcPts val="2720"/>
              </a:lnSpc>
              <a:buFont typeface="Arial"/>
              <a:buChar char="•"/>
            </a:pPr>
            <a:r>
              <a:rPr lang="en-US" sz="2092" i="true" spc="52">
                <a:solidFill>
                  <a:srgbClr val="F5F3F4"/>
                </a:solidFill>
                <a:latin typeface="Canva Sans Italics"/>
                <a:ea typeface="Canva Sans Italics"/>
                <a:cs typeface="Canva Sans Italics"/>
                <a:sym typeface="Canva Sans Italics"/>
              </a:rPr>
              <a:t>Top Performing States:</a:t>
            </a:r>
          </a:p>
          <a:p>
            <a:pPr algn="ctr" marL="451856" indent="-225928" lvl="1">
              <a:lnSpc>
                <a:spcPts val="2720"/>
              </a:lnSpc>
              <a:buFont typeface="Arial"/>
              <a:buChar char="•"/>
            </a:pPr>
            <a:r>
              <a:rPr lang="en-US" sz="2092" i="true" spc="52">
                <a:solidFill>
                  <a:srgbClr val="F5F3F4"/>
                </a:solidFill>
                <a:latin typeface="Canva Sans Italics"/>
                <a:ea typeface="Canva Sans Italics"/>
                <a:cs typeface="Canva Sans Italics"/>
                <a:sym typeface="Canva Sans Italics"/>
              </a:rPr>
              <a:t>Uttar Pradesh, Maharashtra, and Karnataka emerge as the leading states in EV sales, reflecting higher urbanization and policy-driven adoption.</a:t>
            </a:r>
          </a:p>
          <a:p>
            <a:pPr algn="ctr" marL="451856" indent="-225928" lvl="1">
              <a:lnSpc>
                <a:spcPts val="2720"/>
              </a:lnSpc>
              <a:buFont typeface="Arial"/>
              <a:buChar char="•"/>
            </a:pPr>
            <a:r>
              <a:rPr lang="en-US" sz="2092" i="true" spc="52">
                <a:solidFill>
                  <a:srgbClr val="F5F3F4"/>
                </a:solidFill>
                <a:latin typeface="Canva Sans Italics"/>
                <a:ea typeface="Canva Sans Italics"/>
                <a:cs typeface="Canva Sans Italics"/>
                <a:sym typeface="Canva Sans Italics"/>
              </a:rPr>
              <a:t>Wide Geographic Coverage:</a:t>
            </a:r>
          </a:p>
          <a:p>
            <a:pPr algn="ctr" marL="451856" indent="-225928" lvl="1">
              <a:lnSpc>
                <a:spcPts val="2720"/>
              </a:lnSpc>
              <a:buFont typeface="Arial"/>
              <a:buChar char="•"/>
            </a:pPr>
            <a:r>
              <a:rPr lang="en-US" sz="2092" i="true" spc="52">
                <a:solidFill>
                  <a:srgbClr val="F5F3F4"/>
                </a:solidFill>
                <a:latin typeface="Canva Sans Italics"/>
                <a:ea typeface="Canva Sans Italics"/>
                <a:cs typeface="Canva Sans Italics"/>
                <a:sym typeface="Canva Sans Italics"/>
              </a:rPr>
              <a:t> EV adoption spans across 34 states and union territories, showing nationwide penetration rather than regional limitation.</a:t>
            </a:r>
          </a:p>
          <a:p>
            <a:pPr algn="ctr" marL="451856" indent="-225928" lvl="1">
              <a:lnSpc>
                <a:spcPts val="2720"/>
              </a:lnSpc>
              <a:buFont typeface="Arial"/>
              <a:buChar char="•"/>
            </a:pPr>
            <a:r>
              <a:rPr lang="en-US" sz="2092" i="true" spc="52">
                <a:solidFill>
                  <a:srgbClr val="F5F3F4"/>
                </a:solidFill>
                <a:latin typeface="Canva Sans Italics"/>
                <a:ea typeface="Canva Sans Italics"/>
                <a:cs typeface="Canva Sans Italics"/>
                <a:sym typeface="Canva Sans Italics"/>
              </a:rPr>
              <a:t>Dominance of Passenger &amp; Light EVs:</a:t>
            </a:r>
          </a:p>
          <a:p>
            <a:pPr algn="ctr" marL="451856" indent="-225928" lvl="1">
              <a:lnSpc>
                <a:spcPts val="2720"/>
              </a:lnSpc>
              <a:buFont typeface="Arial"/>
              <a:buChar char="•"/>
            </a:pPr>
            <a:r>
              <a:rPr lang="en-US" sz="2092" i="true" spc="52">
                <a:solidFill>
                  <a:srgbClr val="F5F3F4"/>
                </a:solidFill>
                <a:latin typeface="Canva Sans Italics"/>
                <a:ea typeface="Canva Sans Italics"/>
                <a:cs typeface="Canva Sans Italics"/>
                <a:sym typeface="Canva Sans Italics"/>
              </a:rPr>
              <a:t> Passenger vehicles and the “Others” category (2-wheelers &amp; autos) account for the largest share of EV sales, highlighting affordability and daily-use demand.</a:t>
            </a:r>
          </a:p>
          <a:p>
            <a:pPr algn="ctr" marL="451856" indent="-225928" lvl="1">
              <a:lnSpc>
                <a:spcPts val="2720"/>
              </a:lnSpc>
              <a:buFont typeface="Arial"/>
              <a:buChar char="•"/>
            </a:pPr>
            <a:r>
              <a:rPr lang="en-US" sz="2092" i="true" spc="52">
                <a:solidFill>
                  <a:srgbClr val="F5F3F4"/>
                </a:solidFill>
                <a:latin typeface="Canva Sans Italics"/>
                <a:ea typeface="Canva Sans Italics"/>
                <a:cs typeface="Canva Sans Italics"/>
                <a:sym typeface="Canva Sans Italics"/>
              </a:rPr>
              <a:t>Emerging Commercial EV Segment:</a:t>
            </a:r>
          </a:p>
          <a:p>
            <a:pPr algn="ctr" marL="451856" indent="-225928" lvl="1">
              <a:lnSpc>
                <a:spcPts val="2720"/>
              </a:lnSpc>
              <a:buFont typeface="Arial"/>
              <a:buChar char="•"/>
            </a:pPr>
            <a:r>
              <a:rPr lang="en-US" sz="2092" i="true" spc="52">
                <a:solidFill>
                  <a:srgbClr val="F5F3F4"/>
                </a:solidFill>
                <a:latin typeface="Canva Sans Italics"/>
                <a:ea typeface="Canva Sans Italics"/>
                <a:cs typeface="Canva Sans Italics"/>
                <a:sym typeface="Canva Sans Italics"/>
              </a:rPr>
              <a:t> Growth in goods and public transport EVs (buses, taxis) indicates a shift toward sustainable commercial mobility.</a:t>
            </a:r>
          </a:p>
          <a:p>
            <a:pPr algn="ctr">
              <a:lnSpc>
                <a:spcPts val="2720"/>
              </a:lnSpc>
            </a:pPr>
          </a:p>
          <a:p>
            <a:pPr algn="ctr">
              <a:lnSpc>
                <a:spcPts val="2720"/>
              </a:lnSpc>
            </a:pPr>
          </a:p>
        </p:txBody>
      </p:sp>
      <p:sp>
        <p:nvSpPr>
          <p:cNvPr name="TextBox 34" id="34"/>
          <p:cNvSpPr txBox="true"/>
          <p:nvPr/>
        </p:nvSpPr>
        <p:spPr>
          <a:xfrm rot="0">
            <a:off x="4681408" y="768759"/>
            <a:ext cx="8925184" cy="662003"/>
          </a:xfrm>
          <a:prstGeom prst="rect">
            <a:avLst/>
          </a:prstGeom>
        </p:spPr>
        <p:txBody>
          <a:bodyPr anchor="t" rtlCol="false" tIns="0" lIns="0" bIns="0" rIns="0">
            <a:spAutoFit/>
          </a:bodyPr>
          <a:lstStyle/>
          <a:p>
            <a:pPr algn="ctr">
              <a:lnSpc>
                <a:spcPts val="4808"/>
              </a:lnSpc>
            </a:pPr>
            <a:r>
              <a:rPr lang="en-US" b="true" sz="4808" i="true">
                <a:solidFill>
                  <a:srgbClr val="DC2F02"/>
                </a:solidFill>
                <a:latin typeface="Ubuntu Bold Italics"/>
                <a:ea typeface="Ubuntu Bold Italics"/>
                <a:cs typeface="Ubuntu Bold Italics"/>
                <a:sym typeface="Ubuntu Bold Italics"/>
              </a:rPr>
              <a:t>🔑 KEY FINDINGS &amp; INSIGHTS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6717" r="0" b="-11948"/>
            </a:stretch>
          </a:blipFill>
        </p:spPr>
      </p:sp>
      <p:grpSp>
        <p:nvGrpSpPr>
          <p:cNvPr name="Group 3" id="3"/>
          <p:cNvGrpSpPr/>
          <p:nvPr/>
        </p:nvGrpSpPr>
        <p:grpSpPr>
          <a:xfrm rot="0">
            <a:off x="-854599" y="1028700"/>
            <a:ext cx="19015992" cy="8229600"/>
            <a:chOff x="0" y="0"/>
            <a:chExt cx="5008327" cy="2167467"/>
          </a:xfrm>
        </p:grpSpPr>
        <p:sp>
          <p:nvSpPr>
            <p:cNvPr name="Freeform 4" id="4"/>
            <p:cNvSpPr/>
            <p:nvPr/>
          </p:nvSpPr>
          <p:spPr>
            <a:xfrm flipH="false" flipV="false" rot="0">
              <a:off x="0" y="0"/>
              <a:ext cx="5008327" cy="2167467"/>
            </a:xfrm>
            <a:custGeom>
              <a:avLst/>
              <a:gdLst/>
              <a:ahLst/>
              <a:cxnLst/>
              <a:rect r="r" b="b" t="t" l="l"/>
              <a:pathLst>
                <a:path h="2167467" w="5008327">
                  <a:moveTo>
                    <a:pt x="0" y="0"/>
                  </a:moveTo>
                  <a:lnTo>
                    <a:pt x="5008327" y="0"/>
                  </a:lnTo>
                  <a:lnTo>
                    <a:pt x="5008327" y="2167467"/>
                  </a:lnTo>
                  <a:lnTo>
                    <a:pt x="0" y="2167467"/>
                  </a:lnTo>
                  <a:close/>
                </a:path>
              </a:pathLst>
            </a:custGeom>
            <a:gradFill rotWithShape="true">
              <a:gsLst>
                <a:gs pos="0">
                  <a:srgbClr val="161A1D">
                    <a:alpha val="0"/>
                  </a:srgbClr>
                </a:gs>
                <a:gs pos="50000">
                  <a:srgbClr val="161A1D">
                    <a:alpha val="100000"/>
                  </a:srgbClr>
                </a:gs>
                <a:gs pos="100000">
                  <a:srgbClr val="161A1D">
                    <a:alpha val="0"/>
                  </a:srgbClr>
                </a:gs>
              </a:gsLst>
              <a:lin ang="5400000"/>
            </a:gradFill>
          </p:spPr>
        </p:sp>
        <p:sp>
          <p:nvSpPr>
            <p:cNvPr name="TextBox 5" id="5"/>
            <p:cNvSpPr txBox="true"/>
            <p:nvPr/>
          </p:nvSpPr>
          <p:spPr>
            <a:xfrm>
              <a:off x="0" y="-38100"/>
              <a:ext cx="5008327" cy="2205567"/>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7830333" y="1370200"/>
            <a:ext cx="10457667" cy="10643978"/>
            <a:chOff x="0" y="0"/>
            <a:chExt cx="598930" cy="609600"/>
          </a:xfrm>
        </p:grpSpPr>
        <p:sp>
          <p:nvSpPr>
            <p:cNvPr name="Freeform 7" id="7"/>
            <p:cNvSpPr/>
            <p:nvPr/>
          </p:nvSpPr>
          <p:spPr>
            <a:xfrm flipH="false" flipV="false" rot="0">
              <a:off x="0" y="0"/>
              <a:ext cx="598930" cy="609600"/>
            </a:xfrm>
            <a:custGeom>
              <a:avLst/>
              <a:gdLst/>
              <a:ahLst/>
              <a:cxnLst/>
              <a:rect r="r" b="b" t="t" l="l"/>
              <a:pathLst>
                <a:path h="609600" w="598930">
                  <a:moveTo>
                    <a:pt x="203200" y="0"/>
                  </a:moveTo>
                  <a:lnTo>
                    <a:pt x="598930" y="0"/>
                  </a:lnTo>
                  <a:lnTo>
                    <a:pt x="395730" y="609600"/>
                  </a:lnTo>
                  <a:lnTo>
                    <a:pt x="0" y="609600"/>
                  </a:lnTo>
                  <a:lnTo>
                    <a:pt x="203200" y="0"/>
                  </a:lnTo>
                  <a:close/>
                </a:path>
              </a:pathLst>
            </a:custGeom>
            <a:gradFill rotWithShape="true">
              <a:gsLst>
                <a:gs pos="0">
                  <a:srgbClr val="DC2F02">
                    <a:alpha val="8000"/>
                  </a:srgbClr>
                </a:gs>
                <a:gs pos="100000">
                  <a:srgbClr val="DC2F02">
                    <a:alpha val="0"/>
                  </a:srgbClr>
                </a:gs>
              </a:gsLst>
              <a:lin ang="5400000"/>
            </a:gradFill>
            <a:ln w="38100" cap="sq">
              <a:gradFill>
                <a:gsLst>
                  <a:gs pos="0">
                    <a:srgbClr val="F5F3F4">
                      <a:alpha val="8000"/>
                    </a:srgbClr>
                  </a:gs>
                  <a:gs pos="100000">
                    <a:srgbClr val="F5F3F4">
                      <a:alpha val="0"/>
                    </a:srgbClr>
                  </a:gs>
                </a:gsLst>
                <a:lin ang="5400000"/>
              </a:gradFill>
              <a:prstDash val="solid"/>
              <a:miter/>
            </a:ln>
          </p:spPr>
        </p:sp>
        <p:sp>
          <p:nvSpPr>
            <p:cNvPr name="TextBox 8" id="8"/>
            <p:cNvSpPr txBox="true"/>
            <p:nvPr/>
          </p:nvSpPr>
          <p:spPr>
            <a:xfrm>
              <a:off x="101600" y="-38100"/>
              <a:ext cx="39573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7244775" y="644459"/>
            <a:ext cx="10457667" cy="10643978"/>
            <a:chOff x="0" y="0"/>
            <a:chExt cx="598930" cy="609600"/>
          </a:xfrm>
        </p:grpSpPr>
        <p:sp>
          <p:nvSpPr>
            <p:cNvPr name="Freeform 10" id="10"/>
            <p:cNvSpPr/>
            <p:nvPr/>
          </p:nvSpPr>
          <p:spPr>
            <a:xfrm flipH="false" flipV="false" rot="0">
              <a:off x="0" y="0"/>
              <a:ext cx="598930" cy="609600"/>
            </a:xfrm>
            <a:custGeom>
              <a:avLst/>
              <a:gdLst/>
              <a:ahLst/>
              <a:cxnLst/>
              <a:rect r="r" b="b" t="t" l="l"/>
              <a:pathLst>
                <a:path h="609600" w="598930">
                  <a:moveTo>
                    <a:pt x="203200" y="0"/>
                  </a:moveTo>
                  <a:lnTo>
                    <a:pt x="598930" y="0"/>
                  </a:lnTo>
                  <a:lnTo>
                    <a:pt x="395730" y="609600"/>
                  </a:lnTo>
                  <a:lnTo>
                    <a:pt x="0" y="609600"/>
                  </a:lnTo>
                  <a:lnTo>
                    <a:pt x="203200" y="0"/>
                  </a:lnTo>
                  <a:close/>
                </a:path>
              </a:pathLst>
            </a:custGeom>
            <a:solidFill>
              <a:srgbClr val="000000">
                <a:alpha val="0"/>
              </a:srgbClr>
            </a:solidFill>
            <a:ln w="38100" cap="sq">
              <a:gradFill>
                <a:gsLst>
                  <a:gs pos="0">
                    <a:srgbClr val="F5F3F4">
                      <a:alpha val="30000"/>
                    </a:srgbClr>
                  </a:gs>
                  <a:gs pos="100000">
                    <a:srgbClr val="F5F3F4">
                      <a:alpha val="0"/>
                    </a:srgbClr>
                  </a:gs>
                </a:gsLst>
                <a:lin ang="5400000"/>
              </a:gradFill>
              <a:prstDash val="solid"/>
              <a:miter/>
            </a:ln>
          </p:spPr>
        </p:sp>
        <p:sp>
          <p:nvSpPr>
            <p:cNvPr name="TextBox 11" id="11"/>
            <p:cNvSpPr txBox="true"/>
            <p:nvPr/>
          </p:nvSpPr>
          <p:spPr>
            <a:xfrm>
              <a:off x="101600" y="-38100"/>
              <a:ext cx="395730"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6722519" y="-146837"/>
            <a:ext cx="10457667" cy="10643978"/>
            <a:chOff x="0" y="0"/>
            <a:chExt cx="598930" cy="609600"/>
          </a:xfrm>
        </p:grpSpPr>
        <p:sp>
          <p:nvSpPr>
            <p:cNvPr name="Freeform 13" id="13"/>
            <p:cNvSpPr/>
            <p:nvPr/>
          </p:nvSpPr>
          <p:spPr>
            <a:xfrm flipH="false" flipV="false" rot="0">
              <a:off x="0" y="0"/>
              <a:ext cx="598930" cy="609600"/>
            </a:xfrm>
            <a:custGeom>
              <a:avLst/>
              <a:gdLst/>
              <a:ahLst/>
              <a:cxnLst/>
              <a:rect r="r" b="b" t="t" l="l"/>
              <a:pathLst>
                <a:path h="609600" w="598930">
                  <a:moveTo>
                    <a:pt x="203200" y="0"/>
                  </a:moveTo>
                  <a:lnTo>
                    <a:pt x="598930" y="0"/>
                  </a:lnTo>
                  <a:lnTo>
                    <a:pt x="395730" y="609600"/>
                  </a:lnTo>
                  <a:lnTo>
                    <a:pt x="0" y="609600"/>
                  </a:lnTo>
                  <a:lnTo>
                    <a:pt x="203200" y="0"/>
                  </a:lnTo>
                  <a:close/>
                </a:path>
              </a:pathLst>
            </a:custGeom>
            <a:gradFill rotWithShape="true">
              <a:gsLst>
                <a:gs pos="0">
                  <a:srgbClr val="DC2F02">
                    <a:alpha val="25000"/>
                  </a:srgbClr>
                </a:gs>
                <a:gs pos="100000">
                  <a:srgbClr val="DC2F02">
                    <a:alpha val="0"/>
                  </a:srgbClr>
                </a:gs>
              </a:gsLst>
              <a:lin ang="5400000"/>
            </a:gradFill>
          </p:spPr>
        </p:sp>
        <p:sp>
          <p:nvSpPr>
            <p:cNvPr name="TextBox 14" id="14"/>
            <p:cNvSpPr txBox="true"/>
            <p:nvPr/>
          </p:nvSpPr>
          <p:spPr>
            <a:xfrm>
              <a:off x="101600" y="-38100"/>
              <a:ext cx="395730" cy="64770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2666150" y="4299833"/>
            <a:ext cx="13367174" cy="1026160"/>
          </a:xfrm>
          <a:prstGeom prst="rect">
            <a:avLst/>
          </a:prstGeom>
        </p:spPr>
        <p:txBody>
          <a:bodyPr anchor="t" rtlCol="false" tIns="0" lIns="0" bIns="0" rIns="0">
            <a:spAutoFit/>
          </a:bodyPr>
          <a:lstStyle/>
          <a:p>
            <a:pPr algn="ctr">
              <a:lnSpc>
                <a:spcPts val="7400"/>
              </a:lnSpc>
            </a:pPr>
            <a:r>
              <a:rPr lang="en-US" b="true" sz="7400" i="true">
                <a:solidFill>
                  <a:srgbClr val="DC2F02"/>
                </a:solidFill>
                <a:latin typeface="Ubuntu Bold Italics"/>
                <a:ea typeface="Ubuntu Bold Italics"/>
                <a:cs typeface="Ubuntu Bold Italics"/>
                <a:sym typeface="Ubuntu Bold Italics"/>
              </a:rPr>
              <a:t>BUSINESS &amp; POLICY INSIGHTS </a:t>
            </a:r>
          </a:p>
        </p:txBody>
      </p:sp>
      <p:sp>
        <p:nvSpPr>
          <p:cNvPr name="TextBox 16" id="16"/>
          <p:cNvSpPr txBox="true"/>
          <p:nvPr/>
        </p:nvSpPr>
        <p:spPr>
          <a:xfrm rot="0">
            <a:off x="4836261" y="5505069"/>
            <a:ext cx="9026953" cy="2939415"/>
          </a:xfrm>
          <a:prstGeom prst="rect">
            <a:avLst/>
          </a:prstGeom>
        </p:spPr>
        <p:txBody>
          <a:bodyPr anchor="t" rtlCol="false" tIns="0" lIns="0" bIns="0" rIns="0">
            <a:spAutoFit/>
          </a:bodyPr>
          <a:lstStyle/>
          <a:p>
            <a:pPr algn="ctr"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Government policies and subsidies play a critical role in accelerating EV adoption.</a:t>
            </a:r>
          </a:p>
          <a:p>
            <a:pPr algn="ctr"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Urban states show faster adoption due to charging infrastructure availability.</a:t>
            </a:r>
          </a:p>
          <a:p>
            <a:pPr algn="ctr"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Two-wheelers remain the key driver of EV market expansion in India.</a:t>
            </a:r>
          </a:p>
          <a:p>
            <a:pPr algn="ctr"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Continued investment in infrastructure can further boost adoption in Tier-2 &amp; Tier-3 cities.</a:t>
            </a:r>
          </a:p>
          <a:p>
            <a:pPr algn="ctr" marL="388620" indent="-194310" lvl="1">
              <a:lnSpc>
                <a:spcPts val="2340"/>
              </a:lnSpc>
              <a:buFont typeface="Arial"/>
              <a:buChar char="•"/>
            </a:pPr>
            <a:r>
              <a:rPr lang="en-US" sz="1800" i="true" spc="44">
                <a:solidFill>
                  <a:srgbClr val="F5F3F4"/>
                </a:solidFill>
                <a:latin typeface="Canva Sans Italics"/>
                <a:ea typeface="Canva Sans Italics"/>
                <a:cs typeface="Canva Sans Italics"/>
                <a:sym typeface="Canva Sans Italics"/>
              </a:rPr>
              <a:t>Data-driven dashboards and SQL analysis help in strategic decision-making.</a:t>
            </a:r>
          </a:p>
          <a:p>
            <a:pPr algn="ctr">
              <a:lnSpc>
                <a:spcPts val="2340"/>
              </a:lnSpc>
            </a:pPr>
          </a:p>
        </p:txBody>
      </p:sp>
      <p:grpSp>
        <p:nvGrpSpPr>
          <p:cNvPr name="Group 17" id="17"/>
          <p:cNvGrpSpPr/>
          <p:nvPr/>
        </p:nvGrpSpPr>
        <p:grpSpPr>
          <a:xfrm rot="0">
            <a:off x="238697" y="0"/>
            <a:ext cx="705305" cy="10287000"/>
            <a:chOff x="0" y="0"/>
            <a:chExt cx="185759" cy="2709333"/>
          </a:xfrm>
        </p:grpSpPr>
        <p:sp>
          <p:nvSpPr>
            <p:cNvPr name="Freeform 18" id="18"/>
            <p:cNvSpPr/>
            <p:nvPr/>
          </p:nvSpPr>
          <p:spPr>
            <a:xfrm flipH="false" flipV="false" rot="0">
              <a:off x="0" y="0"/>
              <a:ext cx="185759" cy="2709333"/>
            </a:xfrm>
            <a:custGeom>
              <a:avLst/>
              <a:gdLst/>
              <a:ahLst/>
              <a:cxnLst/>
              <a:rect r="r" b="b" t="t" l="l"/>
              <a:pathLst>
                <a:path h="2709333" w="185759">
                  <a:moveTo>
                    <a:pt x="0" y="0"/>
                  </a:moveTo>
                  <a:lnTo>
                    <a:pt x="185759" y="0"/>
                  </a:lnTo>
                  <a:lnTo>
                    <a:pt x="185759" y="2709333"/>
                  </a:lnTo>
                  <a:lnTo>
                    <a:pt x="0" y="2709333"/>
                  </a:lnTo>
                  <a:close/>
                </a:path>
              </a:pathLst>
            </a:custGeom>
            <a:gradFill rotWithShape="true">
              <a:gsLst>
                <a:gs pos="0">
                  <a:srgbClr val="DC2F02">
                    <a:alpha val="100000"/>
                  </a:srgbClr>
                </a:gs>
                <a:gs pos="100000">
                  <a:srgbClr val="DC2F02">
                    <a:alpha val="0"/>
                  </a:srgbClr>
                </a:gs>
              </a:gsLst>
              <a:path path="circle">
                <a:fillToRect l="50000" r="50000" t="50000" b="50000"/>
              </a:path>
            </a:gradFill>
          </p:spPr>
        </p:sp>
        <p:sp>
          <p:nvSpPr>
            <p:cNvPr name="TextBox 19" id="19"/>
            <p:cNvSpPr txBox="true"/>
            <p:nvPr/>
          </p:nvSpPr>
          <p:spPr>
            <a:xfrm>
              <a:off x="0" y="-38100"/>
              <a:ext cx="185759"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238697" y="7799143"/>
            <a:ext cx="705305" cy="703087"/>
            <a:chOff x="0" y="0"/>
            <a:chExt cx="185759" cy="185175"/>
          </a:xfrm>
        </p:grpSpPr>
        <p:sp>
          <p:nvSpPr>
            <p:cNvPr name="Freeform 21" id="21"/>
            <p:cNvSpPr/>
            <p:nvPr/>
          </p:nvSpPr>
          <p:spPr>
            <a:xfrm flipH="false" flipV="false" rot="0">
              <a:off x="0" y="0"/>
              <a:ext cx="185759" cy="185175"/>
            </a:xfrm>
            <a:custGeom>
              <a:avLst/>
              <a:gdLst/>
              <a:ahLst/>
              <a:cxnLst/>
              <a:rect r="r" b="b" t="t" l="l"/>
              <a:pathLst>
                <a:path h="185175" w="185759">
                  <a:moveTo>
                    <a:pt x="0" y="0"/>
                  </a:moveTo>
                  <a:lnTo>
                    <a:pt x="185759" y="0"/>
                  </a:lnTo>
                  <a:lnTo>
                    <a:pt x="185759" y="185175"/>
                  </a:lnTo>
                  <a:lnTo>
                    <a:pt x="0" y="185175"/>
                  </a:lnTo>
                  <a:close/>
                </a:path>
              </a:pathLst>
            </a:custGeom>
            <a:solidFill>
              <a:srgbClr val="DC2F02"/>
            </a:solidFill>
          </p:spPr>
        </p:sp>
        <p:sp>
          <p:nvSpPr>
            <p:cNvPr name="TextBox 22" id="22"/>
            <p:cNvSpPr txBox="true"/>
            <p:nvPr/>
          </p:nvSpPr>
          <p:spPr>
            <a:xfrm>
              <a:off x="0" y="-38100"/>
              <a:ext cx="185759" cy="223275"/>
            </a:xfrm>
            <a:prstGeom prst="rect">
              <a:avLst/>
            </a:prstGeom>
          </p:spPr>
          <p:txBody>
            <a:bodyPr anchor="ctr" rtlCol="false" tIns="50800" lIns="50800" bIns="50800" rIns="50800"/>
            <a:lstStyle/>
            <a:p>
              <a:pPr algn="ctr">
                <a:lnSpc>
                  <a:spcPts val="2659"/>
                </a:lnSpc>
                <a:spcBef>
                  <a:spcPct val="0"/>
                </a:spcBef>
              </a:pPr>
            </a:p>
          </p:txBody>
        </p:sp>
      </p:grpSp>
      <p:sp>
        <p:nvSpPr>
          <p:cNvPr name="Freeform 23" id="23"/>
          <p:cNvSpPr/>
          <p:nvPr/>
        </p:nvSpPr>
        <p:spPr>
          <a:xfrm flipH="false" flipV="false" rot="0">
            <a:off x="375398" y="1028700"/>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4" id="24"/>
          <p:cNvSpPr/>
          <p:nvPr/>
        </p:nvSpPr>
        <p:spPr>
          <a:xfrm flipH="false" flipV="false" rot="0">
            <a:off x="412503" y="1923573"/>
            <a:ext cx="357692" cy="429543"/>
          </a:xfrm>
          <a:custGeom>
            <a:avLst/>
            <a:gdLst/>
            <a:ahLst/>
            <a:cxnLst/>
            <a:rect r="r" b="b" t="t" l="l"/>
            <a:pathLst>
              <a:path h="429543" w="357692">
                <a:moveTo>
                  <a:pt x="0" y="0"/>
                </a:moveTo>
                <a:lnTo>
                  <a:pt x="357692" y="0"/>
                </a:lnTo>
                <a:lnTo>
                  <a:pt x="357692" y="429543"/>
                </a:lnTo>
                <a:lnTo>
                  <a:pt x="0" y="4295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5" id="25"/>
          <p:cNvSpPr/>
          <p:nvPr/>
        </p:nvSpPr>
        <p:spPr>
          <a:xfrm flipH="false" flipV="false" rot="0">
            <a:off x="375398" y="2845928"/>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6" id="26"/>
          <p:cNvSpPr/>
          <p:nvPr/>
        </p:nvSpPr>
        <p:spPr>
          <a:xfrm flipH="false" flipV="false" rot="0">
            <a:off x="412503" y="3740801"/>
            <a:ext cx="357692" cy="344685"/>
          </a:xfrm>
          <a:custGeom>
            <a:avLst/>
            <a:gdLst/>
            <a:ahLst/>
            <a:cxnLst/>
            <a:rect r="r" b="b" t="t" l="l"/>
            <a:pathLst>
              <a:path h="344685" w="357692">
                <a:moveTo>
                  <a:pt x="0" y="0"/>
                </a:moveTo>
                <a:lnTo>
                  <a:pt x="357692" y="0"/>
                </a:lnTo>
                <a:lnTo>
                  <a:pt x="357692" y="344685"/>
                </a:lnTo>
                <a:lnTo>
                  <a:pt x="0" y="3446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7" id="27"/>
          <p:cNvSpPr/>
          <p:nvPr/>
        </p:nvSpPr>
        <p:spPr>
          <a:xfrm flipH="false" flipV="false" rot="0">
            <a:off x="412503" y="4578297"/>
            <a:ext cx="394797" cy="380441"/>
          </a:xfrm>
          <a:custGeom>
            <a:avLst/>
            <a:gdLst/>
            <a:ahLst/>
            <a:cxnLst/>
            <a:rect r="r" b="b" t="t" l="l"/>
            <a:pathLst>
              <a:path h="380441" w="394797">
                <a:moveTo>
                  <a:pt x="0" y="0"/>
                </a:moveTo>
                <a:lnTo>
                  <a:pt x="394797" y="0"/>
                </a:lnTo>
                <a:lnTo>
                  <a:pt x="394797" y="380441"/>
                </a:lnTo>
                <a:lnTo>
                  <a:pt x="0" y="3804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8" id="28"/>
          <p:cNvSpPr/>
          <p:nvPr/>
        </p:nvSpPr>
        <p:spPr>
          <a:xfrm flipH="false" flipV="false" rot="0">
            <a:off x="393950" y="8842103"/>
            <a:ext cx="431903" cy="416197"/>
          </a:xfrm>
          <a:custGeom>
            <a:avLst/>
            <a:gdLst/>
            <a:ahLst/>
            <a:cxnLst/>
            <a:rect r="r" b="b" t="t" l="l"/>
            <a:pathLst>
              <a:path h="416197" w="431903">
                <a:moveTo>
                  <a:pt x="0" y="0"/>
                </a:moveTo>
                <a:lnTo>
                  <a:pt x="431903" y="0"/>
                </a:lnTo>
                <a:lnTo>
                  <a:pt x="431903" y="416197"/>
                </a:lnTo>
                <a:lnTo>
                  <a:pt x="0" y="4161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9" id="29"/>
          <p:cNvSpPr/>
          <p:nvPr/>
        </p:nvSpPr>
        <p:spPr>
          <a:xfrm flipH="false" flipV="false" rot="0">
            <a:off x="401032" y="5451550"/>
            <a:ext cx="380634" cy="377866"/>
          </a:xfrm>
          <a:custGeom>
            <a:avLst/>
            <a:gdLst/>
            <a:ahLst/>
            <a:cxnLst/>
            <a:rect r="r" b="b" t="t" l="l"/>
            <a:pathLst>
              <a:path h="377866" w="380634">
                <a:moveTo>
                  <a:pt x="0" y="0"/>
                </a:moveTo>
                <a:lnTo>
                  <a:pt x="380634" y="0"/>
                </a:lnTo>
                <a:lnTo>
                  <a:pt x="380634" y="377866"/>
                </a:lnTo>
                <a:lnTo>
                  <a:pt x="0" y="37786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0" id="30"/>
          <p:cNvSpPr/>
          <p:nvPr/>
        </p:nvSpPr>
        <p:spPr>
          <a:xfrm flipH="false" flipV="false" rot="0">
            <a:off x="393950" y="7171074"/>
            <a:ext cx="431903" cy="288197"/>
          </a:xfrm>
          <a:custGeom>
            <a:avLst/>
            <a:gdLst/>
            <a:ahLst/>
            <a:cxnLst/>
            <a:rect r="r" b="b" t="t" l="l"/>
            <a:pathLst>
              <a:path h="288197" w="431903">
                <a:moveTo>
                  <a:pt x="0" y="0"/>
                </a:moveTo>
                <a:lnTo>
                  <a:pt x="431903" y="0"/>
                </a:lnTo>
                <a:lnTo>
                  <a:pt x="431903" y="288196"/>
                </a:lnTo>
                <a:lnTo>
                  <a:pt x="0" y="28819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1" id="31"/>
          <p:cNvSpPr/>
          <p:nvPr/>
        </p:nvSpPr>
        <p:spPr>
          <a:xfrm flipH="false" flipV="false" rot="0">
            <a:off x="412503" y="7952082"/>
            <a:ext cx="394797" cy="397210"/>
          </a:xfrm>
          <a:custGeom>
            <a:avLst/>
            <a:gdLst/>
            <a:ahLst/>
            <a:cxnLst/>
            <a:rect r="r" b="b" t="t" l="l"/>
            <a:pathLst>
              <a:path h="397210" w="394797">
                <a:moveTo>
                  <a:pt x="0" y="0"/>
                </a:moveTo>
                <a:lnTo>
                  <a:pt x="394797" y="0"/>
                </a:lnTo>
                <a:lnTo>
                  <a:pt x="394797" y="397210"/>
                </a:lnTo>
                <a:lnTo>
                  <a:pt x="0" y="39721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32" id="32"/>
          <p:cNvSpPr/>
          <p:nvPr/>
        </p:nvSpPr>
        <p:spPr>
          <a:xfrm flipH="false" flipV="false" rot="0">
            <a:off x="412503" y="6322227"/>
            <a:ext cx="394797" cy="356035"/>
          </a:xfrm>
          <a:custGeom>
            <a:avLst/>
            <a:gdLst/>
            <a:ahLst/>
            <a:cxnLst/>
            <a:rect r="r" b="b" t="t" l="l"/>
            <a:pathLst>
              <a:path h="356035" w="394797">
                <a:moveTo>
                  <a:pt x="0" y="0"/>
                </a:moveTo>
                <a:lnTo>
                  <a:pt x="394797" y="0"/>
                </a:lnTo>
                <a:lnTo>
                  <a:pt x="394797" y="356035"/>
                </a:lnTo>
                <a:lnTo>
                  <a:pt x="0" y="35603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61A1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2192000"/>
          </a:xfrm>
          <a:custGeom>
            <a:avLst/>
            <a:gdLst/>
            <a:ahLst/>
            <a:cxnLst/>
            <a:rect r="r" b="b" t="t" l="l"/>
            <a:pathLst>
              <a:path h="12192000" w="18288000">
                <a:moveTo>
                  <a:pt x="0" y="0"/>
                </a:moveTo>
                <a:lnTo>
                  <a:pt x="18288000" y="0"/>
                </a:lnTo>
                <a:lnTo>
                  <a:pt x="18288000" y="12192000"/>
                </a:lnTo>
                <a:lnTo>
                  <a:pt x="0" y="12192000"/>
                </a:lnTo>
                <a:lnTo>
                  <a:pt x="0" y="0"/>
                </a:lnTo>
                <a:close/>
              </a:path>
            </a:pathLst>
          </a:custGeom>
          <a:blipFill>
            <a:blip r:embed="rId2">
              <a:alphaModFix amt="40000"/>
            </a:blip>
            <a:stretch>
              <a:fillRect l="0" t="0" r="0" b="0"/>
            </a:stretch>
          </a:blipFill>
        </p:spPr>
      </p:sp>
      <p:grpSp>
        <p:nvGrpSpPr>
          <p:cNvPr name="Group 3" id="3"/>
          <p:cNvGrpSpPr/>
          <p:nvPr/>
        </p:nvGrpSpPr>
        <p:grpSpPr>
          <a:xfrm rot="0">
            <a:off x="323395" y="-617856"/>
            <a:ext cx="705305" cy="10287000"/>
            <a:chOff x="0" y="0"/>
            <a:chExt cx="185759" cy="2709333"/>
          </a:xfrm>
        </p:grpSpPr>
        <p:sp>
          <p:nvSpPr>
            <p:cNvPr name="Freeform 4" id="4"/>
            <p:cNvSpPr/>
            <p:nvPr/>
          </p:nvSpPr>
          <p:spPr>
            <a:xfrm flipH="false" flipV="false" rot="0">
              <a:off x="0" y="0"/>
              <a:ext cx="185759" cy="2709333"/>
            </a:xfrm>
            <a:custGeom>
              <a:avLst/>
              <a:gdLst/>
              <a:ahLst/>
              <a:cxnLst/>
              <a:rect r="r" b="b" t="t" l="l"/>
              <a:pathLst>
                <a:path h="2709333" w="185759">
                  <a:moveTo>
                    <a:pt x="0" y="0"/>
                  </a:moveTo>
                  <a:lnTo>
                    <a:pt x="185759" y="0"/>
                  </a:lnTo>
                  <a:lnTo>
                    <a:pt x="185759" y="2709333"/>
                  </a:lnTo>
                  <a:lnTo>
                    <a:pt x="0" y="2709333"/>
                  </a:lnTo>
                  <a:close/>
                </a:path>
              </a:pathLst>
            </a:custGeom>
            <a:gradFill rotWithShape="true">
              <a:gsLst>
                <a:gs pos="0">
                  <a:srgbClr val="DC2F02">
                    <a:alpha val="100000"/>
                  </a:srgbClr>
                </a:gs>
                <a:gs pos="100000">
                  <a:srgbClr val="DC2F02">
                    <a:alpha val="0"/>
                  </a:srgbClr>
                </a:gs>
              </a:gsLst>
              <a:path path="circle">
                <a:fillToRect l="50000" r="50000" t="50000" b="50000"/>
              </a:path>
            </a:gradFill>
          </p:spPr>
        </p:sp>
        <p:sp>
          <p:nvSpPr>
            <p:cNvPr name="TextBox 5" id="5"/>
            <p:cNvSpPr txBox="true"/>
            <p:nvPr/>
          </p:nvSpPr>
          <p:spPr>
            <a:xfrm>
              <a:off x="0" y="-38100"/>
              <a:ext cx="185759"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460413" y="2386968"/>
            <a:ext cx="13367174" cy="1026160"/>
          </a:xfrm>
          <a:prstGeom prst="rect">
            <a:avLst/>
          </a:prstGeom>
        </p:spPr>
        <p:txBody>
          <a:bodyPr anchor="t" rtlCol="false" tIns="0" lIns="0" bIns="0" rIns="0">
            <a:spAutoFit/>
          </a:bodyPr>
          <a:lstStyle/>
          <a:p>
            <a:pPr algn="ctr">
              <a:lnSpc>
                <a:spcPts val="7400"/>
              </a:lnSpc>
            </a:pPr>
            <a:r>
              <a:rPr lang="en-US" b="true" sz="7400" i="true">
                <a:solidFill>
                  <a:srgbClr val="DC2F02"/>
                </a:solidFill>
                <a:latin typeface="Ubuntu Bold Italics"/>
                <a:ea typeface="Ubuntu Bold Italics"/>
                <a:cs typeface="Ubuntu Bold Italics"/>
                <a:sym typeface="Ubuntu Bold Italics"/>
              </a:rPr>
              <a:t> CONCLUSION</a:t>
            </a:r>
          </a:p>
        </p:txBody>
      </p:sp>
      <p:sp>
        <p:nvSpPr>
          <p:cNvPr name="TextBox 7" id="7"/>
          <p:cNvSpPr txBox="true"/>
          <p:nvPr/>
        </p:nvSpPr>
        <p:spPr>
          <a:xfrm rot="0">
            <a:off x="3279185" y="3847540"/>
            <a:ext cx="12865745" cy="5046114"/>
          </a:xfrm>
          <a:prstGeom prst="rect">
            <a:avLst/>
          </a:prstGeom>
        </p:spPr>
        <p:txBody>
          <a:bodyPr anchor="t" rtlCol="false" tIns="0" lIns="0" bIns="0" rIns="0">
            <a:spAutoFit/>
          </a:bodyPr>
          <a:lstStyle/>
          <a:p>
            <a:pPr algn="ctr">
              <a:lnSpc>
                <a:spcPts val="3335"/>
              </a:lnSpc>
            </a:pPr>
            <a:r>
              <a:rPr lang="en-US" sz="2565" i="true" spc="64">
                <a:solidFill>
                  <a:srgbClr val="F5F3F4"/>
                </a:solidFill>
                <a:latin typeface="Canva Sans Italics"/>
                <a:ea typeface="Canva Sans Italics"/>
                <a:cs typeface="Canva Sans Italics"/>
                <a:sym typeface="Canva Sans Italics"/>
              </a:rPr>
              <a:t>This project analyzed electric vehicle sales across Indian states from 2014 to 2024 using Excel and SQL techniques. The analysis reveals a strong and consistent growth in EV adoption, particularly after 2019, driven by government initiatives, rising environmental awareness, and improvements in charging infrastructure. State-wise analysis shows that Uttar Pradesh, Maharashtra, and Karnataka lead in EV sales, indicating higher adoption in urbanized and policy-supported regions. Category-wise results highlight the dominance of passenger vehicles and light electric vehicles, reflecting their affordability and suitability for daily use. Overall, the findings demonstrate that India’s EV market is expanding steadily across regions and vehicle types, underscoring the country’s transition toward sustainable and cleaner mobility.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5526" t="0" r="0" b="-5526"/>
            </a:stretch>
          </a:blipFill>
        </p:spPr>
      </p:sp>
      <p:grpSp>
        <p:nvGrpSpPr>
          <p:cNvPr name="Group 3" id="3"/>
          <p:cNvGrpSpPr/>
          <p:nvPr/>
        </p:nvGrpSpPr>
        <p:grpSpPr>
          <a:xfrm rot="0">
            <a:off x="3054402" y="0"/>
            <a:ext cx="15233598" cy="10287000"/>
            <a:chOff x="0" y="0"/>
            <a:chExt cx="4012141" cy="2709333"/>
          </a:xfrm>
        </p:grpSpPr>
        <p:sp>
          <p:nvSpPr>
            <p:cNvPr name="Freeform 4" id="4"/>
            <p:cNvSpPr/>
            <p:nvPr/>
          </p:nvSpPr>
          <p:spPr>
            <a:xfrm flipH="false" flipV="false" rot="0">
              <a:off x="0" y="0"/>
              <a:ext cx="4012141" cy="2709333"/>
            </a:xfrm>
            <a:custGeom>
              <a:avLst/>
              <a:gdLst/>
              <a:ahLst/>
              <a:cxnLst/>
              <a:rect r="r" b="b" t="t" l="l"/>
              <a:pathLst>
                <a:path h="2709333" w="4012141">
                  <a:moveTo>
                    <a:pt x="0" y="0"/>
                  </a:moveTo>
                  <a:lnTo>
                    <a:pt x="4012141" y="0"/>
                  </a:lnTo>
                  <a:lnTo>
                    <a:pt x="4012141" y="2709333"/>
                  </a:lnTo>
                  <a:lnTo>
                    <a:pt x="0" y="2709333"/>
                  </a:lnTo>
                  <a:close/>
                </a:path>
              </a:pathLst>
            </a:custGeom>
            <a:gradFill rotWithShape="true">
              <a:gsLst>
                <a:gs pos="0">
                  <a:srgbClr val="161A1D">
                    <a:alpha val="0"/>
                  </a:srgbClr>
                </a:gs>
                <a:gs pos="100000">
                  <a:srgbClr val="161A1D">
                    <a:alpha val="100000"/>
                  </a:srgbClr>
                </a:gs>
              </a:gsLst>
              <a:lin ang="0"/>
            </a:gradFill>
          </p:spPr>
        </p:sp>
        <p:sp>
          <p:nvSpPr>
            <p:cNvPr name="TextBox 5" id="5"/>
            <p:cNvSpPr txBox="true"/>
            <p:nvPr/>
          </p:nvSpPr>
          <p:spPr>
            <a:xfrm>
              <a:off x="0" y="-38100"/>
              <a:ext cx="4012141" cy="2747433"/>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079931" y="-178489"/>
            <a:ext cx="12208069" cy="10643978"/>
            <a:chOff x="0" y="0"/>
            <a:chExt cx="699178" cy="609600"/>
          </a:xfrm>
        </p:grpSpPr>
        <p:sp>
          <p:nvSpPr>
            <p:cNvPr name="Freeform 7" id="7"/>
            <p:cNvSpPr/>
            <p:nvPr/>
          </p:nvSpPr>
          <p:spPr>
            <a:xfrm flipH="false" flipV="false" rot="0">
              <a:off x="0" y="0"/>
              <a:ext cx="699178" cy="609600"/>
            </a:xfrm>
            <a:custGeom>
              <a:avLst/>
              <a:gdLst/>
              <a:ahLst/>
              <a:cxnLst/>
              <a:rect r="r" b="b" t="t" l="l"/>
              <a:pathLst>
                <a:path h="609600" w="699178">
                  <a:moveTo>
                    <a:pt x="203200" y="0"/>
                  </a:moveTo>
                  <a:lnTo>
                    <a:pt x="699178" y="0"/>
                  </a:lnTo>
                  <a:lnTo>
                    <a:pt x="495978" y="609600"/>
                  </a:lnTo>
                  <a:lnTo>
                    <a:pt x="0" y="609600"/>
                  </a:lnTo>
                  <a:lnTo>
                    <a:pt x="203200" y="0"/>
                  </a:lnTo>
                  <a:close/>
                </a:path>
              </a:pathLst>
            </a:custGeom>
            <a:gradFill rotWithShape="true">
              <a:gsLst>
                <a:gs pos="0">
                  <a:srgbClr val="161A1D">
                    <a:alpha val="25000"/>
                  </a:srgbClr>
                </a:gs>
                <a:gs pos="100000">
                  <a:srgbClr val="161A1D">
                    <a:alpha val="0"/>
                  </a:srgbClr>
                </a:gs>
              </a:gsLst>
              <a:lin ang="5400000"/>
            </a:gradFill>
          </p:spPr>
        </p:sp>
        <p:sp>
          <p:nvSpPr>
            <p:cNvPr name="TextBox 8" id="8"/>
            <p:cNvSpPr txBox="true"/>
            <p:nvPr/>
          </p:nvSpPr>
          <p:spPr>
            <a:xfrm>
              <a:off x="101600" y="-38100"/>
              <a:ext cx="495978"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1472303" y="6500245"/>
            <a:ext cx="3562564" cy="685501"/>
            <a:chOff x="0" y="0"/>
            <a:chExt cx="3168106" cy="609600"/>
          </a:xfrm>
        </p:grpSpPr>
        <p:sp>
          <p:nvSpPr>
            <p:cNvPr name="Freeform 10" id="10"/>
            <p:cNvSpPr/>
            <p:nvPr/>
          </p:nvSpPr>
          <p:spPr>
            <a:xfrm flipH="false" flipV="false" rot="0">
              <a:off x="0" y="0"/>
              <a:ext cx="3168106" cy="609600"/>
            </a:xfrm>
            <a:custGeom>
              <a:avLst/>
              <a:gdLst/>
              <a:ahLst/>
              <a:cxnLst/>
              <a:rect r="r" b="b" t="t" l="l"/>
              <a:pathLst>
                <a:path h="609600" w="3168106">
                  <a:moveTo>
                    <a:pt x="203200" y="0"/>
                  </a:moveTo>
                  <a:lnTo>
                    <a:pt x="3168106" y="0"/>
                  </a:lnTo>
                  <a:lnTo>
                    <a:pt x="2964906" y="609600"/>
                  </a:lnTo>
                  <a:lnTo>
                    <a:pt x="0" y="609600"/>
                  </a:lnTo>
                  <a:lnTo>
                    <a:pt x="203200" y="0"/>
                  </a:lnTo>
                  <a:close/>
                </a:path>
              </a:pathLst>
            </a:custGeom>
            <a:solidFill>
              <a:srgbClr val="000000">
                <a:alpha val="0"/>
              </a:srgbClr>
            </a:solidFill>
            <a:ln w="19050" cap="sq">
              <a:gradFill>
                <a:gsLst>
                  <a:gs pos="0">
                    <a:srgbClr val="F5F3F4">
                      <a:alpha val="100000"/>
                    </a:srgbClr>
                  </a:gs>
                  <a:gs pos="100000">
                    <a:srgbClr val="F5F3F4">
                      <a:alpha val="0"/>
                    </a:srgbClr>
                  </a:gs>
                </a:gsLst>
                <a:lin ang="0"/>
              </a:gradFill>
              <a:prstDash val="solid"/>
              <a:miter/>
            </a:ln>
          </p:spPr>
        </p:sp>
        <p:sp>
          <p:nvSpPr>
            <p:cNvPr name="TextBox 11" id="11"/>
            <p:cNvSpPr txBox="true"/>
            <p:nvPr/>
          </p:nvSpPr>
          <p:spPr>
            <a:xfrm>
              <a:off x="101600" y="-38100"/>
              <a:ext cx="2964906" cy="647700"/>
            </a:xfrm>
            <a:prstGeom prst="rect">
              <a:avLst/>
            </a:prstGeom>
          </p:spPr>
          <p:txBody>
            <a:bodyPr anchor="ctr" rtlCol="false" tIns="50800" lIns="50800" bIns="50800" rIns="50800"/>
            <a:lstStyle/>
            <a:p>
              <a:pPr algn="ctr" marL="0" indent="0" lvl="0">
                <a:lnSpc>
                  <a:spcPts val="2660"/>
                </a:lnSpc>
                <a:spcBef>
                  <a:spcPct val="0"/>
                </a:spcBef>
              </a:pPr>
            </a:p>
          </p:txBody>
        </p:sp>
      </p:grpSp>
      <p:grpSp>
        <p:nvGrpSpPr>
          <p:cNvPr name="Group 12" id="12"/>
          <p:cNvGrpSpPr/>
          <p:nvPr/>
        </p:nvGrpSpPr>
        <p:grpSpPr>
          <a:xfrm rot="0">
            <a:off x="11212942" y="6606952"/>
            <a:ext cx="3562564" cy="685501"/>
            <a:chOff x="0" y="0"/>
            <a:chExt cx="3168106" cy="609600"/>
          </a:xfrm>
        </p:grpSpPr>
        <p:sp>
          <p:nvSpPr>
            <p:cNvPr name="Freeform 13" id="13"/>
            <p:cNvSpPr/>
            <p:nvPr/>
          </p:nvSpPr>
          <p:spPr>
            <a:xfrm flipH="false" flipV="false" rot="0">
              <a:off x="0" y="0"/>
              <a:ext cx="3168106" cy="609600"/>
            </a:xfrm>
            <a:custGeom>
              <a:avLst/>
              <a:gdLst/>
              <a:ahLst/>
              <a:cxnLst/>
              <a:rect r="r" b="b" t="t" l="l"/>
              <a:pathLst>
                <a:path h="609600" w="3168106">
                  <a:moveTo>
                    <a:pt x="203200" y="0"/>
                  </a:moveTo>
                  <a:lnTo>
                    <a:pt x="3168106" y="0"/>
                  </a:lnTo>
                  <a:lnTo>
                    <a:pt x="2964906" y="609600"/>
                  </a:lnTo>
                  <a:lnTo>
                    <a:pt x="0" y="609600"/>
                  </a:lnTo>
                  <a:lnTo>
                    <a:pt x="203200" y="0"/>
                  </a:lnTo>
                  <a:close/>
                </a:path>
              </a:pathLst>
            </a:custGeom>
            <a:gradFill rotWithShape="true">
              <a:gsLst>
                <a:gs pos="0">
                  <a:srgbClr val="DC2F02">
                    <a:alpha val="100000"/>
                  </a:srgbClr>
                </a:gs>
                <a:gs pos="100000">
                  <a:srgbClr val="DC2F02">
                    <a:alpha val="0"/>
                  </a:srgbClr>
                </a:gs>
              </a:gsLst>
              <a:lin ang="0"/>
            </a:gradFill>
          </p:spPr>
        </p:sp>
        <p:sp>
          <p:nvSpPr>
            <p:cNvPr name="TextBox 14" id="14"/>
            <p:cNvSpPr txBox="true"/>
            <p:nvPr/>
          </p:nvSpPr>
          <p:spPr>
            <a:xfrm>
              <a:off x="101600" y="-38100"/>
              <a:ext cx="2964906" cy="64770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0336259" y="5187707"/>
            <a:ext cx="7081300" cy="1125217"/>
          </a:xfrm>
          <a:prstGeom prst="rect">
            <a:avLst/>
          </a:prstGeom>
        </p:spPr>
        <p:txBody>
          <a:bodyPr anchor="t" rtlCol="false" tIns="0" lIns="0" bIns="0" rIns="0">
            <a:spAutoFit/>
          </a:bodyPr>
          <a:lstStyle/>
          <a:p>
            <a:pPr algn="l">
              <a:lnSpc>
                <a:spcPts val="8205"/>
              </a:lnSpc>
            </a:pPr>
            <a:r>
              <a:rPr lang="en-US" b="true" sz="8205" i="true">
                <a:solidFill>
                  <a:srgbClr val="DC2F02"/>
                </a:solidFill>
                <a:latin typeface="Ubuntu Bold Italics"/>
                <a:ea typeface="Ubuntu Bold Italics"/>
                <a:cs typeface="Ubuntu Bold Italics"/>
                <a:sym typeface="Ubuntu Bold Italics"/>
              </a:rPr>
              <a:t>THANK YOU!</a:t>
            </a:r>
          </a:p>
        </p:txBody>
      </p:sp>
      <p:sp>
        <p:nvSpPr>
          <p:cNvPr name="TextBox 16" id="16"/>
          <p:cNvSpPr txBox="true"/>
          <p:nvPr/>
        </p:nvSpPr>
        <p:spPr>
          <a:xfrm rot="0">
            <a:off x="12046715" y="6770511"/>
            <a:ext cx="2506676" cy="317500"/>
          </a:xfrm>
          <a:prstGeom prst="rect">
            <a:avLst/>
          </a:prstGeom>
        </p:spPr>
        <p:txBody>
          <a:bodyPr anchor="t" rtlCol="false" tIns="0" lIns="0" bIns="0" rIns="0">
            <a:spAutoFit/>
          </a:bodyPr>
          <a:lstStyle/>
          <a:p>
            <a:pPr algn="l">
              <a:lnSpc>
                <a:spcPts val="2599"/>
              </a:lnSpc>
            </a:pPr>
            <a:r>
              <a:rPr lang="en-US" sz="1999" i="true" spc="49">
                <a:solidFill>
                  <a:srgbClr val="F5F3F4"/>
                </a:solidFill>
                <a:latin typeface="Canva Sans Italics"/>
                <a:ea typeface="Canva Sans Italics"/>
                <a:cs typeface="Canva Sans Italics"/>
                <a:sym typeface="Canva Sans Italics"/>
              </a:rPr>
              <a:t>~DIYA SINGH </a:t>
            </a:r>
          </a:p>
        </p:txBody>
      </p:sp>
      <p:grpSp>
        <p:nvGrpSpPr>
          <p:cNvPr name="Group 17" id="17"/>
          <p:cNvGrpSpPr/>
          <p:nvPr/>
        </p:nvGrpSpPr>
        <p:grpSpPr>
          <a:xfrm rot="0">
            <a:off x="238697" y="0"/>
            <a:ext cx="705305" cy="10287000"/>
            <a:chOff x="0" y="0"/>
            <a:chExt cx="185759" cy="2709333"/>
          </a:xfrm>
        </p:grpSpPr>
        <p:sp>
          <p:nvSpPr>
            <p:cNvPr name="Freeform 18" id="18"/>
            <p:cNvSpPr/>
            <p:nvPr/>
          </p:nvSpPr>
          <p:spPr>
            <a:xfrm flipH="false" flipV="false" rot="0">
              <a:off x="0" y="0"/>
              <a:ext cx="185759" cy="2709333"/>
            </a:xfrm>
            <a:custGeom>
              <a:avLst/>
              <a:gdLst/>
              <a:ahLst/>
              <a:cxnLst/>
              <a:rect r="r" b="b" t="t" l="l"/>
              <a:pathLst>
                <a:path h="2709333" w="185759">
                  <a:moveTo>
                    <a:pt x="0" y="0"/>
                  </a:moveTo>
                  <a:lnTo>
                    <a:pt x="185759" y="0"/>
                  </a:lnTo>
                  <a:lnTo>
                    <a:pt x="185759" y="2709333"/>
                  </a:lnTo>
                  <a:lnTo>
                    <a:pt x="0" y="2709333"/>
                  </a:lnTo>
                  <a:close/>
                </a:path>
              </a:pathLst>
            </a:custGeom>
            <a:gradFill rotWithShape="true">
              <a:gsLst>
                <a:gs pos="0">
                  <a:srgbClr val="DC2F02">
                    <a:alpha val="100000"/>
                  </a:srgbClr>
                </a:gs>
                <a:gs pos="100000">
                  <a:srgbClr val="DC2F02">
                    <a:alpha val="0"/>
                  </a:srgbClr>
                </a:gs>
              </a:gsLst>
              <a:path path="circle">
                <a:fillToRect l="50000" r="50000" t="50000" b="50000"/>
              </a:path>
            </a:gradFill>
          </p:spPr>
        </p:sp>
        <p:sp>
          <p:nvSpPr>
            <p:cNvPr name="TextBox 19" id="19"/>
            <p:cNvSpPr txBox="true"/>
            <p:nvPr/>
          </p:nvSpPr>
          <p:spPr>
            <a:xfrm>
              <a:off x="0" y="-38100"/>
              <a:ext cx="185759"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238697" y="8698658"/>
            <a:ext cx="705305" cy="703087"/>
            <a:chOff x="0" y="0"/>
            <a:chExt cx="185759" cy="185175"/>
          </a:xfrm>
        </p:grpSpPr>
        <p:sp>
          <p:nvSpPr>
            <p:cNvPr name="Freeform 21" id="21"/>
            <p:cNvSpPr/>
            <p:nvPr/>
          </p:nvSpPr>
          <p:spPr>
            <a:xfrm flipH="false" flipV="false" rot="0">
              <a:off x="0" y="0"/>
              <a:ext cx="185759" cy="185175"/>
            </a:xfrm>
            <a:custGeom>
              <a:avLst/>
              <a:gdLst/>
              <a:ahLst/>
              <a:cxnLst/>
              <a:rect r="r" b="b" t="t" l="l"/>
              <a:pathLst>
                <a:path h="185175" w="185759">
                  <a:moveTo>
                    <a:pt x="0" y="0"/>
                  </a:moveTo>
                  <a:lnTo>
                    <a:pt x="185759" y="0"/>
                  </a:lnTo>
                  <a:lnTo>
                    <a:pt x="185759" y="185175"/>
                  </a:lnTo>
                  <a:lnTo>
                    <a:pt x="0" y="185175"/>
                  </a:lnTo>
                  <a:close/>
                </a:path>
              </a:pathLst>
            </a:custGeom>
            <a:solidFill>
              <a:srgbClr val="DC2F02"/>
            </a:solidFill>
          </p:spPr>
        </p:sp>
        <p:sp>
          <p:nvSpPr>
            <p:cNvPr name="TextBox 22" id="22"/>
            <p:cNvSpPr txBox="true"/>
            <p:nvPr/>
          </p:nvSpPr>
          <p:spPr>
            <a:xfrm>
              <a:off x="0" y="-38100"/>
              <a:ext cx="185759" cy="223275"/>
            </a:xfrm>
            <a:prstGeom prst="rect">
              <a:avLst/>
            </a:prstGeom>
          </p:spPr>
          <p:txBody>
            <a:bodyPr anchor="ctr" rtlCol="false" tIns="50800" lIns="50800" bIns="50800" rIns="50800"/>
            <a:lstStyle/>
            <a:p>
              <a:pPr algn="ctr">
                <a:lnSpc>
                  <a:spcPts val="2659"/>
                </a:lnSpc>
                <a:spcBef>
                  <a:spcPct val="0"/>
                </a:spcBef>
              </a:pPr>
            </a:p>
          </p:txBody>
        </p:sp>
      </p:grpSp>
      <p:sp>
        <p:nvSpPr>
          <p:cNvPr name="Freeform 23" id="23"/>
          <p:cNvSpPr/>
          <p:nvPr/>
        </p:nvSpPr>
        <p:spPr>
          <a:xfrm flipH="false" flipV="false" rot="0">
            <a:off x="375398" y="1028700"/>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4" id="24"/>
          <p:cNvSpPr/>
          <p:nvPr/>
        </p:nvSpPr>
        <p:spPr>
          <a:xfrm flipH="false" flipV="false" rot="0">
            <a:off x="412503" y="1923573"/>
            <a:ext cx="357692" cy="429543"/>
          </a:xfrm>
          <a:custGeom>
            <a:avLst/>
            <a:gdLst/>
            <a:ahLst/>
            <a:cxnLst/>
            <a:rect r="r" b="b" t="t" l="l"/>
            <a:pathLst>
              <a:path h="429543" w="357692">
                <a:moveTo>
                  <a:pt x="0" y="0"/>
                </a:moveTo>
                <a:lnTo>
                  <a:pt x="357692" y="0"/>
                </a:lnTo>
                <a:lnTo>
                  <a:pt x="357692" y="429543"/>
                </a:lnTo>
                <a:lnTo>
                  <a:pt x="0" y="4295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5" id="25"/>
          <p:cNvSpPr/>
          <p:nvPr/>
        </p:nvSpPr>
        <p:spPr>
          <a:xfrm flipH="false" flipV="false" rot="0">
            <a:off x="375398" y="2845928"/>
            <a:ext cx="431903" cy="402062"/>
          </a:xfrm>
          <a:custGeom>
            <a:avLst/>
            <a:gdLst/>
            <a:ahLst/>
            <a:cxnLst/>
            <a:rect r="r" b="b" t="t" l="l"/>
            <a:pathLst>
              <a:path h="402062" w="431903">
                <a:moveTo>
                  <a:pt x="0" y="0"/>
                </a:moveTo>
                <a:lnTo>
                  <a:pt x="431902" y="0"/>
                </a:lnTo>
                <a:lnTo>
                  <a:pt x="431902" y="402062"/>
                </a:lnTo>
                <a:lnTo>
                  <a:pt x="0" y="4020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6" id="26"/>
          <p:cNvSpPr/>
          <p:nvPr/>
        </p:nvSpPr>
        <p:spPr>
          <a:xfrm flipH="false" flipV="false" rot="0">
            <a:off x="412503" y="3740801"/>
            <a:ext cx="357692" cy="344685"/>
          </a:xfrm>
          <a:custGeom>
            <a:avLst/>
            <a:gdLst/>
            <a:ahLst/>
            <a:cxnLst/>
            <a:rect r="r" b="b" t="t" l="l"/>
            <a:pathLst>
              <a:path h="344685" w="357692">
                <a:moveTo>
                  <a:pt x="0" y="0"/>
                </a:moveTo>
                <a:lnTo>
                  <a:pt x="357692" y="0"/>
                </a:lnTo>
                <a:lnTo>
                  <a:pt x="357692" y="344685"/>
                </a:lnTo>
                <a:lnTo>
                  <a:pt x="0" y="3446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7" id="27"/>
          <p:cNvSpPr/>
          <p:nvPr/>
        </p:nvSpPr>
        <p:spPr>
          <a:xfrm flipH="false" flipV="false" rot="0">
            <a:off x="412503" y="4578297"/>
            <a:ext cx="394797" cy="380441"/>
          </a:xfrm>
          <a:custGeom>
            <a:avLst/>
            <a:gdLst/>
            <a:ahLst/>
            <a:cxnLst/>
            <a:rect r="r" b="b" t="t" l="l"/>
            <a:pathLst>
              <a:path h="380441" w="394797">
                <a:moveTo>
                  <a:pt x="0" y="0"/>
                </a:moveTo>
                <a:lnTo>
                  <a:pt x="394797" y="0"/>
                </a:lnTo>
                <a:lnTo>
                  <a:pt x="394797" y="380441"/>
                </a:lnTo>
                <a:lnTo>
                  <a:pt x="0" y="3804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8" id="28"/>
          <p:cNvSpPr/>
          <p:nvPr/>
        </p:nvSpPr>
        <p:spPr>
          <a:xfrm flipH="false" flipV="false" rot="0">
            <a:off x="393950" y="8842103"/>
            <a:ext cx="431903" cy="416197"/>
          </a:xfrm>
          <a:custGeom>
            <a:avLst/>
            <a:gdLst/>
            <a:ahLst/>
            <a:cxnLst/>
            <a:rect r="r" b="b" t="t" l="l"/>
            <a:pathLst>
              <a:path h="416197" w="431903">
                <a:moveTo>
                  <a:pt x="0" y="0"/>
                </a:moveTo>
                <a:lnTo>
                  <a:pt x="431903" y="0"/>
                </a:lnTo>
                <a:lnTo>
                  <a:pt x="431903" y="416197"/>
                </a:lnTo>
                <a:lnTo>
                  <a:pt x="0" y="4161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9" id="29"/>
          <p:cNvSpPr/>
          <p:nvPr/>
        </p:nvSpPr>
        <p:spPr>
          <a:xfrm flipH="false" flipV="false" rot="0">
            <a:off x="401032" y="5451550"/>
            <a:ext cx="380634" cy="377866"/>
          </a:xfrm>
          <a:custGeom>
            <a:avLst/>
            <a:gdLst/>
            <a:ahLst/>
            <a:cxnLst/>
            <a:rect r="r" b="b" t="t" l="l"/>
            <a:pathLst>
              <a:path h="377866" w="380634">
                <a:moveTo>
                  <a:pt x="0" y="0"/>
                </a:moveTo>
                <a:lnTo>
                  <a:pt x="380634" y="0"/>
                </a:lnTo>
                <a:lnTo>
                  <a:pt x="380634" y="377866"/>
                </a:lnTo>
                <a:lnTo>
                  <a:pt x="0" y="37786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0" id="30"/>
          <p:cNvSpPr/>
          <p:nvPr/>
        </p:nvSpPr>
        <p:spPr>
          <a:xfrm flipH="false" flipV="false" rot="0">
            <a:off x="393950" y="7171074"/>
            <a:ext cx="431903" cy="288197"/>
          </a:xfrm>
          <a:custGeom>
            <a:avLst/>
            <a:gdLst/>
            <a:ahLst/>
            <a:cxnLst/>
            <a:rect r="r" b="b" t="t" l="l"/>
            <a:pathLst>
              <a:path h="288197" w="431903">
                <a:moveTo>
                  <a:pt x="0" y="0"/>
                </a:moveTo>
                <a:lnTo>
                  <a:pt x="431903" y="0"/>
                </a:lnTo>
                <a:lnTo>
                  <a:pt x="431903" y="288196"/>
                </a:lnTo>
                <a:lnTo>
                  <a:pt x="0" y="28819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1" id="31"/>
          <p:cNvSpPr/>
          <p:nvPr/>
        </p:nvSpPr>
        <p:spPr>
          <a:xfrm flipH="false" flipV="false" rot="0">
            <a:off x="412503" y="7952082"/>
            <a:ext cx="394797" cy="397210"/>
          </a:xfrm>
          <a:custGeom>
            <a:avLst/>
            <a:gdLst/>
            <a:ahLst/>
            <a:cxnLst/>
            <a:rect r="r" b="b" t="t" l="l"/>
            <a:pathLst>
              <a:path h="397210" w="394797">
                <a:moveTo>
                  <a:pt x="0" y="0"/>
                </a:moveTo>
                <a:lnTo>
                  <a:pt x="394797" y="0"/>
                </a:lnTo>
                <a:lnTo>
                  <a:pt x="394797" y="397210"/>
                </a:lnTo>
                <a:lnTo>
                  <a:pt x="0" y="39721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32" id="32"/>
          <p:cNvSpPr/>
          <p:nvPr/>
        </p:nvSpPr>
        <p:spPr>
          <a:xfrm flipH="false" flipV="false" rot="0">
            <a:off x="412503" y="6322227"/>
            <a:ext cx="394797" cy="356035"/>
          </a:xfrm>
          <a:custGeom>
            <a:avLst/>
            <a:gdLst/>
            <a:ahLst/>
            <a:cxnLst/>
            <a:rect r="r" b="b" t="t" l="l"/>
            <a:pathLst>
              <a:path h="356035" w="394797">
                <a:moveTo>
                  <a:pt x="0" y="0"/>
                </a:moveTo>
                <a:lnTo>
                  <a:pt x="394797" y="0"/>
                </a:lnTo>
                <a:lnTo>
                  <a:pt x="394797" y="356035"/>
                </a:lnTo>
                <a:lnTo>
                  <a:pt x="0" y="356035"/>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DAG86lAthQs</dc:identifier>
  <dcterms:modified xsi:type="dcterms:W3CDTF">2011-08-01T06:04:30Z</dcterms:modified>
  <cp:revision>1</cp:revision>
  <dc:title>evsales </dc:title>
</cp:coreProperties>
</file>